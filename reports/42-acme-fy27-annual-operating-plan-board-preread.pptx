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Oval 2"/>
          <p:cNvSpPr/>
          <p:nvPr/>
        </p:nvSpPr>
        <p:spPr>
          <a:xfrm>
            <a:off x="841248" y="841248"/>
            <a:ext cx="182880" cy="182880"/>
          </a:xfrm>
          <a:prstGeom prst="ellipse">
            <a:avLst/>
          </a:prstGeom>
          <a:solidFill>
            <a:srgbClr val="2E7D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152144" y="841248"/>
            <a:ext cx="182880" cy="182880"/>
          </a:xfrm>
          <a:prstGeom prst="ellipse">
            <a:avLst/>
          </a:prstGeom>
          <a:solidFill>
            <a:srgbClr val="3E6D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1463040" y="841248"/>
            <a:ext cx="182880" cy="182880"/>
          </a:xfrm>
          <a:prstGeom prst="ellipse">
            <a:avLst/>
          </a:prstGeom>
          <a:solidFill>
            <a:srgbClr val="B98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828800"/>
            <a:ext cx="10424160" cy="365760"/>
          </a:xfrm>
          <a:prstGeom prst="rect">
            <a:avLst/>
          </a:prstGeom>
          <a:noFill/>
        </p:spPr>
        <p:txBody>
          <a:bodyPr wrap="square" lIns="0" rIns="0" tIns="0" bIns="0">
            <a:spAutoFit/>
          </a:bodyPr>
          <a:lstStyle/>
          <a:p>
            <a:pPr algn="l">
              <a:lnSpc>
                <a:spcPct val="118000"/>
              </a:lnSpc>
              <a:spcAft>
                <a:spcPts val="0"/>
              </a:spcAft>
            </a:pPr>
            <a:r>
              <a:rPr sz="1250" b="1" i="0">
                <a:solidFill>
                  <a:srgbClr val="2E7D75"/>
                </a:solidFill>
                <a:latin typeface="Calibri"/>
              </a:rPr>
              <a:t>ANNUAL OPERATING PLAN · BOARD PRE-READ</a:t>
            </a:r>
          </a:p>
        </p:txBody>
      </p:sp>
      <p:sp>
        <p:nvSpPr>
          <p:cNvPr id="7" name="TextBox 6"/>
          <p:cNvSpPr txBox="1"/>
          <p:nvPr/>
        </p:nvSpPr>
        <p:spPr>
          <a:xfrm>
            <a:off x="804672" y="2331720"/>
            <a:ext cx="10515600" cy="562356"/>
          </a:xfrm>
          <a:prstGeom prst="rect">
            <a:avLst/>
          </a:prstGeom>
          <a:noFill/>
        </p:spPr>
        <p:txBody>
          <a:bodyPr wrap="square" lIns="0" rIns="0" tIns="0" bIns="0">
            <a:spAutoFit/>
          </a:bodyPr>
          <a:lstStyle/>
          <a:p>
            <a:pPr algn="l">
              <a:lnSpc>
                <a:spcPct val="108000"/>
              </a:lnSpc>
              <a:spcAft>
                <a:spcPts val="0"/>
              </a:spcAft>
            </a:pPr>
            <a:r>
              <a:rPr sz="4100" b="1" i="0">
                <a:solidFill>
                  <a:srgbClr val="FFFFFF"/>
                </a:solidFill>
                <a:latin typeface="Calibri"/>
              </a:rPr>
              <a:t>Acme Corp FY2027 Annual Operating Plan</a:t>
            </a:r>
          </a:p>
        </p:txBody>
      </p:sp>
      <p:sp>
        <p:nvSpPr>
          <p:cNvPr id="8" name="TextBox 7"/>
          <p:cNvSpPr txBox="1"/>
          <p:nvPr/>
        </p:nvSpPr>
        <p:spPr>
          <a:xfrm>
            <a:off x="822960" y="3278124"/>
            <a:ext cx="10332720" cy="822960"/>
          </a:xfrm>
          <a:prstGeom prst="rect">
            <a:avLst/>
          </a:prstGeom>
          <a:noFill/>
        </p:spPr>
        <p:txBody>
          <a:bodyPr wrap="square" lIns="0" rIns="0" tIns="0" bIns="0">
            <a:spAutoFit/>
          </a:bodyPr>
          <a:lstStyle/>
          <a:p>
            <a:pPr algn="l">
              <a:lnSpc>
                <a:spcPct val="120000"/>
              </a:lnSpc>
              <a:spcAft>
                <a:spcPts val="0"/>
              </a:spcAft>
            </a:pPr>
            <a:r>
              <a:rPr sz="1600" b="0" i="0">
                <a:solidFill>
                  <a:srgbClr val="C9D2DB"/>
                </a:solidFill>
                <a:latin typeface="Calibri"/>
              </a:rPr>
              <a:t>The revenue build, the margin path to 16%, and the four bets the plan rests on</a:t>
            </a:r>
          </a:p>
        </p:txBody>
      </p:sp>
      <p:sp>
        <p:nvSpPr>
          <p:cNvPr id="9" name="TextBox 8"/>
          <p:cNvSpPr txBox="1"/>
          <p:nvPr/>
        </p:nvSpPr>
        <p:spPr>
          <a:xfrm>
            <a:off x="822960" y="5852160"/>
            <a:ext cx="10515600" cy="731520"/>
          </a:xfrm>
          <a:prstGeom prst="rect">
            <a:avLst/>
          </a:prstGeom>
          <a:noFill/>
        </p:spPr>
        <p:txBody>
          <a:bodyPr wrap="square" lIns="0" rIns="0" tIns="0" bIns="0">
            <a:spAutoFit/>
          </a:bodyPr>
          <a:lstStyle/>
          <a:p>
            <a:pPr algn="l">
              <a:lnSpc>
                <a:spcPct val="118000"/>
              </a:lnSpc>
              <a:spcAft>
                <a:spcPts val="300"/>
              </a:spcAft>
            </a:pPr>
            <a:r>
              <a:rPr sz="1100" b="0" i="0">
                <a:solidFill>
                  <a:srgbClr val="5B6472"/>
                </a:solidFill>
                <a:latin typeface="Calibri"/>
              </a:rPr>
              <a:t>Finance &amp; FP&amp;A, reviewed with the CFO · for the October board meeting · July 2026</a:t>
            </a:r>
          </a:p>
          <a:p>
            <a:pPr algn="l">
              <a:lnSpc>
                <a:spcPct val="118000"/>
              </a:lnSpc>
              <a:spcAft>
                <a:spcPts val="300"/>
              </a:spcAft>
            </a:pPr>
            <a:r>
              <a:rPr sz="1100" b="0" i="0">
                <a:solidFill>
                  <a:srgbClr val="5B6472"/>
                </a:solidFill>
                <a:latin typeface="Calibri"/>
              </a:rPr>
              <a:t>Internal management presentation · Internal · Confidential — synthetic demo data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256032"/>
          </a:xfrm>
          <a:prstGeom prst="rect">
            <a:avLst/>
          </a:prstGeom>
          <a:noFill/>
        </p:spPr>
        <p:txBody>
          <a:bodyPr wrap="square" lIns="0" rIns="0" tIns="0" bIns="0">
            <a:spAutoFit/>
          </a:bodyPr>
          <a:lstStyle/>
          <a:p>
            <a:pPr algn="l">
              <a:lnSpc>
                <a:spcPct val="118000"/>
              </a:lnSpc>
              <a:spcAft>
                <a:spcPts val="0"/>
              </a:spcAft>
            </a:pPr>
            <a:r>
              <a:rPr sz="1000" b="1" i="0">
                <a:solidFill>
                  <a:srgbClr val="2E7D75"/>
                </a:solidFill>
                <a:latin typeface="Calibri"/>
              </a:rPr>
              <a:t>AGENDA</a:t>
            </a:r>
          </a:p>
        </p:txBody>
      </p:sp>
      <p:sp>
        <p:nvSpPr>
          <p:cNvPr id="3" name="TextBox 2"/>
          <p:cNvSpPr txBox="1"/>
          <p:nvPr/>
        </p:nvSpPr>
        <p:spPr>
          <a:xfrm>
            <a:off x="640080" y="676656"/>
            <a:ext cx="10911535" cy="566928"/>
          </a:xfrm>
          <a:prstGeom prst="rect">
            <a:avLst/>
          </a:prstGeom>
          <a:noFill/>
        </p:spPr>
        <p:txBody>
          <a:bodyPr wrap="square" lIns="0" rIns="0" tIns="0" bIns="0">
            <a:spAutoFit/>
          </a:bodyPr>
          <a:lstStyle/>
          <a:p>
            <a:pPr algn="l">
              <a:lnSpc>
                <a:spcPct val="118000"/>
              </a:lnSpc>
              <a:spcAft>
                <a:spcPts val="0"/>
              </a:spcAft>
            </a:pPr>
            <a:r>
              <a:rPr sz="2500" b="1" i="0">
                <a:solidFill>
                  <a:srgbClr val="1F2A44"/>
                </a:solidFill>
                <a:latin typeface="Calibri"/>
              </a:rPr>
              <a:t>What this deck covers</a:t>
            </a:r>
          </a:p>
        </p:txBody>
      </p:sp>
      <p:sp>
        <p:nvSpPr>
          <p:cNvPr id="4" name="Rectangle 3"/>
          <p:cNvSpPr/>
          <p:nvPr/>
        </p:nvSpPr>
        <p:spPr>
          <a:xfrm>
            <a:off x="640080" y="1243584"/>
            <a:ext cx="1005840" cy="22860"/>
          </a:xfrm>
          <a:prstGeom prst="rect">
            <a:avLst/>
          </a:prstGeom>
          <a:solidFill>
            <a:srgbClr val="2E7D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40080" y="6419088"/>
            <a:ext cx="8412480" cy="219456"/>
          </a:xfrm>
          <a:prstGeom prst="rect">
            <a:avLst/>
          </a:prstGeom>
          <a:noFill/>
        </p:spPr>
        <p:txBody>
          <a:bodyPr wrap="square" lIns="0" rIns="0" tIns="0" bIns="0">
            <a:spAutoFit/>
          </a:bodyPr>
          <a:lstStyle/>
          <a:p>
            <a:pPr algn="l">
              <a:lnSpc>
                <a:spcPct val="118000"/>
              </a:lnSpc>
              <a:spcAft>
                <a:spcPts val="0"/>
              </a:spcAft>
            </a:pPr>
            <a:r>
              <a:rPr sz="750" b="0" i="0">
                <a:solidFill>
                  <a:srgbClr val="5B6472"/>
                </a:solidFill>
                <a:latin typeface="Calibri"/>
              </a:rPr>
              <a:t>Internal · Confidential — Acme Corp synthetic demo data. Fictional; not for real decision-making.</a:t>
            </a:r>
          </a:p>
        </p:txBody>
      </p:sp>
      <p:sp>
        <p:nvSpPr>
          <p:cNvPr id="6" name="TextBox 5"/>
          <p:cNvSpPr txBox="1"/>
          <p:nvPr/>
        </p:nvSpPr>
        <p:spPr>
          <a:xfrm>
            <a:off x="10424160" y="6419088"/>
            <a:ext cx="1124712" cy="219456"/>
          </a:xfrm>
          <a:prstGeom prst="rect">
            <a:avLst/>
          </a:prstGeom>
          <a:noFill/>
        </p:spPr>
        <p:txBody>
          <a:bodyPr wrap="square" lIns="0" rIns="0" tIns="0" bIns="0">
            <a:spAutoFit/>
          </a:bodyPr>
          <a:lstStyle/>
          <a:p>
            <a:pPr algn="r">
              <a:lnSpc>
                <a:spcPct val="118000"/>
              </a:lnSpc>
              <a:spcAft>
                <a:spcPts val="0"/>
              </a:spcAft>
            </a:pPr>
            <a:r>
              <a:rPr sz="750" b="0" i="0">
                <a:solidFill>
                  <a:srgbClr val="5B6472"/>
                </a:solidFill>
                <a:latin typeface="Calibri"/>
              </a:rPr>
              <a:t>FY27 AOP pre-read  ·  1</a:t>
            </a:r>
          </a:p>
        </p:txBody>
      </p:sp>
      <p:sp>
        <p:nvSpPr>
          <p:cNvPr id="7" name="Rectangle 6"/>
          <p:cNvSpPr/>
          <p:nvPr/>
        </p:nvSpPr>
        <p:spPr>
          <a:xfrm>
            <a:off x="640080" y="1472184"/>
            <a:ext cx="5349240" cy="548640"/>
          </a:xfrm>
          <a:prstGeom prst="rect">
            <a:avLst/>
          </a:prstGeom>
          <a:solidFill>
            <a:srgbClr val="F5F7F9"/>
          </a:solidFill>
          <a:ln w="6350">
            <a:solidFill>
              <a:srgbClr val="C9D2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68096" y="1600200"/>
            <a:ext cx="365760" cy="274320"/>
          </a:xfrm>
          <a:prstGeom prst="rect">
            <a:avLst/>
          </a:prstGeom>
          <a:noFill/>
        </p:spPr>
        <p:txBody>
          <a:bodyPr wrap="square" lIns="0" rIns="0" tIns="0" bIns="0">
            <a:spAutoFit/>
          </a:bodyPr>
          <a:lstStyle/>
          <a:p>
            <a:pPr algn="l">
              <a:lnSpc>
                <a:spcPct val="118000"/>
              </a:lnSpc>
              <a:spcAft>
                <a:spcPts val="0"/>
              </a:spcAft>
            </a:pPr>
            <a:r>
              <a:rPr sz="1300" b="1" i="0">
                <a:solidFill>
                  <a:srgbClr val="2E7D75"/>
                </a:solidFill>
                <a:latin typeface="Calibri"/>
              </a:rPr>
              <a:t>01</a:t>
            </a:r>
          </a:p>
        </p:txBody>
      </p:sp>
      <p:sp>
        <p:nvSpPr>
          <p:cNvPr id="9" name="TextBox 8"/>
          <p:cNvSpPr txBox="1"/>
          <p:nvPr/>
        </p:nvSpPr>
        <p:spPr>
          <a:xfrm>
            <a:off x="1207008" y="1609344"/>
            <a:ext cx="4617720" cy="292608"/>
          </a:xfrm>
          <a:prstGeom prst="rect">
            <a:avLst/>
          </a:prstGeom>
          <a:noFill/>
        </p:spPr>
        <p:txBody>
          <a:bodyPr wrap="square" lIns="0" rIns="0" tIns="0" bIns="0">
            <a:spAutoFit/>
          </a:bodyPr>
          <a:lstStyle/>
          <a:p>
            <a:pPr algn="l">
              <a:lnSpc>
                <a:spcPct val="118000"/>
              </a:lnSpc>
              <a:spcAft>
                <a:spcPts val="0"/>
              </a:spcAft>
            </a:pPr>
            <a:r>
              <a:rPr sz="1250" b="1" i="0">
                <a:solidFill>
                  <a:srgbClr val="1F2A44"/>
                </a:solidFill>
                <a:latin typeface="Calibri"/>
              </a:rPr>
              <a:t>FY26 landing zone</a:t>
            </a:r>
          </a:p>
        </p:txBody>
      </p:sp>
      <p:sp>
        <p:nvSpPr>
          <p:cNvPr id="10" name="Rectangle 9"/>
          <p:cNvSpPr/>
          <p:nvPr/>
        </p:nvSpPr>
        <p:spPr>
          <a:xfrm>
            <a:off x="640080" y="2130552"/>
            <a:ext cx="5349240" cy="548640"/>
          </a:xfrm>
          <a:prstGeom prst="rect">
            <a:avLst/>
          </a:prstGeom>
          <a:solidFill>
            <a:srgbClr val="F5F7F9"/>
          </a:solidFill>
          <a:ln w="6350">
            <a:solidFill>
              <a:srgbClr val="C9D2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68096" y="2258568"/>
            <a:ext cx="365760" cy="274320"/>
          </a:xfrm>
          <a:prstGeom prst="rect">
            <a:avLst/>
          </a:prstGeom>
          <a:noFill/>
        </p:spPr>
        <p:txBody>
          <a:bodyPr wrap="square" lIns="0" rIns="0" tIns="0" bIns="0">
            <a:spAutoFit/>
          </a:bodyPr>
          <a:lstStyle/>
          <a:p>
            <a:pPr algn="l">
              <a:lnSpc>
                <a:spcPct val="118000"/>
              </a:lnSpc>
              <a:spcAft>
                <a:spcPts val="0"/>
              </a:spcAft>
            </a:pPr>
            <a:r>
              <a:rPr sz="1300" b="1" i="0">
                <a:solidFill>
                  <a:srgbClr val="2E7D75"/>
                </a:solidFill>
                <a:latin typeface="Calibri"/>
              </a:rPr>
              <a:t>02</a:t>
            </a:r>
          </a:p>
        </p:txBody>
      </p:sp>
      <p:sp>
        <p:nvSpPr>
          <p:cNvPr id="12" name="TextBox 11"/>
          <p:cNvSpPr txBox="1"/>
          <p:nvPr/>
        </p:nvSpPr>
        <p:spPr>
          <a:xfrm>
            <a:off x="1207008" y="2267712"/>
            <a:ext cx="4617720" cy="292608"/>
          </a:xfrm>
          <a:prstGeom prst="rect">
            <a:avLst/>
          </a:prstGeom>
          <a:noFill/>
        </p:spPr>
        <p:txBody>
          <a:bodyPr wrap="square" lIns="0" rIns="0" tIns="0" bIns="0">
            <a:spAutoFit/>
          </a:bodyPr>
          <a:lstStyle/>
          <a:p>
            <a:pPr algn="l">
              <a:lnSpc>
                <a:spcPct val="118000"/>
              </a:lnSpc>
              <a:spcAft>
                <a:spcPts val="0"/>
              </a:spcAft>
            </a:pPr>
            <a:r>
              <a:rPr sz="1250" b="1" i="0">
                <a:solidFill>
                  <a:srgbClr val="1F2A44"/>
                </a:solidFill>
                <a:latin typeface="Calibri"/>
              </a:rPr>
              <a:t>The FY27 revenue build</a:t>
            </a:r>
          </a:p>
        </p:txBody>
      </p:sp>
      <p:sp>
        <p:nvSpPr>
          <p:cNvPr id="13" name="Rectangle 12"/>
          <p:cNvSpPr/>
          <p:nvPr/>
        </p:nvSpPr>
        <p:spPr>
          <a:xfrm>
            <a:off x="640080" y="2788920"/>
            <a:ext cx="5349240" cy="548640"/>
          </a:xfrm>
          <a:prstGeom prst="rect">
            <a:avLst/>
          </a:prstGeom>
          <a:solidFill>
            <a:srgbClr val="F5F7F9"/>
          </a:solidFill>
          <a:ln w="6350">
            <a:solidFill>
              <a:srgbClr val="C9D2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68096" y="2916936"/>
            <a:ext cx="365760" cy="274320"/>
          </a:xfrm>
          <a:prstGeom prst="rect">
            <a:avLst/>
          </a:prstGeom>
          <a:noFill/>
        </p:spPr>
        <p:txBody>
          <a:bodyPr wrap="square" lIns="0" rIns="0" tIns="0" bIns="0">
            <a:spAutoFit/>
          </a:bodyPr>
          <a:lstStyle/>
          <a:p>
            <a:pPr algn="l">
              <a:lnSpc>
                <a:spcPct val="118000"/>
              </a:lnSpc>
              <a:spcAft>
                <a:spcPts val="0"/>
              </a:spcAft>
            </a:pPr>
            <a:r>
              <a:rPr sz="1300" b="1" i="0">
                <a:solidFill>
                  <a:srgbClr val="2E7D75"/>
                </a:solidFill>
                <a:latin typeface="Calibri"/>
              </a:rPr>
              <a:t>03</a:t>
            </a:r>
          </a:p>
        </p:txBody>
      </p:sp>
      <p:sp>
        <p:nvSpPr>
          <p:cNvPr id="15" name="TextBox 14"/>
          <p:cNvSpPr txBox="1"/>
          <p:nvPr/>
        </p:nvSpPr>
        <p:spPr>
          <a:xfrm>
            <a:off x="1207008" y="2926080"/>
            <a:ext cx="4617720" cy="292608"/>
          </a:xfrm>
          <a:prstGeom prst="rect">
            <a:avLst/>
          </a:prstGeom>
          <a:noFill/>
        </p:spPr>
        <p:txBody>
          <a:bodyPr wrap="square" lIns="0" rIns="0" tIns="0" bIns="0">
            <a:spAutoFit/>
          </a:bodyPr>
          <a:lstStyle/>
          <a:p>
            <a:pPr algn="l">
              <a:lnSpc>
                <a:spcPct val="118000"/>
              </a:lnSpc>
              <a:spcAft>
                <a:spcPts val="0"/>
              </a:spcAft>
            </a:pPr>
            <a:r>
              <a:rPr sz="1250" b="1" i="0">
                <a:solidFill>
                  <a:srgbClr val="1F2A44"/>
                </a:solidFill>
                <a:latin typeface="Calibri"/>
              </a:rPr>
              <a:t>Brand-level plan</a:t>
            </a:r>
          </a:p>
        </p:txBody>
      </p:sp>
      <p:sp>
        <p:nvSpPr>
          <p:cNvPr id="16" name="Rectangle 15"/>
          <p:cNvSpPr/>
          <p:nvPr/>
        </p:nvSpPr>
        <p:spPr>
          <a:xfrm>
            <a:off x="640080" y="3447288"/>
            <a:ext cx="5349240" cy="548640"/>
          </a:xfrm>
          <a:prstGeom prst="rect">
            <a:avLst/>
          </a:prstGeom>
          <a:solidFill>
            <a:srgbClr val="F5F7F9"/>
          </a:solidFill>
          <a:ln w="6350">
            <a:solidFill>
              <a:srgbClr val="C9D2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68096" y="3575304"/>
            <a:ext cx="365760" cy="274320"/>
          </a:xfrm>
          <a:prstGeom prst="rect">
            <a:avLst/>
          </a:prstGeom>
          <a:noFill/>
        </p:spPr>
        <p:txBody>
          <a:bodyPr wrap="square" lIns="0" rIns="0" tIns="0" bIns="0">
            <a:spAutoFit/>
          </a:bodyPr>
          <a:lstStyle/>
          <a:p>
            <a:pPr algn="l">
              <a:lnSpc>
                <a:spcPct val="118000"/>
              </a:lnSpc>
              <a:spcAft>
                <a:spcPts val="0"/>
              </a:spcAft>
            </a:pPr>
            <a:r>
              <a:rPr sz="1300" b="1" i="0">
                <a:solidFill>
                  <a:srgbClr val="2E7D75"/>
                </a:solidFill>
                <a:latin typeface="Calibri"/>
              </a:rPr>
              <a:t>04</a:t>
            </a:r>
          </a:p>
        </p:txBody>
      </p:sp>
      <p:sp>
        <p:nvSpPr>
          <p:cNvPr id="18" name="TextBox 17"/>
          <p:cNvSpPr txBox="1"/>
          <p:nvPr/>
        </p:nvSpPr>
        <p:spPr>
          <a:xfrm>
            <a:off x="1207008" y="3584448"/>
            <a:ext cx="4617720" cy="292608"/>
          </a:xfrm>
          <a:prstGeom prst="rect">
            <a:avLst/>
          </a:prstGeom>
          <a:noFill/>
        </p:spPr>
        <p:txBody>
          <a:bodyPr wrap="square" lIns="0" rIns="0" tIns="0" bIns="0">
            <a:spAutoFit/>
          </a:bodyPr>
          <a:lstStyle/>
          <a:p>
            <a:pPr algn="l">
              <a:lnSpc>
                <a:spcPct val="118000"/>
              </a:lnSpc>
              <a:spcAft>
                <a:spcPts val="0"/>
              </a:spcAft>
            </a:pPr>
            <a:r>
              <a:rPr sz="1250" b="1" i="0">
                <a:solidFill>
                  <a:srgbClr val="1F2A44"/>
                </a:solidFill>
                <a:latin typeface="Calibri"/>
              </a:rPr>
              <a:t>Margin path to 16% EBITDA</a:t>
            </a:r>
          </a:p>
        </p:txBody>
      </p:sp>
      <p:sp>
        <p:nvSpPr>
          <p:cNvPr id="19" name="Rectangle 18"/>
          <p:cNvSpPr/>
          <p:nvPr/>
        </p:nvSpPr>
        <p:spPr>
          <a:xfrm>
            <a:off x="6208776" y="1472184"/>
            <a:ext cx="5349240" cy="548640"/>
          </a:xfrm>
          <a:prstGeom prst="rect">
            <a:avLst/>
          </a:prstGeom>
          <a:solidFill>
            <a:srgbClr val="F5F7F9"/>
          </a:solidFill>
          <a:ln w="6350">
            <a:solidFill>
              <a:srgbClr val="C9D2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336792" y="1600200"/>
            <a:ext cx="365760" cy="274320"/>
          </a:xfrm>
          <a:prstGeom prst="rect">
            <a:avLst/>
          </a:prstGeom>
          <a:noFill/>
        </p:spPr>
        <p:txBody>
          <a:bodyPr wrap="square" lIns="0" rIns="0" tIns="0" bIns="0">
            <a:spAutoFit/>
          </a:bodyPr>
          <a:lstStyle/>
          <a:p>
            <a:pPr algn="l">
              <a:lnSpc>
                <a:spcPct val="118000"/>
              </a:lnSpc>
              <a:spcAft>
                <a:spcPts val="0"/>
              </a:spcAft>
            </a:pPr>
            <a:r>
              <a:rPr sz="1300" b="1" i="0">
                <a:solidFill>
                  <a:srgbClr val="2E7D75"/>
                </a:solidFill>
                <a:latin typeface="Calibri"/>
              </a:rPr>
              <a:t>05</a:t>
            </a:r>
          </a:p>
        </p:txBody>
      </p:sp>
      <p:sp>
        <p:nvSpPr>
          <p:cNvPr id="21" name="TextBox 20"/>
          <p:cNvSpPr txBox="1"/>
          <p:nvPr/>
        </p:nvSpPr>
        <p:spPr>
          <a:xfrm>
            <a:off x="6775704" y="1609344"/>
            <a:ext cx="4617720" cy="292608"/>
          </a:xfrm>
          <a:prstGeom prst="rect">
            <a:avLst/>
          </a:prstGeom>
          <a:noFill/>
        </p:spPr>
        <p:txBody>
          <a:bodyPr wrap="square" lIns="0" rIns="0" tIns="0" bIns="0">
            <a:spAutoFit/>
          </a:bodyPr>
          <a:lstStyle/>
          <a:p>
            <a:pPr algn="l">
              <a:lnSpc>
                <a:spcPct val="118000"/>
              </a:lnSpc>
              <a:spcAft>
                <a:spcPts val="0"/>
              </a:spcAft>
            </a:pPr>
            <a:r>
              <a:rPr sz="1250" b="1" i="0">
                <a:solidFill>
                  <a:srgbClr val="1F2A44"/>
                </a:solidFill>
                <a:latin typeface="Calibri"/>
              </a:rPr>
              <a:t>Where the growth money goes</a:t>
            </a:r>
          </a:p>
        </p:txBody>
      </p:sp>
      <p:sp>
        <p:nvSpPr>
          <p:cNvPr id="22" name="Rectangle 21"/>
          <p:cNvSpPr/>
          <p:nvPr/>
        </p:nvSpPr>
        <p:spPr>
          <a:xfrm>
            <a:off x="6208776" y="2130552"/>
            <a:ext cx="5349240" cy="548640"/>
          </a:xfrm>
          <a:prstGeom prst="rect">
            <a:avLst/>
          </a:prstGeom>
          <a:solidFill>
            <a:srgbClr val="F5F7F9"/>
          </a:solidFill>
          <a:ln w="6350">
            <a:solidFill>
              <a:srgbClr val="C9D2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336792" y="2258568"/>
            <a:ext cx="365760" cy="274320"/>
          </a:xfrm>
          <a:prstGeom prst="rect">
            <a:avLst/>
          </a:prstGeom>
          <a:noFill/>
        </p:spPr>
        <p:txBody>
          <a:bodyPr wrap="square" lIns="0" rIns="0" tIns="0" bIns="0">
            <a:spAutoFit/>
          </a:bodyPr>
          <a:lstStyle/>
          <a:p>
            <a:pPr algn="l">
              <a:lnSpc>
                <a:spcPct val="118000"/>
              </a:lnSpc>
              <a:spcAft>
                <a:spcPts val="0"/>
              </a:spcAft>
            </a:pPr>
            <a:r>
              <a:rPr sz="1300" b="1" i="0">
                <a:solidFill>
                  <a:srgbClr val="2E7D75"/>
                </a:solidFill>
                <a:latin typeface="Calibri"/>
              </a:rPr>
              <a:t>06</a:t>
            </a:r>
          </a:p>
        </p:txBody>
      </p:sp>
      <p:sp>
        <p:nvSpPr>
          <p:cNvPr id="24" name="TextBox 23"/>
          <p:cNvSpPr txBox="1"/>
          <p:nvPr/>
        </p:nvSpPr>
        <p:spPr>
          <a:xfrm>
            <a:off x="6775704" y="2267712"/>
            <a:ext cx="4617720" cy="292608"/>
          </a:xfrm>
          <a:prstGeom prst="rect">
            <a:avLst/>
          </a:prstGeom>
          <a:noFill/>
        </p:spPr>
        <p:txBody>
          <a:bodyPr wrap="square" lIns="0" rIns="0" tIns="0" bIns="0">
            <a:spAutoFit/>
          </a:bodyPr>
          <a:lstStyle/>
          <a:p>
            <a:pPr algn="l">
              <a:lnSpc>
                <a:spcPct val="118000"/>
              </a:lnSpc>
              <a:spcAft>
                <a:spcPts val="0"/>
              </a:spcAft>
            </a:pPr>
            <a:r>
              <a:rPr sz="1250" b="1" i="0">
                <a:solidFill>
                  <a:srgbClr val="1F2A44"/>
                </a:solidFill>
                <a:latin typeface="Calibri"/>
              </a:rPr>
              <a:t>Capacity and supply assumptions</a:t>
            </a:r>
          </a:p>
        </p:txBody>
      </p:sp>
      <p:sp>
        <p:nvSpPr>
          <p:cNvPr id="25" name="Rectangle 24"/>
          <p:cNvSpPr/>
          <p:nvPr/>
        </p:nvSpPr>
        <p:spPr>
          <a:xfrm>
            <a:off x="6208776" y="2788920"/>
            <a:ext cx="5349240" cy="548640"/>
          </a:xfrm>
          <a:prstGeom prst="rect">
            <a:avLst/>
          </a:prstGeom>
          <a:solidFill>
            <a:srgbClr val="F5F7F9"/>
          </a:solidFill>
          <a:ln w="6350">
            <a:solidFill>
              <a:srgbClr val="C9D2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336792" y="2916936"/>
            <a:ext cx="365760" cy="274320"/>
          </a:xfrm>
          <a:prstGeom prst="rect">
            <a:avLst/>
          </a:prstGeom>
          <a:noFill/>
        </p:spPr>
        <p:txBody>
          <a:bodyPr wrap="square" lIns="0" rIns="0" tIns="0" bIns="0">
            <a:spAutoFit/>
          </a:bodyPr>
          <a:lstStyle/>
          <a:p>
            <a:pPr algn="l">
              <a:lnSpc>
                <a:spcPct val="118000"/>
              </a:lnSpc>
              <a:spcAft>
                <a:spcPts val="0"/>
              </a:spcAft>
            </a:pPr>
            <a:r>
              <a:rPr sz="1300" b="1" i="0">
                <a:solidFill>
                  <a:srgbClr val="2E7D75"/>
                </a:solidFill>
                <a:latin typeface="Calibri"/>
              </a:rPr>
              <a:t>07</a:t>
            </a:r>
          </a:p>
        </p:txBody>
      </p:sp>
      <p:sp>
        <p:nvSpPr>
          <p:cNvPr id="27" name="TextBox 26"/>
          <p:cNvSpPr txBox="1"/>
          <p:nvPr/>
        </p:nvSpPr>
        <p:spPr>
          <a:xfrm>
            <a:off x="6775704" y="2926080"/>
            <a:ext cx="4617720" cy="292608"/>
          </a:xfrm>
          <a:prstGeom prst="rect">
            <a:avLst/>
          </a:prstGeom>
          <a:noFill/>
        </p:spPr>
        <p:txBody>
          <a:bodyPr wrap="square" lIns="0" rIns="0" tIns="0" bIns="0">
            <a:spAutoFit/>
          </a:bodyPr>
          <a:lstStyle/>
          <a:p>
            <a:pPr algn="l">
              <a:lnSpc>
                <a:spcPct val="118000"/>
              </a:lnSpc>
              <a:spcAft>
                <a:spcPts val="0"/>
              </a:spcAft>
            </a:pPr>
            <a:r>
              <a:rPr sz="1250" b="1" i="0">
                <a:solidFill>
                  <a:srgbClr val="1F2A44"/>
                </a:solidFill>
                <a:latin typeface="Calibri"/>
              </a:rPr>
              <a:t>Risks and sensitivities</a:t>
            </a:r>
          </a:p>
        </p:txBody>
      </p:sp>
      <p:sp>
        <p:nvSpPr>
          <p:cNvPr id="28" name="Rectangle 27"/>
          <p:cNvSpPr/>
          <p:nvPr/>
        </p:nvSpPr>
        <p:spPr>
          <a:xfrm>
            <a:off x="6208776" y="3447288"/>
            <a:ext cx="5349240" cy="548640"/>
          </a:xfrm>
          <a:prstGeom prst="rect">
            <a:avLst/>
          </a:prstGeom>
          <a:solidFill>
            <a:srgbClr val="F5F7F9"/>
          </a:solidFill>
          <a:ln w="6350">
            <a:solidFill>
              <a:srgbClr val="C9D2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336792" y="3575304"/>
            <a:ext cx="365760" cy="274320"/>
          </a:xfrm>
          <a:prstGeom prst="rect">
            <a:avLst/>
          </a:prstGeom>
          <a:noFill/>
        </p:spPr>
        <p:txBody>
          <a:bodyPr wrap="square" lIns="0" rIns="0" tIns="0" bIns="0">
            <a:spAutoFit/>
          </a:bodyPr>
          <a:lstStyle/>
          <a:p>
            <a:pPr algn="l">
              <a:lnSpc>
                <a:spcPct val="118000"/>
              </a:lnSpc>
              <a:spcAft>
                <a:spcPts val="0"/>
              </a:spcAft>
            </a:pPr>
            <a:r>
              <a:rPr sz="1300" b="1" i="0">
                <a:solidFill>
                  <a:srgbClr val="2E7D75"/>
                </a:solidFill>
                <a:latin typeface="Calibri"/>
              </a:rPr>
              <a:t>08</a:t>
            </a:r>
          </a:p>
        </p:txBody>
      </p:sp>
      <p:sp>
        <p:nvSpPr>
          <p:cNvPr id="30" name="TextBox 29"/>
          <p:cNvSpPr txBox="1"/>
          <p:nvPr/>
        </p:nvSpPr>
        <p:spPr>
          <a:xfrm>
            <a:off x="6775704" y="3584448"/>
            <a:ext cx="4617720" cy="292608"/>
          </a:xfrm>
          <a:prstGeom prst="rect">
            <a:avLst/>
          </a:prstGeom>
          <a:noFill/>
        </p:spPr>
        <p:txBody>
          <a:bodyPr wrap="square" lIns="0" rIns="0" tIns="0" bIns="0">
            <a:spAutoFit/>
          </a:bodyPr>
          <a:lstStyle/>
          <a:p>
            <a:pPr algn="l">
              <a:lnSpc>
                <a:spcPct val="118000"/>
              </a:lnSpc>
              <a:spcAft>
                <a:spcPts val="0"/>
              </a:spcAft>
            </a:pPr>
            <a:r>
              <a:rPr sz="1250" b="1" i="0">
                <a:solidFill>
                  <a:srgbClr val="1F2A44"/>
                </a:solidFill>
                <a:latin typeface="Calibri"/>
              </a:rPr>
              <a:t>The approval ask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256032"/>
          </a:xfrm>
          <a:prstGeom prst="rect">
            <a:avLst/>
          </a:prstGeom>
          <a:noFill/>
        </p:spPr>
        <p:txBody>
          <a:bodyPr wrap="square" lIns="0" rIns="0" tIns="0" bIns="0">
            <a:spAutoFit/>
          </a:bodyPr>
          <a:lstStyle/>
          <a:p>
            <a:pPr algn="l">
              <a:lnSpc>
                <a:spcPct val="118000"/>
              </a:lnSpc>
              <a:spcAft>
                <a:spcPts val="0"/>
              </a:spcAft>
            </a:pPr>
            <a:r>
              <a:rPr sz="1000" b="1" i="0">
                <a:solidFill>
                  <a:srgbClr val="2E7D75"/>
                </a:solidFill>
                <a:latin typeface="Calibri"/>
              </a:rPr>
              <a:t>THE HEADLINE</a:t>
            </a:r>
          </a:p>
        </p:txBody>
      </p:sp>
      <p:sp>
        <p:nvSpPr>
          <p:cNvPr id="3" name="TextBox 2"/>
          <p:cNvSpPr txBox="1"/>
          <p:nvPr/>
        </p:nvSpPr>
        <p:spPr>
          <a:xfrm>
            <a:off x="640080" y="676656"/>
            <a:ext cx="10911535" cy="566928"/>
          </a:xfrm>
          <a:prstGeom prst="rect">
            <a:avLst/>
          </a:prstGeom>
          <a:noFill/>
        </p:spPr>
        <p:txBody>
          <a:bodyPr wrap="square" lIns="0" rIns="0" tIns="0" bIns="0">
            <a:spAutoFit/>
          </a:bodyPr>
          <a:lstStyle/>
          <a:p>
            <a:pPr algn="l">
              <a:lnSpc>
                <a:spcPct val="118000"/>
              </a:lnSpc>
              <a:spcAft>
                <a:spcPts val="0"/>
              </a:spcAft>
            </a:pPr>
            <a:r>
              <a:rPr sz="2500" b="1" i="0">
                <a:solidFill>
                  <a:srgbClr val="1F2A44"/>
                </a:solidFill>
                <a:latin typeface="Calibri"/>
              </a:rPr>
              <a:t>What the board is being asked to approve</a:t>
            </a:r>
          </a:p>
        </p:txBody>
      </p:sp>
      <p:sp>
        <p:nvSpPr>
          <p:cNvPr id="4" name="Rectangle 3"/>
          <p:cNvSpPr/>
          <p:nvPr/>
        </p:nvSpPr>
        <p:spPr>
          <a:xfrm>
            <a:off x="640080" y="1243584"/>
            <a:ext cx="1005840" cy="22860"/>
          </a:xfrm>
          <a:prstGeom prst="rect">
            <a:avLst/>
          </a:prstGeom>
          <a:solidFill>
            <a:srgbClr val="2E7D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40080" y="6419088"/>
            <a:ext cx="8412480" cy="219456"/>
          </a:xfrm>
          <a:prstGeom prst="rect">
            <a:avLst/>
          </a:prstGeom>
          <a:noFill/>
        </p:spPr>
        <p:txBody>
          <a:bodyPr wrap="square" lIns="0" rIns="0" tIns="0" bIns="0">
            <a:spAutoFit/>
          </a:bodyPr>
          <a:lstStyle/>
          <a:p>
            <a:pPr algn="l">
              <a:lnSpc>
                <a:spcPct val="118000"/>
              </a:lnSpc>
              <a:spcAft>
                <a:spcPts val="0"/>
              </a:spcAft>
            </a:pPr>
            <a:r>
              <a:rPr sz="750" b="0" i="0">
                <a:solidFill>
                  <a:srgbClr val="5B6472"/>
                </a:solidFill>
                <a:latin typeface="Calibri"/>
              </a:rPr>
              <a:t>Internal · Confidential — Acme Corp synthetic demo data. Fictional; not for real decision-making.</a:t>
            </a:r>
          </a:p>
        </p:txBody>
      </p:sp>
      <p:sp>
        <p:nvSpPr>
          <p:cNvPr id="6" name="TextBox 5"/>
          <p:cNvSpPr txBox="1"/>
          <p:nvPr/>
        </p:nvSpPr>
        <p:spPr>
          <a:xfrm>
            <a:off x="10424160" y="6419088"/>
            <a:ext cx="1124712" cy="219456"/>
          </a:xfrm>
          <a:prstGeom prst="rect">
            <a:avLst/>
          </a:prstGeom>
          <a:noFill/>
        </p:spPr>
        <p:txBody>
          <a:bodyPr wrap="square" lIns="0" rIns="0" tIns="0" bIns="0">
            <a:spAutoFit/>
          </a:bodyPr>
          <a:lstStyle/>
          <a:p>
            <a:pPr algn="r">
              <a:lnSpc>
                <a:spcPct val="118000"/>
              </a:lnSpc>
              <a:spcAft>
                <a:spcPts val="0"/>
              </a:spcAft>
            </a:pPr>
            <a:r>
              <a:rPr sz="750" b="0" i="0">
                <a:solidFill>
                  <a:srgbClr val="5B6472"/>
                </a:solidFill>
                <a:latin typeface="Calibri"/>
              </a:rPr>
              <a:t>FY27 AOP pre-read  ·  2</a:t>
            </a:r>
          </a:p>
        </p:txBody>
      </p:sp>
      <p:sp>
        <p:nvSpPr>
          <p:cNvPr id="7" name="TextBox 6"/>
          <p:cNvSpPr txBox="1"/>
          <p:nvPr/>
        </p:nvSpPr>
        <p:spPr>
          <a:xfrm>
            <a:off x="640080" y="1417320"/>
            <a:ext cx="6492240" cy="1160144"/>
          </a:xfrm>
          <a:prstGeom prst="rect">
            <a:avLst/>
          </a:prstGeom>
          <a:noFill/>
        </p:spPr>
        <p:txBody>
          <a:bodyPr wrap="square" lIns="0" rIns="0" tIns="0" bIns="0">
            <a:spAutoFit/>
          </a:bodyPr>
          <a:lstStyle/>
          <a:p>
            <a:pPr algn="l">
              <a:lnSpc>
                <a:spcPct val="126000"/>
              </a:lnSpc>
              <a:spcAft>
                <a:spcPts val="1000"/>
              </a:spcAft>
            </a:pPr>
            <a:r>
              <a:rPr sz="1450" b="0" i="0">
                <a:solidFill>
                  <a:srgbClr val="2B2F38"/>
                </a:solidFill>
                <a:latin typeface="Calibri"/>
              </a:rPr>
              <a:t>The FY2027 plan targets $880M of net revenue — roughly +8% on the $812M FY25 base — and starts the margin climb from 14.2% to the 16%-by-FY28 commitment. Growth is loaded onto Wellness Protein and oat milk, not onto pricing, and the FY26 variance to plan is carried as an explicit risk overlay rather than absorbed into productivity.</a:t>
            </a:r>
          </a:p>
        </p:txBody>
      </p:sp>
      <p:sp>
        <p:nvSpPr>
          <p:cNvPr id="8" name="TextBox 7"/>
          <p:cNvSpPr txBox="1"/>
          <p:nvPr/>
        </p:nvSpPr>
        <p:spPr>
          <a:xfrm>
            <a:off x="640080" y="2796920"/>
            <a:ext cx="6492240" cy="3256408"/>
          </a:xfrm>
          <a:prstGeom prst="rect">
            <a:avLst/>
          </a:prstGeom>
          <a:noFill/>
        </p:spPr>
        <p:txBody>
          <a:bodyPr wrap="square" lIns="0" rIns="0" tIns="0" bIns="0">
            <a:spAutoFit/>
          </a:bodyPr>
          <a:lstStyle/>
          <a:p>
            <a:pPr>
              <a:lnSpc>
                <a:spcPct val="120000"/>
              </a:lnSpc>
              <a:spcAft>
                <a:spcPts val="744"/>
              </a:spcAft>
            </a:pPr>
            <a:r>
              <a:rPr sz="1200" b="1">
                <a:solidFill>
                  <a:srgbClr val="2E7D75"/>
                </a:solidFill>
                <a:latin typeface="Calibri"/>
              </a:rPr>
              <a:t>—  </a:t>
            </a:r>
            <a:r>
              <a:rPr sz="1200" b="1" i="0">
                <a:solidFill>
                  <a:srgbClr val="2B2F38"/>
                </a:solidFill>
                <a:latin typeface="Calibri"/>
              </a:rPr>
              <a:t>The number:</a:t>
            </a:r>
            <a:r>
              <a:rPr sz="1200" b="0" i="0">
                <a:solidFill>
                  <a:srgbClr val="2B2F38"/>
                </a:solidFill>
                <a:latin typeface="Calibri"/>
              </a:rPr>
              <a:t> $880M net revenue and ~15.0% EBITDA margin, consistent with the FY27 AOP (Report 14) and the long-range plan (Report 15).</a:t>
            </a:r>
          </a:p>
          <a:p>
            <a:pPr>
              <a:lnSpc>
                <a:spcPct val="120000"/>
              </a:lnSpc>
              <a:spcAft>
                <a:spcPts val="744"/>
              </a:spcAft>
            </a:pPr>
            <a:r>
              <a:rPr sz="1200" b="1">
                <a:solidFill>
                  <a:srgbClr val="2E7D75"/>
                </a:solidFill>
                <a:latin typeface="Calibri"/>
              </a:rPr>
              <a:t>—  </a:t>
            </a:r>
            <a:r>
              <a:rPr sz="1200" b="1" i="0">
                <a:solidFill>
                  <a:srgbClr val="2B2F38"/>
                </a:solidFill>
                <a:latin typeface="Calibri"/>
              </a:rPr>
              <a:t>FY26 is the risk overlay, not the base.</a:t>
            </a:r>
            <a:r>
              <a:rPr sz="1200" b="0" i="0">
                <a:solidFill>
                  <a:srgbClr val="2B2F38"/>
                </a:solidFill>
                <a:latin typeface="Calibri"/>
              </a:rPr>
              <a:t> Q1 landed $181.1M against $191.2M of plan (-5.3%); every FY27 initiative carries a named owner who reports deviation monthly.</a:t>
            </a:r>
          </a:p>
          <a:p>
            <a:pPr>
              <a:lnSpc>
                <a:spcPct val="120000"/>
              </a:lnSpc>
              <a:spcAft>
                <a:spcPts val="744"/>
              </a:spcAft>
            </a:pPr>
            <a:r>
              <a:rPr sz="1200" b="1">
                <a:solidFill>
                  <a:srgbClr val="2E7D75"/>
                </a:solidFill>
                <a:latin typeface="Calibri"/>
              </a:rPr>
              <a:t>—  </a:t>
            </a:r>
            <a:r>
              <a:rPr sz="1200" b="1" i="0">
                <a:solidFill>
                  <a:srgbClr val="2B2F38"/>
                </a:solidFill>
                <a:latin typeface="Calibri"/>
              </a:rPr>
              <a:t>The build is bottom-up:</a:t>
            </a:r>
            <a:r>
              <a:rPr sz="1200" b="0" i="0">
                <a:solidFill>
                  <a:srgbClr val="2B2F38"/>
                </a:solidFill>
                <a:latin typeface="Calibri"/>
              </a:rPr>
              <a:t> ProteinPeak $48M → $100M carries 61% of the gross brand growth; the Pack Refresh anchors Crunchwell stabilisation.</a:t>
            </a:r>
          </a:p>
          <a:p>
            <a:pPr>
              <a:lnSpc>
                <a:spcPct val="120000"/>
              </a:lnSpc>
              <a:spcAft>
                <a:spcPts val="744"/>
              </a:spcAft>
            </a:pPr>
            <a:r>
              <a:rPr sz="1200" b="1">
                <a:solidFill>
                  <a:srgbClr val="2E7D75"/>
                </a:solidFill>
                <a:latin typeface="Calibri"/>
              </a:rPr>
              <a:t>—  </a:t>
            </a:r>
            <a:r>
              <a:rPr sz="1200" b="1" i="0">
                <a:solidFill>
                  <a:srgbClr val="2B2F38"/>
                </a:solidFill>
                <a:latin typeface="Calibri"/>
              </a:rPr>
              <a:t>Margin comes out of trade,</a:t>
            </a:r>
            <a:r>
              <a:rPr sz="1200" b="0" i="0">
                <a:solidFill>
                  <a:srgbClr val="2B2F38"/>
                </a:solidFill>
                <a:latin typeface="Calibri"/>
              </a:rPr>
              <a:t> not A&amp;P: the ~$150M envelope holds while incrementality moves 0.52 → 0.60.</a:t>
            </a:r>
          </a:p>
          <a:p>
            <a:pPr>
              <a:lnSpc>
                <a:spcPct val="120000"/>
              </a:lnSpc>
              <a:spcAft>
                <a:spcPts val="744"/>
              </a:spcAft>
            </a:pPr>
            <a:r>
              <a:rPr sz="1200" b="1">
                <a:solidFill>
                  <a:srgbClr val="2E7D75"/>
                </a:solidFill>
                <a:latin typeface="Calibri"/>
              </a:rPr>
              <a:t>—  </a:t>
            </a:r>
            <a:r>
              <a:rPr sz="1200" b="1" i="0">
                <a:solidFill>
                  <a:srgbClr val="2B2F38"/>
                </a:solidFill>
                <a:latin typeface="Calibri"/>
              </a:rPr>
              <a:t>All FY27 figures are plan targets</a:t>
            </a:r>
            <a:r>
              <a:rPr sz="1200" b="0" i="0">
                <a:solidFill>
                  <a:srgbClr val="2B2F38"/>
                </a:solidFill>
                <a:latin typeface="Calibri"/>
              </a:rPr>
              <a:t>, not measured results.</a:t>
            </a:r>
          </a:p>
        </p:txBody>
      </p:sp>
      <p:sp>
        <p:nvSpPr>
          <p:cNvPr id="9" name="Rectangle 8"/>
          <p:cNvSpPr/>
          <p:nvPr/>
        </p:nvSpPr>
        <p:spPr>
          <a:xfrm>
            <a:off x="7543800" y="1435608"/>
            <a:ext cx="2148840" cy="1133856"/>
          </a:xfrm>
          <a:prstGeom prst="rect">
            <a:avLst/>
          </a:prstGeom>
          <a:solidFill>
            <a:srgbClr val="F5F7F9"/>
          </a:solidFill>
          <a:ln w="6350">
            <a:solidFill>
              <a:srgbClr val="C9D2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90104" y="1581912"/>
            <a:ext cx="1874520" cy="457200"/>
          </a:xfrm>
          <a:prstGeom prst="rect">
            <a:avLst/>
          </a:prstGeom>
          <a:noFill/>
        </p:spPr>
        <p:txBody>
          <a:bodyPr wrap="square" lIns="0" rIns="0" tIns="0" bIns="0">
            <a:spAutoFit/>
          </a:bodyPr>
          <a:lstStyle/>
          <a:p>
            <a:pPr algn="l">
              <a:lnSpc>
                <a:spcPct val="118000"/>
              </a:lnSpc>
              <a:spcAft>
                <a:spcPts val="0"/>
              </a:spcAft>
            </a:pPr>
            <a:r>
              <a:rPr sz="2200" b="1" i="0">
                <a:solidFill>
                  <a:srgbClr val="1F2A44"/>
                </a:solidFill>
                <a:latin typeface="Calibri"/>
              </a:rPr>
              <a:t>$880M</a:t>
            </a:r>
          </a:p>
        </p:txBody>
      </p:sp>
      <p:sp>
        <p:nvSpPr>
          <p:cNvPr id="11" name="TextBox 10"/>
          <p:cNvSpPr txBox="1"/>
          <p:nvPr/>
        </p:nvSpPr>
        <p:spPr>
          <a:xfrm>
            <a:off x="7690104" y="2093976"/>
            <a:ext cx="1874520" cy="402336"/>
          </a:xfrm>
          <a:prstGeom prst="rect">
            <a:avLst/>
          </a:prstGeom>
          <a:noFill/>
        </p:spPr>
        <p:txBody>
          <a:bodyPr wrap="square" lIns="0" rIns="0" tIns="0" bIns="0">
            <a:spAutoFit/>
          </a:bodyPr>
          <a:lstStyle/>
          <a:p>
            <a:pPr algn="l">
              <a:lnSpc>
                <a:spcPct val="112000"/>
              </a:lnSpc>
              <a:spcAft>
                <a:spcPts val="0"/>
              </a:spcAft>
            </a:pPr>
            <a:r>
              <a:rPr sz="950" b="1" i="0">
                <a:solidFill>
                  <a:srgbClr val="5B6472"/>
                </a:solidFill>
                <a:latin typeface="Calibri"/>
              </a:rPr>
              <a:t>FY27 NET REVENUE TARGET</a:t>
            </a:r>
          </a:p>
        </p:txBody>
      </p:sp>
      <p:sp>
        <p:nvSpPr>
          <p:cNvPr id="12" name="Rectangle 11"/>
          <p:cNvSpPr/>
          <p:nvPr/>
        </p:nvSpPr>
        <p:spPr>
          <a:xfrm>
            <a:off x="9912096" y="1435608"/>
            <a:ext cx="2148840" cy="1133856"/>
          </a:xfrm>
          <a:prstGeom prst="rect">
            <a:avLst/>
          </a:prstGeom>
          <a:solidFill>
            <a:srgbClr val="F5F7F9"/>
          </a:solidFill>
          <a:ln w="6350">
            <a:solidFill>
              <a:srgbClr val="C9D2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0" y="1581912"/>
            <a:ext cx="1874520" cy="457200"/>
          </a:xfrm>
          <a:prstGeom prst="rect">
            <a:avLst/>
          </a:prstGeom>
          <a:noFill/>
        </p:spPr>
        <p:txBody>
          <a:bodyPr wrap="square" lIns="0" rIns="0" tIns="0" bIns="0">
            <a:spAutoFit/>
          </a:bodyPr>
          <a:lstStyle/>
          <a:p>
            <a:pPr algn="l">
              <a:lnSpc>
                <a:spcPct val="118000"/>
              </a:lnSpc>
              <a:spcAft>
                <a:spcPts val="0"/>
              </a:spcAft>
            </a:pPr>
            <a:r>
              <a:rPr sz="2200" b="1" i="0">
                <a:solidFill>
                  <a:srgbClr val="1F2A44"/>
                </a:solidFill>
                <a:latin typeface="Calibri"/>
              </a:rPr>
              <a:t>+8%</a:t>
            </a:r>
          </a:p>
        </p:txBody>
      </p:sp>
      <p:sp>
        <p:nvSpPr>
          <p:cNvPr id="14" name="TextBox 13"/>
          <p:cNvSpPr txBox="1"/>
          <p:nvPr/>
        </p:nvSpPr>
        <p:spPr>
          <a:xfrm>
            <a:off x="10058400" y="2093976"/>
            <a:ext cx="1874520" cy="402336"/>
          </a:xfrm>
          <a:prstGeom prst="rect">
            <a:avLst/>
          </a:prstGeom>
          <a:noFill/>
        </p:spPr>
        <p:txBody>
          <a:bodyPr wrap="square" lIns="0" rIns="0" tIns="0" bIns="0">
            <a:spAutoFit/>
          </a:bodyPr>
          <a:lstStyle/>
          <a:p>
            <a:pPr algn="l">
              <a:lnSpc>
                <a:spcPct val="112000"/>
              </a:lnSpc>
              <a:spcAft>
                <a:spcPts val="0"/>
              </a:spcAft>
            </a:pPr>
            <a:r>
              <a:rPr sz="950" b="1" i="0">
                <a:solidFill>
                  <a:srgbClr val="5B6472"/>
                </a:solidFill>
                <a:latin typeface="Calibri"/>
              </a:rPr>
              <a:t>GROWTH ON THE FY25 BASE</a:t>
            </a:r>
          </a:p>
        </p:txBody>
      </p:sp>
      <p:sp>
        <p:nvSpPr>
          <p:cNvPr id="15" name="Rectangle 14"/>
          <p:cNvSpPr/>
          <p:nvPr/>
        </p:nvSpPr>
        <p:spPr>
          <a:xfrm>
            <a:off x="7543800" y="2734056"/>
            <a:ext cx="2148840" cy="1133856"/>
          </a:xfrm>
          <a:prstGeom prst="rect">
            <a:avLst/>
          </a:prstGeom>
          <a:solidFill>
            <a:srgbClr val="F5F7F9"/>
          </a:solidFill>
          <a:ln w="6350">
            <a:solidFill>
              <a:srgbClr val="C9D2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7690104" y="2880360"/>
            <a:ext cx="1874520" cy="457200"/>
          </a:xfrm>
          <a:prstGeom prst="rect">
            <a:avLst/>
          </a:prstGeom>
          <a:noFill/>
        </p:spPr>
        <p:txBody>
          <a:bodyPr wrap="square" lIns="0" rIns="0" tIns="0" bIns="0">
            <a:spAutoFit/>
          </a:bodyPr>
          <a:lstStyle/>
          <a:p>
            <a:pPr algn="l">
              <a:lnSpc>
                <a:spcPct val="118000"/>
              </a:lnSpc>
              <a:spcAft>
                <a:spcPts val="0"/>
              </a:spcAft>
            </a:pPr>
            <a:r>
              <a:rPr sz="2200" b="1" i="0">
                <a:solidFill>
                  <a:srgbClr val="1F2A44"/>
                </a:solidFill>
                <a:latin typeface="Calibri"/>
              </a:rPr>
              <a:t>~15.0%</a:t>
            </a:r>
          </a:p>
        </p:txBody>
      </p:sp>
      <p:sp>
        <p:nvSpPr>
          <p:cNvPr id="17" name="TextBox 16"/>
          <p:cNvSpPr txBox="1"/>
          <p:nvPr/>
        </p:nvSpPr>
        <p:spPr>
          <a:xfrm>
            <a:off x="7690104" y="3392424"/>
            <a:ext cx="1874520" cy="402336"/>
          </a:xfrm>
          <a:prstGeom prst="rect">
            <a:avLst/>
          </a:prstGeom>
          <a:noFill/>
        </p:spPr>
        <p:txBody>
          <a:bodyPr wrap="square" lIns="0" rIns="0" tIns="0" bIns="0">
            <a:spAutoFit/>
          </a:bodyPr>
          <a:lstStyle/>
          <a:p>
            <a:pPr algn="l">
              <a:lnSpc>
                <a:spcPct val="112000"/>
              </a:lnSpc>
              <a:spcAft>
                <a:spcPts val="0"/>
              </a:spcAft>
            </a:pPr>
            <a:r>
              <a:rPr sz="950" b="1" i="0">
                <a:solidFill>
                  <a:srgbClr val="5B6472"/>
                </a:solidFill>
                <a:latin typeface="Calibri"/>
              </a:rPr>
              <a:t>FY27 EBITDA MARGIN TARGET</a:t>
            </a:r>
          </a:p>
        </p:txBody>
      </p:sp>
      <p:sp>
        <p:nvSpPr>
          <p:cNvPr id="18" name="Rectangle 17"/>
          <p:cNvSpPr/>
          <p:nvPr/>
        </p:nvSpPr>
        <p:spPr>
          <a:xfrm>
            <a:off x="9912096" y="2734056"/>
            <a:ext cx="2148840" cy="1133856"/>
          </a:xfrm>
          <a:prstGeom prst="rect">
            <a:avLst/>
          </a:prstGeom>
          <a:solidFill>
            <a:srgbClr val="F5F7F9"/>
          </a:solidFill>
          <a:ln w="6350">
            <a:solidFill>
              <a:srgbClr val="C9D2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0058400" y="2880360"/>
            <a:ext cx="1874520" cy="457200"/>
          </a:xfrm>
          <a:prstGeom prst="rect">
            <a:avLst/>
          </a:prstGeom>
          <a:noFill/>
        </p:spPr>
        <p:txBody>
          <a:bodyPr wrap="square" lIns="0" rIns="0" tIns="0" bIns="0">
            <a:spAutoFit/>
          </a:bodyPr>
          <a:lstStyle/>
          <a:p>
            <a:pPr algn="l">
              <a:lnSpc>
                <a:spcPct val="118000"/>
              </a:lnSpc>
              <a:spcAft>
                <a:spcPts val="0"/>
              </a:spcAft>
            </a:pPr>
            <a:r>
              <a:rPr sz="2200" b="1" i="0">
                <a:solidFill>
                  <a:srgbClr val="1F2A44"/>
                </a:solidFill>
                <a:latin typeface="Calibri"/>
              </a:rPr>
              <a:t>~$150M</a:t>
            </a:r>
          </a:p>
        </p:txBody>
      </p:sp>
      <p:sp>
        <p:nvSpPr>
          <p:cNvPr id="20" name="TextBox 19"/>
          <p:cNvSpPr txBox="1"/>
          <p:nvPr/>
        </p:nvSpPr>
        <p:spPr>
          <a:xfrm>
            <a:off x="10058400" y="3392424"/>
            <a:ext cx="1874520" cy="402336"/>
          </a:xfrm>
          <a:prstGeom prst="rect">
            <a:avLst/>
          </a:prstGeom>
          <a:noFill/>
        </p:spPr>
        <p:txBody>
          <a:bodyPr wrap="square" lIns="0" rIns="0" tIns="0" bIns="0">
            <a:spAutoFit/>
          </a:bodyPr>
          <a:lstStyle/>
          <a:p>
            <a:pPr algn="l">
              <a:lnSpc>
                <a:spcPct val="112000"/>
              </a:lnSpc>
              <a:spcAft>
                <a:spcPts val="0"/>
              </a:spcAft>
            </a:pPr>
            <a:r>
              <a:rPr sz="950" b="1" i="0">
                <a:solidFill>
                  <a:srgbClr val="5B6472"/>
                </a:solidFill>
                <a:latin typeface="Calibri"/>
              </a:rPr>
              <a:t>FY27 TRADE ENVELOPE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256032"/>
          </a:xfrm>
          <a:prstGeom prst="rect">
            <a:avLst/>
          </a:prstGeom>
          <a:noFill/>
        </p:spPr>
        <p:txBody>
          <a:bodyPr wrap="square" lIns="0" rIns="0" tIns="0" bIns="0">
            <a:spAutoFit/>
          </a:bodyPr>
          <a:lstStyle/>
          <a:p>
            <a:pPr algn="l">
              <a:lnSpc>
                <a:spcPct val="118000"/>
              </a:lnSpc>
              <a:spcAft>
                <a:spcPts val="0"/>
              </a:spcAft>
            </a:pPr>
            <a:r>
              <a:rPr sz="1000" b="1" i="0">
                <a:solidFill>
                  <a:srgbClr val="2E7D75"/>
                </a:solidFill>
                <a:latin typeface="Calibri"/>
              </a:rPr>
              <a:t>THE BUILD</a:t>
            </a:r>
          </a:p>
        </p:txBody>
      </p:sp>
      <p:sp>
        <p:nvSpPr>
          <p:cNvPr id="3" name="TextBox 2"/>
          <p:cNvSpPr txBox="1"/>
          <p:nvPr/>
        </p:nvSpPr>
        <p:spPr>
          <a:xfrm>
            <a:off x="640080" y="676656"/>
            <a:ext cx="10911535" cy="566928"/>
          </a:xfrm>
          <a:prstGeom prst="rect">
            <a:avLst/>
          </a:prstGeom>
          <a:noFill/>
        </p:spPr>
        <p:txBody>
          <a:bodyPr wrap="square" lIns="0" rIns="0" tIns="0" bIns="0">
            <a:spAutoFit/>
          </a:bodyPr>
          <a:lstStyle/>
          <a:p>
            <a:pPr algn="l">
              <a:lnSpc>
                <a:spcPct val="118000"/>
              </a:lnSpc>
              <a:spcAft>
                <a:spcPts val="0"/>
              </a:spcAft>
            </a:pPr>
            <a:r>
              <a:rPr sz="2500" b="1" i="0">
                <a:solidFill>
                  <a:srgbClr val="1F2A44"/>
                </a:solidFill>
                <a:latin typeface="Calibri"/>
              </a:rPr>
              <a:t>$880M is one big bet and five small ones</a:t>
            </a:r>
          </a:p>
        </p:txBody>
      </p:sp>
      <p:sp>
        <p:nvSpPr>
          <p:cNvPr id="4" name="Rectangle 3"/>
          <p:cNvSpPr/>
          <p:nvPr/>
        </p:nvSpPr>
        <p:spPr>
          <a:xfrm>
            <a:off x="640080" y="1243584"/>
            <a:ext cx="1005840" cy="22860"/>
          </a:xfrm>
          <a:prstGeom prst="rect">
            <a:avLst/>
          </a:prstGeom>
          <a:solidFill>
            <a:srgbClr val="2E7D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40080" y="6419088"/>
            <a:ext cx="8412480" cy="219456"/>
          </a:xfrm>
          <a:prstGeom prst="rect">
            <a:avLst/>
          </a:prstGeom>
          <a:noFill/>
        </p:spPr>
        <p:txBody>
          <a:bodyPr wrap="square" lIns="0" rIns="0" tIns="0" bIns="0">
            <a:spAutoFit/>
          </a:bodyPr>
          <a:lstStyle/>
          <a:p>
            <a:pPr algn="l">
              <a:lnSpc>
                <a:spcPct val="118000"/>
              </a:lnSpc>
              <a:spcAft>
                <a:spcPts val="0"/>
              </a:spcAft>
            </a:pPr>
            <a:r>
              <a:rPr sz="750" b="0" i="0">
                <a:solidFill>
                  <a:srgbClr val="5B6472"/>
                </a:solidFill>
                <a:latin typeface="Calibri"/>
              </a:rPr>
              <a:t>Internal · Confidential — Acme Corp synthetic demo data. Fictional; not for real decision-making.</a:t>
            </a:r>
          </a:p>
        </p:txBody>
      </p:sp>
      <p:sp>
        <p:nvSpPr>
          <p:cNvPr id="6" name="TextBox 5"/>
          <p:cNvSpPr txBox="1"/>
          <p:nvPr/>
        </p:nvSpPr>
        <p:spPr>
          <a:xfrm>
            <a:off x="10424160" y="6419088"/>
            <a:ext cx="1124712" cy="219456"/>
          </a:xfrm>
          <a:prstGeom prst="rect">
            <a:avLst/>
          </a:prstGeom>
          <a:noFill/>
        </p:spPr>
        <p:txBody>
          <a:bodyPr wrap="square" lIns="0" rIns="0" tIns="0" bIns="0">
            <a:spAutoFit/>
          </a:bodyPr>
          <a:lstStyle/>
          <a:p>
            <a:pPr algn="r">
              <a:lnSpc>
                <a:spcPct val="118000"/>
              </a:lnSpc>
              <a:spcAft>
                <a:spcPts val="0"/>
              </a:spcAft>
            </a:pPr>
            <a:r>
              <a:rPr sz="750" b="0" i="0">
                <a:solidFill>
                  <a:srgbClr val="5B6472"/>
                </a:solidFill>
                <a:latin typeface="Calibri"/>
              </a:rPr>
              <a:t>FY27 AOP pre-read  ·  3</a:t>
            </a:r>
          </a:p>
        </p:txBody>
      </p:sp>
      <p:sp>
        <p:nvSpPr>
          <p:cNvPr id="7" name="TextBox 6"/>
          <p:cNvSpPr txBox="1"/>
          <p:nvPr/>
        </p:nvSpPr>
        <p:spPr>
          <a:xfrm>
            <a:off x="640080" y="1417320"/>
            <a:ext cx="10911535" cy="198120"/>
          </a:xfrm>
          <a:prstGeom prst="rect">
            <a:avLst/>
          </a:prstGeom>
          <a:noFill/>
        </p:spPr>
        <p:txBody>
          <a:bodyPr wrap="square" lIns="0" rIns="0" tIns="0" bIns="0">
            <a:spAutoFit/>
          </a:bodyPr>
          <a:lstStyle/>
          <a:p>
            <a:pPr algn="l">
              <a:lnSpc>
                <a:spcPct val="120000"/>
              </a:lnSpc>
              <a:spcAft>
                <a:spcPts val="0"/>
              </a:spcAft>
            </a:pPr>
            <a:r>
              <a:rPr sz="1300" b="0" i="1">
                <a:solidFill>
                  <a:srgbClr val="5B6472"/>
                </a:solidFill>
                <a:latin typeface="Calibri"/>
              </a:rPr>
              <a:t>Bars are movements off the $812M FY25 base. Every block is a named, owned initiative — nothing in the build is unallocated growth.</a:t>
            </a:r>
          </a:p>
        </p:txBody>
      </p:sp>
      <p:pic>
        <p:nvPicPr>
          <p:cNvPr id="8" name="Picture 7" descr="r42_build.png"/>
          <p:cNvPicPr>
            <a:picLocks noChangeAspect="1"/>
          </p:cNvPicPr>
          <p:nvPr/>
        </p:nvPicPr>
        <p:blipFill>
          <a:blip r:embed="rId2"/>
          <a:stretch>
            <a:fillRect/>
          </a:stretch>
        </p:blipFill>
        <p:spPr>
          <a:xfrm>
            <a:off x="1623661" y="1743456"/>
            <a:ext cx="8944371" cy="3788664"/>
          </a:xfrm>
          <a:prstGeom prst="rect">
            <a:avLst/>
          </a:prstGeom>
        </p:spPr>
      </p:pic>
      <p:sp>
        <p:nvSpPr>
          <p:cNvPr id="9" name="TextBox 8"/>
          <p:cNvSpPr txBox="1"/>
          <p:nvPr/>
        </p:nvSpPr>
        <p:spPr>
          <a:xfrm>
            <a:off x="640080" y="5669280"/>
            <a:ext cx="10911535" cy="384048"/>
          </a:xfrm>
          <a:prstGeom prst="rect">
            <a:avLst/>
          </a:prstGeom>
          <a:noFill/>
        </p:spPr>
        <p:txBody>
          <a:bodyPr wrap="square" lIns="0" rIns="0" tIns="0" bIns="0">
            <a:spAutoFit/>
          </a:bodyPr>
          <a:lstStyle/>
          <a:p>
            <a:pPr algn="l">
              <a:lnSpc>
                <a:spcPct val="116000"/>
              </a:lnSpc>
              <a:spcAft>
                <a:spcPts val="0"/>
              </a:spcAft>
            </a:pPr>
            <a:r>
              <a:rPr sz="1050" b="0" i="0">
                <a:solidFill>
                  <a:srgbClr val="5B6472"/>
                </a:solidFill>
                <a:latin typeface="Calibri"/>
              </a:rPr>
              <a:t>Planning estimate. FY25 brand base from seeds/skus.csv; FY27 brand targets per the FY27 AOP (Report 14); adjacency and mix is the derived residual to $880M.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256032"/>
          </a:xfrm>
          <a:prstGeom prst="rect">
            <a:avLst/>
          </a:prstGeom>
          <a:noFill/>
        </p:spPr>
        <p:txBody>
          <a:bodyPr wrap="square" lIns="0" rIns="0" tIns="0" bIns="0">
            <a:spAutoFit/>
          </a:bodyPr>
          <a:lstStyle/>
          <a:p>
            <a:pPr algn="l">
              <a:lnSpc>
                <a:spcPct val="118000"/>
              </a:lnSpc>
              <a:spcAft>
                <a:spcPts val="0"/>
              </a:spcAft>
            </a:pPr>
            <a:r>
              <a:rPr sz="1000" b="1" i="0">
                <a:solidFill>
                  <a:srgbClr val="2E7D75"/>
                </a:solidFill>
                <a:latin typeface="Calibri"/>
              </a:rPr>
              <a:t>BRAND PLAN</a:t>
            </a:r>
          </a:p>
        </p:txBody>
      </p:sp>
      <p:sp>
        <p:nvSpPr>
          <p:cNvPr id="3" name="TextBox 2"/>
          <p:cNvSpPr txBox="1"/>
          <p:nvPr/>
        </p:nvSpPr>
        <p:spPr>
          <a:xfrm>
            <a:off x="640080" y="676656"/>
            <a:ext cx="10911535" cy="566928"/>
          </a:xfrm>
          <a:prstGeom prst="rect">
            <a:avLst/>
          </a:prstGeom>
          <a:noFill/>
        </p:spPr>
        <p:txBody>
          <a:bodyPr wrap="square" lIns="0" rIns="0" tIns="0" bIns="0">
            <a:spAutoFit/>
          </a:bodyPr>
          <a:lstStyle/>
          <a:p>
            <a:pPr algn="l">
              <a:lnSpc>
                <a:spcPct val="118000"/>
              </a:lnSpc>
              <a:spcAft>
                <a:spcPts val="0"/>
              </a:spcAft>
            </a:pPr>
            <a:r>
              <a:rPr sz="2500" b="1" i="0">
                <a:solidFill>
                  <a:srgbClr val="1F2A44"/>
                </a:solidFill>
                <a:latin typeface="Calibri"/>
              </a:rPr>
              <a:t>FY2027 by brand — the drag is deliberate</a:t>
            </a:r>
          </a:p>
        </p:txBody>
      </p:sp>
      <p:sp>
        <p:nvSpPr>
          <p:cNvPr id="4" name="Rectangle 3"/>
          <p:cNvSpPr/>
          <p:nvPr/>
        </p:nvSpPr>
        <p:spPr>
          <a:xfrm>
            <a:off x="640080" y="1243584"/>
            <a:ext cx="1005840" cy="22860"/>
          </a:xfrm>
          <a:prstGeom prst="rect">
            <a:avLst/>
          </a:prstGeom>
          <a:solidFill>
            <a:srgbClr val="2E7D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40080" y="6419088"/>
            <a:ext cx="8412480" cy="219456"/>
          </a:xfrm>
          <a:prstGeom prst="rect">
            <a:avLst/>
          </a:prstGeom>
          <a:noFill/>
        </p:spPr>
        <p:txBody>
          <a:bodyPr wrap="square" lIns="0" rIns="0" tIns="0" bIns="0">
            <a:spAutoFit/>
          </a:bodyPr>
          <a:lstStyle/>
          <a:p>
            <a:pPr algn="l">
              <a:lnSpc>
                <a:spcPct val="118000"/>
              </a:lnSpc>
              <a:spcAft>
                <a:spcPts val="0"/>
              </a:spcAft>
            </a:pPr>
            <a:r>
              <a:rPr sz="750" b="0" i="0">
                <a:solidFill>
                  <a:srgbClr val="5B6472"/>
                </a:solidFill>
                <a:latin typeface="Calibri"/>
              </a:rPr>
              <a:t>Internal · Confidential — Acme Corp synthetic demo data. Fictional; not for real decision-making.</a:t>
            </a:r>
          </a:p>
        </p:txBody>
      </p:sp>
      <p:sp>
        <p:nvSpPr>
          <p:cNvPr id="6" name="TextBox 5"/>
          <p:cNvSpPr txBox="1"/>
          <p:nvPr/>
        </p:nvSpPr>
        <p:spPr>
          <a:xfrm>
            <a:off x="10424160" y="6419088"/>
            <a:ext cx="1124712" cy="219456"/>
          </a:xfrm>
          <a:prstGeom prst="rect">
            <a:avLst/>
          </a:prstGeom>
          <a:noFill/>
        </p:spPr>
        <p:txBody>
          <a:bodyPr wrap="square" lIns="0" rIns="0" tIns="0" bIns="0">
            <a:spAutoFit/>
          </a:bodyPr>
          <a:lstStyle/>
          <a:p>
            <a:pPr algn="r">
              <a:lnSpc>
                <a:spcPct val="118000"/>
              </a:lnSpc>
              <a:spcAft>
                <a:spcPts val="0"/>
              </a:spcAft>
            </a:pPr>
            <a:r>
              <a:rPr sz="750" b="0" i="0">
                <a:solidFill>
                  <a:srgbClr val="5B6472"/>
                </a:solidFill>
                <a:latin typeface="Calibri"/>
              </a:rPr>
              <a:t>FY27 AOP pre-read  ·  4</a:t>
            </a:r>
          </a:p>
        </p:txBody>
      </p:sp>
      <p:graphicFrame>
        <p:nvGraphicFramePr>
          <p:cNvPr id="7" name="Table 6"/>
          <p:cNvGraphicFramePr>
            <a:graphicFrameLocks noGrp="1"/>
          </p:cNvGraphicFramePr>
          <p:nvPr/>
        </p:nvGraphicFramePr>
        <p:xfrm>
          <a:off x="640080" y="1417320"/>
          <a:ext cx="10911532" cy="3657600"/>
        </p:xfrm>
        <a:graphic>
          <a:graphicData uri="http://schemas.openxmlformats.org/drawingml/2006/table">
            <a:tbl>
              <a:tblPr firstRow="1" bandRow="1">
                <a:tableStyleId>{5C22544A-7EE6-4342-B048-85BDC9FD1C3A}</a:tableStyleId>
              </a:tblPr>
              <a:tblGrid>
                <a:gridCol w="1854960"/>
                <a:gridCol w="1745845"/>
                <a:gridCol w="1636730"/>
                <a:gridCol w="1418499"/>
                <a:gridCol w="4255498"/>
              </a:tblGrid>
              <a:tr h="457200">
                <a:tc>
                  <a:txBody>
                    <a:bodyPr/>
                    <a:lstStyle/>
                    <a:p>
                      <a:pPr algn="l"/>
                      <a:r>
                        <a:rPr sz="1000" b="1">
                          <a:solidFill>
                            <a:srgbClr val="FFFFFF"/>
                          </a:solidFill>
                          <a:latin typeface="Calibri"/>
                        </a:rPr>
                        <a:t>Brand</a:t>
                      </a:r>
                    </a:p>
                  </a:txBody>
                  <a:tcPr marL="64008" marR="64008" marT="27432" marB="27432" anchor="ctr">
                    <a:solidFill>
                      <a:srgbClr val="1F2A44"/>
                    </a:solidFill>
                  </a:tcPr>
                </a:tc>
                <a:tc>
                  <a:txBody>
                    <a:bodyPr/>
                    <a:lstStyle/>
                    <a:p>
                      <a:pPr algn="r"/>
                      <a:r>
                        <a:rPr sz="1000" b="1">
                          <a:solidFill>
                            <a:srgbClr val="FFFFFF"/>
                          </a:solidFill>
                          <a:latin typeface="Calibri"/>
                        </a:rPr>
                        <a:t>FY25 actual</a:t>
                      </a:r>
                    </a:p>
                  </a:txBody>
                  <a:tcPr marL="64008" marR="64008" marT="27432" marB="27432" anchor="ctr">
                    <a:solidFill>
                      <a:srgbClr val="1F2A44"/>
                    </a:solidFill>
                  </a:tcPr>
                </a:tc>
                <a:tc>
                  <a:txBody>
                    <a:bodyPr/>
                    <a:lstStyle/>
                    <a:p>
                      <a:pPr algn="r"/>
                      <a:r>
                        <a:rPr sz="1000" b="1">
                          <a:solidFill>
                            <a:srgbClr val="FFFFFF"/>
                          </a:solidFill>
                          <a:latin typeface="Calibri"/>
                        </a:rPr>
                        <a:t>FY27 target</a:t>
                      </a:r>
                    </a:p>
                  </a:txBody>
                  <a:tcPr marL="64008" marR="64008" marT="27432" marB="27432" anchor="ctr">
                    <a:solidFill>
                      <a:srgbClr val="1F2A44"/>
                    </a:solidFill>
                  </a:tcPr>
                </a:tc>
                <a:tc>
                  <a:txBody>
                    <a:bodyPr/>
                    <a:lstStyle/>
                    <a:p>
                      <a:pPr algn="r"/>
                      <a:r>
                        <a:rPr sz="1000" b="1">
                          <a:solidFill>
                            <a:srgbClr val="FFFFFF"/>
                          </a:solidFill>
                          <a:latin typeface="Calibri"/>
                        </a:rPr>
                        <a:t>Growth</a:t>
                      </a:r>
                    </a:p>
                  </a:txBody>
                  <a:tcPr marL="64008" marR="64008" marT="27432" marB="27432" anchor="ctr">
                    <a:solidFill>
                      <a:srgbClr val="1F2A44"/>
                    </a:solidFill>
                  </a:tcPr>
                </a:tc>
                <a:tc>
                  <a:txBody>
                    <a:bodyPr/>
                    <a:lstStyle/>
                    <a:p>
                      <a:pPr algn="r"/>
                      <a:r>
                        <a:rPr sz="1000" b="1">
                          <a:solidFill>
                            <a:srgbClr val="FFFFFF"/>
                          </a:solidFill>
                          <a:latin typeface="Calibri"/>
                        </a:rPr>
                        <a:t>What carries it</a:t>
                      </a:r>
                    </a:p>
                  </a:txBody>
                  <a:tcPr marL="64008" marR="64008" marT="27432" marB="27432" anchor="ctr">
                    <a:solidFill>
                      <a:srgbClr val="1F2A44"/>
                    </a:solidFill>
                  </a:tcPr>
                </a:tc>
              </a:tr>
              <a:tr h="457200">
                <a:tc>
                  <a:txBody>
                    <a:bodyPr/>
                    <a:lstStyle/>
                    <a:p>
                      <a:pPr algn="l"/>
                      <a:r>
                        <a:rPr sz="1050" b="0">
                          <a:solidFill>
                            <a:srgbClr val="2B2F38"/>
                          </a:solidFill>
                          <a:latin typeface="Calibri"/>
                        </a:rPr>
                        <a:t>Crunchwell</a:t>
                      </a:r>
                    </a:p>
                  </a:txBody>
                  <a:tcPr marL="64008" marR="64008" marT="18288" marB="18288" anchor="ctr">
                    <a:solidFill>
                      <a:srgbClr val="FFFFFF"/>
                    </a:solidFill>
                  </a:tcPr>
                </a:tc>
                <a:tc>
                  <a:txBody>
                    <a:bodyPr/>
                    <a:lstStyle/>
                    <a:p>
                      <a:pPr algn="r"/>
                      <a:r>
                        <a:rPr sz="1050" b="0">
                          <a:solidFill>
                            <a:srgbClr val="2B2F38"/>
                          </a:solidFill>
                          <a:latin typeface="Calibri"/>
                        </a:rPr>
                        <a:t>$312M</a:t>
                      </a:r>
                    </a:p>
                  </a:txBody>
                  <a:tcPr marL="64008" marR="64008" marT="18288" marB="18288" anchor="ctr">
                    <a:solidFill>
                      <a:srgbClr val="FFFFFF"/>
                    </a:solidFill>
                  </a:tcPr>
                </a:tc>
                <a:tc>
                  <a:txBody>
                    <a:bodyPr/>
                    <a:lstStyle/>
                    <a:p>
                      <a:pPr algn="r"/>
                      <a:r>
                        <a:rPr sz="1050" b="0">
                          <a:solidFill>
                            <a:srgbClr val="2B2F38"/>
                          </a:solidFill>
                          <a:latin typeface="Calibri"/>
                        </a:rPr>
                        <a:t>$318M</a:t>
                      </a:r>
                    </a:p>
                  </a:txBody>
                  <a:tcPr marL="64008" marR="64008" marT="18288" marB="18288" anchor="ctr">
                    <a:solidFill>
                      <a:srgbClr val="FFFFFF"/>
                    </a:solidFill>
                  </a:tcPr>
                </a:tc>
                <a:tc>
                  <a:txBody>
                    <a:bodyPr/>
                    <a:lstStyle/>
                    <a:p>
                      <a:pPr algn="r"/>
                      <a:r>
                        <a:rPr sz="1050" b="0">
                          <a:solidFill>
                            <a:srgbClr val="2B2F38"/>
                          </a:solidFill>
                          <a:latin typeface="Calibri"/>
                        </a:rPr>
                        <a:t>+2%</a:t>
                      </a:r>
                    </a:p>
                  </a:txBody>
                  <a:tcPr marL="64008" marR="64008" marT="18288" marB="18288" anchor="ctr">
                    <a:solidFill>
                      <a:srgbClr val="FFFFFF"/>
                    </a:solidFill>
                  </a:tcPr>
                </a:tc>
                <a:tc>
                  <a:txBody>
                    <a:bodyPr/>
                    <a:lstStyle/>
                    <a:p>
                      <a:pPr algn="r"/>
                      <a:r>
                        <a:rPr sz="1050" b="0">
                          <a:solidFill>
                            <a:srgbClr val="2B2F38"/>
                          </a:solidFill>
                          <a:latin typeface="Calibri"/>
                        </a:rPr>
                        <a:t>Pack Refresh + Louisiana recovery</a:t>
                      </a:r>
                    </a:p>
                  </a:txBody>
                  <a:tcPr marL="64008" marR="64008" marT="18288" marB="18288" anchor="ctr">
                    <a:solidFill>
                      <a:srgbClr val="FFFFFF"/>
                    </a:solidFill>
                  </a:tcPr>
                </a:tc>
              </a:tr>
              <a:tr h="457200">
                <a:tc>
                  <a:txBody>
                    <a:bodyPr/>
                    <a:lstStyle/>
                    <a:p>
                      <a:pPr algn="l"/>
                      <a:r>
                        <a:rPr sz="1050" b="0">
                          <a:solidFill>
                            <a:srgbClr val="2B2F38"/>
                          </a:solidFill>
                          <a:latin typeface="Calibri"/>
                        </a:rPr>
                        <a:t>TrailGrove</a:t>
                      </a:r>
                    </a:p>
                  </a:txBody>
                  <a:tcPr marL="64008" marR="64008" marT="18288" marB="18288" anchor="ctr">
                    <a:solidFill>
                      <a:srgbClr val="F5F7F9"/>
                    </a:solidFill>
                  </a:tcPr>
                </a:tc>
                <a:tc>
                  <a:txBody>
                    <a:bodyPr/>
                    <a:lstStyle/>
                    <a:p>
                      <a:pPr algn="r"/>
                      <a:r>
                        <a:rPr sz="1050" b="0">
                          <a:solidFill>
                            <a:srgbClr val="2B2F38"/>
                          </a:solidFill>
                          <a:latin typeface="Calibri"/>
                        </a:rPr>
                        <a:t>$152M</a:t>
                      </a:r>
                    </a:p>
                  </a:txBody>
                  <a:tcPr marL="64008" marR="64008" marT="18288" marB="18288" anchor="ctr">
                    <a:solidFill>
                      <a:srgbClr val="F5F7F9"/>
                    </a:solidFill>
                  </a:tcPr>
                </a:tc>
                <a:tc>
                  <a:txBody>
                    <a:bodyPr/>
                    <a:lstStyle/>
                    <a:p>
                      <a:pPr algn="r"/>
                      <a:r>
                        <a:rPr sz="1050" b="0">
                          <a:solidFill>
                            <a:srgbClr val="2B2F38"/>
                          </a:solidFill>
                          <a:latin typeface="Calibri"/>
                        </a:rPr>
                        <a:t>$162M</a:t>
                      </a:r>
                    </a:p>
                  </a:txBody>
                  <a:tcPr marL="64008" marR="64008" marT="18288" marB="18288" anchor="ctr">
                    <a:solidFill>
                      <a:srgbClr val="F5F7F9"/>
                    </a:solidFill>
                  </a:tcPr>
                </a:tc>
                <a:tc>
                  <a:txBody>
                    <a:bodyPr/>
                    <a:lstStyle/>
                    <a:p>
                      <a:pPr algn="r"/>
                      <a:r>
                        <a:rPr sz="1050" b="0">
                          <a:solidFill>
                            <a:srgbClr val="2B2F38"/>
                          </a:solidFill>
                          <a:latin typeface="Calibri"/>
                        </a:rPr>
                        <a:t>+7%</a:t>
                      </a:r>
                    </a:p>
                  </a:txBody>
                  <a:tcPr marL="64008" marR="64008" marT="18288" marB="18288" anchor="ctr">
                    <a:solidFill>
                      <a:srgbClr val="F5F7F9"/>
                    </a:solidFill>
                  </a:tcPr>
                </a:tc>
                <a:tc>
                  <a:txBody>
                    <a:bodyPr/>
                    <a:lstStyle/>
                    <a:p>
                      <a:pPr algn="r"/>
                      <a:r>
                        <a:rPr sz="1050" b="0">
                          <a:solidFill>
                            <a:srgbClr val="2B2F38"/>
                          </a:solidFill>
                          <a:latin typeface="Calibri"/>
                        </a:rPr>
                        <a:t>Granola and bar distribution build</a:t>
                      </a:r>
                    </a:p>
                  </a:txBody>
                  <a:tcPr marL="64008" marR="64008" marT="18288" marB="18288" anchor="ctr">
                    <a:solidFill>
                      <a:srgbClr val="F5F7F9"/>
                    </a:solidFill>
                  </a:tcPr>
                </a:tc>
              </a:tr>
              <a:tr h="457200">
                <a:tc>
                  <a:txBody>
                    <a:bodyPr/>
                    <a:lstStyle/>
                    <a:p>
                      <a:pPr algn="l"/>
                      <a:r>
                        <a:rPr sz="1050" b="0">
                          <a:solidFill>
                            <a:srgbClr val="2B2F38"/>
                          </a:solidFill>
                          <a:latin typeface="Calibri"/>
                        </a:rPr>
                        <a:t>ProteinPeak</a:t>
                      </a:r>
                    </a:p>
                  </a:txBody>
                  <a:tcPr marL="64008" marR="64008" marT="18288" marB="18288" anchor="ctr">
                    <a:solidFill>
                      <a:srgbClr val="FFFFFF"/>
                    </a:solidFill>
                  </a:tcPr>
                </a:tc>
                <a:tc>
                  <a:txBody>
                    <a:bodyPr/>
                    <a:lstStyle/>
                    <a:p>
                      <a:pPr algn="r"/>
                      <a:r>
                        <a:rPr sz="1050" b="0">
                          <a:solidFill>
                            <a:srgbClr val="2B2F38"/>
                          </a:solidFill>
                          <a:latin typeface="Calibri"/>
                        </a:rPr>
                        <a:t>$48M</a:t>
                      </a:r>
                    </a:p>
                  </a:txBody>
                  <a:tcPr marL="64008" marR="64008" marT="18288" marB="18288" anchor="ctr">
                    <a:solidFill>
                      <a:srgbClr val="FFFFFF"/>
                    </a:solidFill>
                  </a:tcPr>
                </a:tc>
                <a:tc>
                  <a:txBody>
                    <a:bodyPr/>
                    <a:lstStyle/>
                    <a:p>
                      <a:pPr algn="r"/>
                      <a:r>
                        <a:rPr sz="1050" b="0">
                          <a:solidFill>
                            <a:srgbClr val="2B2F38"/>
                          </a:solidFill>
                          <a:latin typeface="Calibri"/>
                        </a:rPr>
                        <a:t>$100M</a:t>
                      </a:r>
                    </a:p>
                  </a:txBody>
                  <a:tcPr marL="64008" marR="64008" marT="18288" marB="18288" anchor="ctr">
                    <a:solidFill>
                      <a:srgbClr val="FFFFFF"/>
                    </a:solidFill>
                  </a:tcPr>
                </a:tc>
                <a:tc>
                  <a:txBody>
                    <a:bodyPr/>
                    <a:lstStyle/>
                    <a:p>
                      <a:pPr algn="r"/>
                      <a:r>
                        <a:rPr sz="1050" b="0">
                          <a:solidFill>
                            <a:srgbClr val="2B2F38"/>
                          </a:solidFill>
                          <a:latin typeface="Calibri"/>
                        </a:rPr>
                        <a:t>+108%</a:t>
                      </a:r>
                    </a:p>
                  </a:txBody>
                  <a:tcPr marL="64008" marR="64008" marT="18288" marB="18288" anchor="ctr">
                    <a:solidFill>
                      <a:srgbClr val="FFFFFF"/>
                    </a:solidFill>
                  </a:tcPr>
                </a:tc>
                <a:tc>
                  <a:txBody>
                    <a:bodyPr/>
                    <a:lstStyle/>
                    <a:p>
                      <a:pPr algn="r"/>
                      <a:r>
                        <a:rPr sz="1050" b="0">
                          <a:solidFill>
                            <a:srgbClr val="2B2F38"/>
                          </a:solidFill>
                          <a:latin typeface="Calibri"/>
                        </a:rPr>
                        <a:t>Full-year PP005/PP006 + Chocolate Almond</a:t>
                      </a:r>
                    </a:p>
                  </a:txBody>
                  <a:tcPr marL="64008" marR="64008" marT="18288" marB="18288" anchor="ctr">
                    <a:solidFill>
                      <a:srgbClr val="FFFFFF"/>
                    </a:solidFill>
                  </a:tcPr>
                </a:tc>
              </a:tr>
              <a:tr h="457200">
                <a:tc>
                  <a:txBody>
                    <a:bodyPr/>
                    <a:lstStyle/>
                    <a:p>
                      <a:pPr algn="l"/>
                      <a:r>
                        <a:rPr sz="1050" b="0">
                          <a:solidFill>
                            <a:srgbClr val="2B2F38"/>
                          </a:solidFill>
                          <a:latin typeface="Calibri"/>
                        </a:rPr>
                        <a:t>MorningOats</a:t>
                      </a:r>
                    </a:p>
                  </a:txBody>
                  <a:tcPr marL="64008" marR="64008" marT="18288" marB="18288" anchor="ctr">
                    <a:solidFill>
                      <a:srgbClr val="F5F7F9"/>
                    </a:solidFill>
                  </a:tcPr>
                </a:tc>
                <a:tc>
                  <a:txBody>
                    <a:bodyPr/>
                    <a:lstStyle/>
                    <a:p>
                      <a:pPr algn="r"/>
                      <a:r>
                        <a:rPr sz="1050" b="0">
                          <a:solidFill>
                            <a:srgbClr val="2B2F38"/>
                          </a:solidFill>
                          <a:latin typeface="Calibri"/>
                        </a:rPr>
                        <a:t>$87M</a:t>
                      </a:r>
                    </a:p>
                  </a:txBody>
                  <a:tcPr marL="64008" marR="64008" marT="18288" marB="18288" anchor="ctr">
                    <a:solidFill>
                      <a:srgbClr val="F5F7F9"/>
                    </a:solidFill>
                  </a:tcPr>
                </a:tc>
                <a:tc>
                  <a:txBody>
                    <a:bodyPr/>
                    <a:lstStyle/>
                    <a:p>
                      <a:pPr algn="r"/>
                      <a:r>
                        <a:rPr sz="1050" b="0">
                          <a:solidFill>
                            <a:srgbClr val="2B2F38"/>
                          </a:solidFill>
                          <a:latin typeface="Calibri"/>
                        </a:rPr>
                        <a:t>$92M</a:t>
                      </a:r>
                    </a:p>
                  </a:txBody>
                  <a:tcPr marL="64008" marR="64008" marT="18288" marB="18288" anchor="ctr">
                    <a:solidFill>
                      <a:srgbClr val="F5F7F9"/>
                    </a:solidFill>
                  </a:tcPr>
                </a:tc>
                <a:tc>
                  <a:txBody>
                    <a:bodyPr/>
                    <a:lstStyle/>
                    <a:p>
                      <a:pPr algn="r"/>
                      <a:r>
                        <a:rPr sz="1050" b="0">
                          <a:solidFill>
                            <a:srgbClr val="2B2F38"/>
                          </a:solidFill>
                          <a:latin typeface="Calibri"/>
                        </a:rPr>
                        <a:t>+6%</a:t>
                      </a:r>
                    </a:p>
                  </a:txBody>
                  <a:tcPr marL="64008" marR="64008" marT="18288" marB="18288" anchor="ctr">
                    <a:solidFill>
                      <a:srgbClr val="F5F7F9"/>
                    </a:solidFill>
                  </a:tcPr>
                </a:tc>
                <a:tc>
                  <a:txBody>
                    <a:bodyPr/>
                    <a:lstStyle/>
                    <a:p>
                      <a:pPr algn="r"/>
                      <a:r>
                        <a:rPr sz="1050" b="0">
                          <a:solidFill>
                            <a:srgbClr val="2B2F38"/>
                          </a:solidFill>
                          <a:latin typeface="Calibri"/>
                        </a:rPr>
                        <a:t>Single-serve cups (+9.8% segment)</a:t>
                      </a:r>
                    </a:p>
                  </a:txBody>
                  <a:tcPr marL="64008" marR="64008" marT="18288" marB="18288" anchor="ctr">
                    <a:solidFill>
                      <a:srgbClr val="F5F7F9"/>
                    </a:solidFill>
                  </a:tcPr>
                </a:tc>
              </a:tr>
              <a:tr h="457200">
                <a:tc>
                  <a:txBody>
                    <a:bodyPr/>
                    <a:lstStyle/>
                    <a:p>
                      <a:pPr algn="l"/>
                      <a:r>
                        <a:rPr sz="1050" b="0">
                          <a:solidFill>
                            <a:srgbClr val="2B2F38"/>
                          </a:solidFill>
                          <a:latin typeface="Calibri"/>
                        </a:rPr>
                        <a:t>HoneyNest</a:t>
                      </a:r>
                    </a:p>
                  </a:txBody>
                  <a:tcPr marL="64008" marR="64008" marT="18288" marB="18288" anchor="ctr">
                    <a:solidFill>
                      <a:srgbClr val="FFFFFF"/>
                    </a:solidFill>
                  </a:tcPr>
                </a:tc>
                <a:tc>
                  <a:txBody>
                    <a:bodyPr/>
                    <a:lstStyle/>
                    <a:p>
                      <a:pPr algn="r"/>
                      <a:r>
                        <a:rPr sz="1050" b="0">
                          <a:solidFill>
                            <a:srgbClr val="2B2F38"/>
                          </a:solidFill>
                          <a:latin typeface="Calibri"/>
                        </a:rPr>
                        <a:t>$94M</a:t>
                      </a:r>
                    </a:p>
                  </a:txBody>
                  <a:tcPr marL="64008" marR="64008" marT="18288" marB="18288" anchor="ctr">
                    <a:solidFill>
                      <a:srgbClr val="FFFFFF"/>
                    </a:solidFill>
                  </a:tcPr>
                </a:tc>
                <a:tc>
                  <a:txBody>
                    <a:bodyPr/>
                    <a:lstStyle/>
                    <a:p>
                      <a:pPr algn="r"/>
                      <a:r>
                        <a:rPr sz="1050" b="0">
                          <a:solidFill>
                            <a:srgbClr val="2B2F38"/>
                          </a:solidFill>
                          <a:latin typeface="Calibri"/>
                        </a:rPr>
                        <a:t>$92M</a:t>
                      </a:r>
                    </a:p>
                  </a:txBody>
                  <a:tcPr marL="64008" marR="64008" marT="18288" marB="18288" anchor="ctr">
                    <a:solidFill>
                      <a:srgbClr val="FFFFFF"/>
                    </a:solidFill>
                  </a:tcPr>
                </a:tc>
                <a:tc>
                  <a:txBody>
                    <a:bodyPr/>
                    <a:lstStyle/>
                    <a:p>
                      <a:pPr algn="r"/>
                      <a:r>
                        <a:rPr sz="1050" b="0">
                          <a:solidFill>
                            <a:srgbClr val="2B2F38"/>
                          </a:solidFill>
                          <a:latin typeface="Calibri"/>
                        </a:rPr>
                        <a:t>-2%</a:t>
                      </a:r>
                    </a:p>
                  </a:txBody>
                  <a:tcPr marL="64008" marR="64008" marT="18288" marB="18288" anchor="ctr">
                    <a:solidFill>
                      <a:srgbClr val="FFFFFF"/>
                    </a:solidFill>
                  </a:tcPr>
                </a:tc>
                <a:tc>
                  <a:txBody>
                    <a:bodyPr/>
                    <a:lstStyle/>
                    <a:p>
                      <a:pPr algn="r"/>
                      <a:r>
                        <a:rPr sz="1050" b="0">
                          <a:solidFill>
                            <a:srgbClr val="2B2F38"/>
                          </a:solidFill>
                          <a:latin typeface="Calibri"/>
                        </a:rPr>
                        <a:t>Managed decline, Kids Sweet −2.8%</a:t>
                      </a:r>
                    </a:p>
                  </a:txBody>
                  <a:tcPr marL="64008" marR="64008" marT="18288" marB="18288" anchor="ctr">
                    <a:solidFill>
                      <a:srgbClr val="FFFFFF"/>
                    </a:solidFill>
                  </a:tcPr>
                </a:tc>
              </a:tr>
              <a:tr h="457200">
                <a:tc>
                  <a:txBody>
                    <a:bodyPr/>
                    <a:lstStyle/>
                    <a:p>
                      <a:pPr algn="l"/>
                      <a:r>
                        <a:rPr sz="1050" b="0">
                          <a:solidFill>
                            <a:srgbClr val="2B2F38"/>
                          </a:solidFill>
                          <a:latin typeface="Calibri"/>
                        </a:rPr>
                        <a:t>RootDay</a:t>
                      </a:r>
                    </a:p>
                  </a:txBody>
                  <a:tcPr marL="64008" marR="64008" marT="18288" marB="18288" anchor="ctr">
                    <a:solidFill>
                      <a:srgbClr val="F5F7F9"/>
                    </a:solidFill>
                  </a:tcPr>
                </a:tc>
                <a:tc>
                  <a:txBody>
                    <a:bodyPr/>
                    <a:lstStyle/>
                    <a:p>
                      <a:pPr algn="r"/>
                      <a:r>
                        <a:rPr sz="1050" b="0">
                          <a:solidFill>
                            <a:srgbClr val="2B2F38"/>
                          </a:solidFill>
                          <a:latin typeface="Calibri"/>
                        </a:rPr>
                        <a:t>$62M</a:t>
                      </a:r>
                    </a:p>
                  </a:txBody>
                  <a:tcPr marL="64008" marR="64008" marT="18288" marB="18288" anchor="ctr">
                    <a:solidFill>
                      <a:srgbClr val="F5F7F9"/>
                    </a:solidFill>
                  </a:tcPr>
                </a:tc>
                <a:tc>
                  <a:txBody>
                    <a:bodyPr/>
                    <a:lstStyle/>
                    <a:p>
                      <a:pPr algn="r"/>
                      <a:r>
                        <a:rPr sz="1050" b="0">
                          <a:solidFill>
                            <a:srgbClr val="2B2F38"/>
                          </a:solidFill>
                          <a:latin typeface="Calibri"/>
                        </a:rPr>
                        <a:t>$74M</a:t>
                      </a:r>
                    </a:p>
                  </a:txBody>
                  <a:tcPr marL="64008" marR="64008" marT="18288" marB="18288" anchor="ctr">
                    <a:solidFill>
                      <a:srgbClr val="F5F7F9"/>
                    </a:solidFill>
                  </a:tcPr>
                </a:tc>
                <a:tc>
                  <a:txBody>
                    <a:bodyPr/>
                    <a:lstStyle/>
                    <a:p>
                      <a:pPr algn="r"/>
                      <a:r>
                        <a:rPr sz="1050" b="0">
                          <a:solidFill>
                            <a:srgbClr val="2B2F38"/>
                          </a:solidFill>
                          <a:latin typeface="Calibri"/>
                        </a:rPr>
                        <a:t>+19%</a:t>
                      </a:r>
                    </a:p>
                  </a:txBody>
                  <a:tcPr marL="64008" marR="64008" marT="18288" marB="18288" anchor="ctr">
                    <a:solidFill>
                      <a:srgbClr val="F5F7F9"/>
                    </a:solidFill>
                  </a:tcPr>
                </a:tc>
                <a:tc>
                  <a:txBody>
                    <a:bodyPr/>
                    <a:lstStyle/>
                    <a:p>
                      <a:pPr algn="r"/>
                      <a:r>
                        <a:rPr sz="1050" b="0">
                          <a:solidFill>
                            <a:srgbClr val="2B2F38"/>
                          </a:solidFill>
                          <a:latin typeface="Calibri"/>
                        </a:rPr>
                        <a:t>Oat milk segment +18.8%</a:t>
                      </a:r>
                    </a:p>
                  </a:txBody>
                  <a:tcPr marL="64008" marR="64008" marT="18288" marB="18288" anchor="ctr">
                    <a:solidFill>
                      <a:srgbClr val="F5F7F9"/>
                    </a:solidFill>
                  </a:tcPr>
                </a:tc>
              </a:tr>
              <a:tr h="457200">
                <a:tc>
                  <a:txBody>
                    <a:bodyPr/>
                    <a:lstStyle/>
                    <a:p>
                      <a:pPr algn="l"/>
                      <a:r>
                        <a:rPr sz="1050" b="1">
                          <a:solidFill>
                            <a:srgbClr val="2B2F38"/>
                          </a:solidFill>
                          <a:latin typeface="Calibri"/>
                        </a:rPr>
                        <a:t>Six brands</a:t>
                      </a:r>
                    </a:p>
                  </a:txBody>
                  <a:tcPr marL="64008" marR="64008" marT="18288" marB="18288" anchor="ctr">
                    <a:solidFill>
                      <a:srgbClr val="EAEEF2"/>
                    </a:solidFill>
                  </a:tcPr>
                </a:tc>
                <a:tc>
                  <a:txBody>
                    <a:bodyPr/>
                    <a:lstStyle/>
                    <a:p>
                      <a:pPr algn="r"/>
                      <a:r>
                        <a:rPr sz="1050" b="1">
                          <a:solidFill>
                            <a:srgbClr val="2B2F38"/>
                          </a:solidFill>
                          <a:latin typeface="Calibri"/>
                        </a:rPr>
                        <a:t>$755M</a:t>
                      </a:r>
                    </a:p>
                  </a:txBody>
                  <a:tcPr marL="64008" marR="64008" marT="18288" marB="18288" anchor="ctr">
                    <a:solidFill>
                      <a:srgbClr val="EAEEF2"/>
                    </a:solidFill>
                  </a:tcPr>
                </a:tc>
                <a:tc>
                  <a:txBody>
                    <a:bodyPr/>
                    <a:lstStyle/>
                    <a:p>
                      <a:pPr algn="r"/>
                      <a:r>
                        <a:rPr sz="1050" b="1">
                          <a:solidFill>
                            <a:srgbClr val="2B2F38"/>
                          </a:solidFill>
                          <a:latin typeface="Calibri"/>
                        </a:rPr>
                        <a:t>$838M</a:t>
                      </a:r>
                    </a:p>
                  </a:txBody>
                  <a:tcPr marL="64008" marR="64008" marT="18288" marB="18288" anchor="ctr">
                    <a:solidFill>
                      <a:srgbClr val="EAEEF2"/>
                    </a:solidFill>
                  </a:tcPr>
                </a:tc>
                <a:tc>
                  <a:txBody>
                    <a:bodyPr/>
                    <a:lstStyle/>
                    <a:p>
                      <a:pPr algn="r"/>
                      <a:r>
                        <a:rPr sz="1050" b="1">
                          <a:solidFill>
                            <a:srgbClr val="2B2F38"/>
                          </a:solidFill>
                          <a:latin typeface="Calibri"/>
                        </a:rPr>
                        <a:t>+11%</a:t>
                      </a:r>
                    </a:p>
                  </a:txBody>
                  <a:tcPr marL="64008" marR="64008" marT="18288" marB="18288" anchor="ctr">
                    <a:solidFill>
                      <a:srgbClr val="EAEEF2"/>
                    </a:solidFill>
                  </a:tcPr>
                </a:tc>
                <a:tc>
                  <a:txBody>
                    <a:bodyPr/>
                    <a:lstStyle/>
                    <a:p>
                      <a:pPr algn="r"/>
                      <a:r>
                        <a:rPr sz="1050" b="1">
                          <a:solidFill>
                            <a:srgbClr val="2B2F38"/>
                          </a:solidFill>
                          <a:latin typeface="Calibri"/>
                        </a:rPr>
                        <a:t>+ adjacency to $880M</a:t>
                      </a:r>
                    </a:p>
                  </a:txBody>
                  <a:tcPr marL="64008" marR="64008" marT="18288" marB="18288" anchor="ctr">
                    <a:solidFill>
                      <a:srgbClr val="EAEEF2"/>
                    </a:solidFill>
                  </a:tcPr>
                </a:tc>
              </a:tr>
            </a:tbl>
          </a:graphicData>
        </a:graphic>
      </p:graphicFrame>
      <p:sp>
        <p:nvSpPr>
          <p:cNvPr id="8" name="TextBox 7"/>
          <p:cNvSpPr txBox="1"/>
          <p:nvPr/>
        </p:nvSpPr>
        <p:spPr>
          <a:xfrm>
            <a:off x="640080" y="5669280"/>
            <a:ext cx="10911535" cy="384048"/>
          </a:xfrm>
          <a:prstGeom prst="rect">
            <a:avLst/>
          </a:prstGeom>
          <a:noFill/>
        </p:spPr>
        <p:txBody>
          <a:bodyPr wrap="square" lIns="0" rIns="0" tIns="0" bIns="0">
            <a:spAutoFit/>
          </a:bodyPr>
          <a:lstStyle/>
          <a:p>
            <a:pPr algn="l">
              <a:lnSpc>
                <a:spcPct val="116000"/>
              </a:lnSpc>
              <a:spcAft>
                <a:spcPts val="0"/>
              </a:spcAft>
            </a:pPr>
            <a:r>
              <a:rPr sz="1050" b="0" i="0">
                <a:solidFill>
                  <a:srgbClr val="5B6472"/>
                </a:solidFill>
                <a:latin typeface="Calibri"/>
              </a:rPr>
              <a:t>FY25 from seeds/skus.csv; FY27 targets are the AOP brand build (Report 14). Brand total reconciles to $880M with non-brand and adjacency revenue.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256032"/>
          </a:xfrm>
          <a:prstGeom prst="rect">
            <a:avLst/>
          </a:prstGeom>
          <a:noFill/>
        </p:spPr>
        <p:txBody>
          <a:bodyPr wrap="square" lIns="0" rIns="0" tIns="0" bIns="0">
            <a:spAutoFit/>
          </a:bodyPr>
          <a:lstStyle/>
          <a:p>
            <a:pPr algn="l">
              <a:lnSpc>
                <a:spcPct val="118000"/>
              </a:lnSpc>
              <a:spcAft>
                <a:spcPts val="0"/>
              </a:spcAft>
            </a:pPr>
            <a:r>
              <a:rPr sz="1000" b="1" i="0">
                <a:solidFill>
                  <a:srgbClr val="2E7D75"/>
                </a:solidFill>
                <a:latin typeface="Calibri"/>
              </a:rPr>
              <a:t>MARGIN</a:t>
            </a:r>
          </a:p>
        </p:txBody>
      </p:sp>
      <p:sp>
        <p:nvSpPr>
          <p:cNvPr id="3" name="TextBox 2"/>
          <p:cNvSpPr txBox="1"/>
          <p:nvPr/>
        </p:nvSpPr>
        <p:spPr>
          <a:xfrm>
            <a:off x="640080" y="676656"/>
            <a:ext cx="10911535" cy="566928"/>
          </a:xfrm>
          <a:prstGeom prst="rect">
            <a:avLst/>
          </a:prstGeom>
          <a:noFill/>
        </p:spPr>
        <p:txBody>
          <a:bodyPr wrap="square" lIns="0" rIns="0" tIns="0" bIns="0">
            <a:spAutoFit/>
          </a:bodyPr>
          <a:lstStyle/>
          <a:p>
            <a:pPr algn="l">
              <a:lnSpc>
                <a:spcPct val="118000"/>
              </a:lnSpc>
              <a:spcAft>
                <a:spcPts val="0"/>
              </a:spcAft>
            </a:pPr>
            <a:r>
              <a:rPr sz="2500" b="1" i="0">
                <a:solidFill>
                  <a:srgbClr val="1F2A44"/>
                </a:solidFill>
                <a:latin typeface="Calibri"/>
              </a:rPr>
              <a:t>The margin comes out of trade, not out of A&amp;P</a:t>
            </a:r>
          </a:p>
        </p:txBody>
      </p:sp>
      <p:sp>
        <p:nvSpPr>
          <p:cNvPr id="4" name="Rectangle 3"/>
          <p:cNvSpPr/>
          <p:nvPr/>
        </p:nvSpPr>
        <p:spPr>
          <a:xfrm>
            <a:off x="640080" y="1243584"/>
            <a:ext cx="1005840" cy="22860"/>
          </a:xfrm>
          <a:prstGeom prst="rect">
            <a:avLst/>
          </a:prstGeom>
          <a:solidFill>
            <a:srgbClr val="2E7D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40080" y="6419088"/>
            <a:ext cx="8412480" cy="219456"/>
          </a:xfrm>
          <a:prstGeom prst="rect">
            <a:avLst/>
          </a:prstGeom>
          <a:noFill/>
        </p:spPr>
        <p:txBody>
          <a:bodyPr wrap="square" lIns="0" rIns="0" tIns="0" bIns="0">
            <a:spAutoFit/>
          </a:bodyPr>
          <a:lstStyle/>
          <a:p>
            <a:pPr algn="l">
              <a:lnSpc>
                <a:spcPct val="118000"/>
              </a:lnSpc>
              <a:spcAft>
                <a:spcPts val="0"/>
              </a:spcAft>
            </a:pPr>
            <a:r>
              <a:rPr sz="750" b="0" i="0">
                <a:solidFill>
                  <a:srgbClr val="5B6472"/>
                </a:solidFill>
                <a:latin typeface="Calibri"/>
              </a:rPr>
              <a:t>Internal · Confidential — Acme Corp synthetic demo data. Fictional; not for real decision-making.</a:t>
            </a:r>
          </a:p>
        </p:txBody>
      </p:sp>
      <p:sp>
        <p:nvSpPr>
          <p:cNvPr id="6" name="TextBox 5"/>
          <p:cNvSpPr txBox="1"/>
          <p:nvPr/>
        </p:nvSpPr>
        <p:spPr>
          <a:xfrm>
            <a:off x="10424160" y="6419088"/>
            <a:ext cx="1124712" cy="219456"/>
          </a:xfrm>
          <a:prstGeom prst="rect">
            <a:avLst/>
          </a:prstGeom>
          <a:noFill/>
        </p:spPr>
        <p:txBody>
          <a:bodyPr wrap="square" lIns="0" rIns="0" tIns="0" bIns="0">
            <a:spAutoFit/>
          </a:bodyPr>
          <a:lstStyle/>
          <a:p>
            <a:pPr algn="r">
              <a:lnSpc>
                <a:spcPct val="118000"/>
              </a:lnSpc>
              <a:spcAft>
                <a:spcPts val="0"/>
              </a:spcAft>
            </a:pPr>
            <a:r>
              <a:rPr sz="750" b="0" i="0">
                <a:solidFill>
                  <a:srgbClr val="5B6472"/>
                </a:solidFill>
                <a:latin typeface="Calibri"/>
              </a:rPr>
              <a:t>FY27 AOP pre-read  ·  5</a:t>
            </a:r>
          </a:p>
        </p:txBody>
      </p:sp>
      <p:pic>
        <p:nvPicPr>
          <p:cNvPr id="7" name="Picture 6" descr="r42_trade.png"/>
          <p:cNvPicPr>
            <a:picLocks noChangeAspect="1"/>
          </p:cNvPicPr>
          <p:nvPr/>
        </p:nvPicPr>
        <p:blipFill>
          <a:blip r:embed="rId2"/>
          <a:stretch>
            <a:fillRect/>
          </a:stretch>
        </p:blipFill>
        <p:spPr>
          <a:xfrm>
            <a:off x="640080" y="2187532"/>
            <a:ext cx="6492240" cy="2409783"/>
          </a:xfrm>
          <a:prstGeom prst="rect">
            <a:avLst/>
          </a:prstGeom>
        </p:spPr>
      </p:pic>
      <p:sp>
        <p:nvSpPr>
          <p:cNvPr id="8" name="TextBox 7"/>
          <p:cNvSpPr txBox="1"/>
          <p:nvPr/>
        </p:nvSpPr>
        <p:spPr>
          <a:xfrm>
            <a:off x="7360920" y="1472184"/>
            <a:ext cx="4206240" cy="4581144"/>
          </a:xfrm>
          <a:prstGeom prst="rect">
            <a:avLst/>
          </a:prstGeom>
          <a:noFill/>
        </p:spPr>
        <p:txBody>
          <a:bodyPr wrap="square" lIns="0" rIns="0" tIns="0" bIns="0">
            <a:spAutoFit/>
          </a:bodyPr>
          <a:lstStyle/>
          <a:p>
            <a:pPr>
              <a:lnSpc>
                <a:spcPct val="120000"/>
              </a:lnSpc>
              <a:spcAft>
                <a:spcPts val="713"/>
              </a:spcAft>
            </a:pPr>
            <a:r>
              <a:rPr sz="1150" b="1">
                <a:solidFill>
                  <a:srgbClr val="2E7D75"/>
                </a:solidFill>
                <a:latin typeface="Calibri"/>
              </a:rPr>
              <a:t>—  </a:t>
            </a:r>
            <a:r>
              <a:rPr sz="1150" b="1" i="0">
                <a:solidFill>
                  <a:srgbClr val="2B2F38"/>
                </a:solidFill>
                <a:latin typeface="Calibri"/>
              </a:rPr>
              <a:t>$147M of trade spend</a:t>
            </a:r>
            <a:r>
              <a:rPr sz="1150" b="0" i="0">
                <a:solidFill>
                  <a:srgbClr val="2B2F38"/>
                </a:solidFill>
                <a:latin typeface="Calibri"/>
              </a:rPr>
              <a:t> in FY25 at a portfolio incrementality index of 0.51. Every 0.01 of index is real money.</a:t>
            </a:r>
          </a:p>
          <a:p>
            <a:pPr>
              <a:lnSpc>
                <a:spcPct val="120000"/>
              </a:lnSpc>
              <a:spcAft>
                <a:spcPts val="713"/>
              </a:spcAft>
            </a:pPr>
            <a:r>
              <a:rPr sz="1150" b="1">
                <a:solidFill>
                  <a:srgbClr val="2E7D75"/>
                </a:solidFill>
                <a:latin typeface="Calibri"/>
              </a:rPr>
              <a:t>—  </a:t>
            </a:r>
            <a:r>
              <a:rPr sz="1150" b="1" i="0">
                <a:solidFill>
                  <a:srgbClr val="2B2F38"/>
                </a:solidFill>
                <a:latin typeface="Calibri"/>
              </a:rPr>
              <a:t>Crunchwell alone is $92.4M</a:t>
            </a:r>
            <a:r>
              <a:rPr sz="1150" b="0" i="0">
                <a:solidFill>
                  <a:srgbClr val="2B2F38"/>
                </a:solidFill>
                <a:latin typeface="Calibri"/>
              </a:rPr>
              <a:t> at 24.4% average depth — the heaviest promoted line in the house.</a:t>
            </a:r>
          </a:p>
          <a:p>
            <a:pPr>
              <a:lnSpc>
                <a:spcPct val="120000"/>
              </a:lnSpc>
              <a:spcAft>
                <a:spcPts val="713"/>
              </a:spcAft>
            </a:pPr>
            <a:r>
              <a:rPr sz="1150" b="1">
                <a:solidFill>
                  <a:srgbClr val="2E7D75"/>
                </a:solidFill>
                <a:latin typeface="Calibri"/>
              </a:rPr>
              <a:t>—  </a:t>
            </a:r>
            <a:r>
              <a:rPr sz="1150" b="1" i="0">
                <a:solidFill>
                  <a:srgbClr val="2B2F38"/>
                </a:solidFill>
                <a:latin typeface="Calibri"/>
              </a:rPr>
              <a:t>FY27 assumption:</a:t>
            </a:r>
            <a:r>
              <a:rPr sz="1150" b="0" i="0">
                <a:solidFill>
                  <a:srgbClr val="2B2F38"/>
                </a:solidFill>
                <a:latin typeface="Calibri"/>
              </a:rPr>
              <a:t> portfolio index 0.52 → 0.60 through fewer, deeper, better-timed events. Worth roughly 60 bps of EBITDA.</a:t>
            </a:r>
          </a:p>
          <a:p>
            <a:pPr>
              <a:lnSpc>
                <a:spcPct val="120000"/>
              </a:lnSpc>
              <a:spcAft>
                <a:spcPts val="713"/>
              </a:spcAft>
            </a:pPr>
            <a:r>
              <a:rPr sz="1150" b="1">
                <a:solidFill>
                  <a:srgbClr val="2E7D75"/>
                </a:solidFill>
                <a:latin typeface="Calibri"/>
              </a:rPr>
              <a:t>—  </a:t>
            </a:r>
            <a:r>
              <a:rPr sz="1150" b="1" i="0">
                <a:solidFill>
                  <a:srgbClr val="2B2F38"/>
                </a:solidFill>
                <a:latin typeface="Calibri"/>
              </a:rPr>
              <a:t>A&amp;P holds</a:t>
            </a:r>
            <a:r>
              <a:rPr sz="1150" b="0" i="0">
                <a:solidFill>
                  <a:srgbClr val="2B2F38"/>
                </a:solidFill>
                <a:latin typeface="Calibri"/>
              </a:rPr>
              <a:t> in absolute dollars and shifts mix toward retail media and creator, per the media effectiveness read (Report 55).</a:t>
            </a:r>
          </a:p>
        </p:txBody>
      </p:sp>
      <p:sp>
        <p:nvSpPr>
          <p:cNvPr id="9" name="TextBox 8"/>
          <p:cNvSpPr txBox="1"/>
          <p:nvPr/>
        </p:nvSpPr>
        <p:spPr>
          <a:xfrm>
            <a:off x="640080" y="5669280"/>
            <a:ext cx="10911535" cy="384048"/>
          </a:xfrm>
          <a:prstGeom prst="rect">
            <a:avLst/>
          </a:prstGeom>
          <a:noFill/>
        </p:spPr>
        <p:txBody>
          <a:bodyPr wrap="square" lIns="0" rIns="0" tIns="0" bIns="0">
            <a:spAutoFit/>
          </a:bodyPr>
          <a:lstStyle/>
          <a:p>
            <a:pPr algn="l">
              <a:lnSpc>
                <a:spcPct val="116000"/>
              </a:lnSpc>
              <a:spcAft>
                <a:spcPts val="0"/>
              </a:spcAft>
            </a:pPr>
            <a:r>
              <a:rPr sz="1050" b="0" i="0">
                <a:solidFill>
                  <a:srgbClr val="5B6472"/>
                </a:solidFill>
                <a:latin typeface="Calibri"/>
              </a:rPr>
              <a:t>Source: seed_trade_spend_fy25, seed_trade_promo_events_q1_2026.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256032"/>
          </a:xfrm>
          <a:prstGeom prst="rect">
            <a:avLst/>
          </a:prstGeom>
          <a:noFill/>
        </p:spPr>
        <p:txBody>
          <a:bodyPr wrap="square" lIns="0" rIns="0" tIns="0" bIns="0">
            <a:spAutoFit/>
          </a:bodyPr>
          <a:lstStyle/>
          <a:p>
            <a:pPr algn="l">
              <a:lnSpc>
                <a:spcPct val="118000"/>
              </a:lnSpc>
              <a:spcAft>
                <a:spcPts val="0"/>
              </a:spcAft>
            </a:pPr>
            <a:r>
              <a:rPr sz="1000" b="1" i="0">
                <a:solidFill>
                  <a:srgbClr val="2E7D75"/>
                </a:solidFill>
                <a:latin typeface="Calibri"/>
              </a:rPr>
              <a:t>ASSUMPTIONS</a:t>
            </a:r>
          </a:p>
        </p:txBody>
      </p:sp>
      <p:sp>
        <p:nvSpPr>
          <p:cNvPr id="3" name="TextBox 2"/>
          <p:cNvSpPr txBox="1"/>
          <p:nvPr/>
        </p:nvSpPr>
        <p:spPr>
          <a:xfrm>
            <a:off x="640080" y="676656"/>
            <a:ext cx="10911535" cy="566928"/>
          </a:xfrm>
          <a:prstGeom prst="rect">
            <a:avLst/>
          </a:prstGeom>
          <a:noFill/>
        </p:spPr>
        <p:txBody>
          <a:bodyPr wrap="square" lIns="0" rIns="0" tIns="0" bIns="0">
            <a:spAutoFit/>
          </a:bodyPr>
          <a:lstStyle/>
          <a:p>
            <a:pPr algn="l">
              <a:lnSpc>
                <a:spcPct val="118000"/>
              </a:lnSpc>
              <a:spcAft>
                <a:spcPts val="0"/>
              </a:spcAft>
            </a:pPr>
            <a:r>
              <a:rPr sz="2500" b="1" i="0">
                <a:solidFill>
                  <a:srgbClr val="1F2A44"/>
                </a:solidFill>
                <a:latin typeface="Calibri"/>
              </a:rPr>
              <a:t>What has to be true</a:t>
            </a:r>
          </a:p>
        </p:txBody>
      </p:sp>
      <p:sp>
        <p:nvSpPr>
          <p:cNvPr id="4" name="Rectangle 3"/>
          <p:cNvSpPr/>
          <p:nvPr/>
        </p:nvSpPr>
        <p:spPr>
          <a:xfrm>
            <a:off x="640080" y="1243584"/>
            <a:ext cx="1005840" cy="22860"/>
          </a:xfrm>
          <a:prstGeom prst="rect">
            <a:avLst/>
          </a:prstGeom>
          <a:solidFill>
            <a:srgbClr val="2E7D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40080" y="6419088"/>
            <a:ext cx="8412480" cy="219456"/>
          </a:xfrm>
          <a:prstGeom prst="rect">
            <a:avLst/>
          </a:prstGeom>
          <a:noFill/>
        </p:spPr>
        <p:txBody>
          <a:bodyPr wrap="square" lIns="0" rIns="0" tIns="0" bIns="0">
            <a:spAutoFit/>
          </a:bodyPr>
          <a:lstStyle/>
          <a:p>
            <a:pPr algn="l">
              <a:lnSpc>
                <a:spcPct val="118000"/>
              </a:lnSpc>
              <a:spcAft>
                <a:spcPts val="0"/>
              </a:spcAft>
            </a:pPr>
            <a:r>
              <a:rPr sz="750" b="0" i="0">
                <a:solidFill>
                  <a:srgbClr val="5B6472"/>
                </a:solidFill>
                <a:latin typeface="Calibri"/>
              </a:rPr>
              <a:t>Internal · Confidential — Acme Corp synthetic demo data. Fictional; not for real decision-making.</a:t>
            </a:r>
          </a:p>
        </p:txBody>
      </p:sp>
      <p:sp>
        <p:nvSpPr>
          <p:cNvPr id="6" name="TextBox 5"/>
          <p:cNvSpPr txBox="1"/>
          <p:nvPr/>
        </p:nvSpPr>
        <p:spPr>
          <a:xfrm>
            <a:off x="10424160" y="6419088"/>
            <a:ext cx="1124712" cy="219456"/>
          </a:xfrm>
          <a:prstGeom prst="rect">
            <a:avLst/>
          </a:prstGeom>
          <a:noFill/>
        </p:spPr>
        <p:txBody>
          <a:bodyPr wrap="square" lIns="0" rIns="0" tIns="0" bIns="0">
            <a:spAutoFit/>
          </a:bodyPr>
          <a:lstStyle/>
          <a:p>
            <a:pPr algn="r">
              <a:lnSpc>
                <a:spcPct val="118000"/>
              </a:lnSpc>
              <a:spcAft>
                <a:spcPts val="0"/>
              </a:spcAft>
            </a:pPr>
            <a:r>
              <a:rPr sz="750" b="0" i="0">
                <a:solidFill>
                  <a:srgbClr val="5B6472"/>
                </a:solidFill>
                <a:latin typeface="Calibri"/>
              </a:rPr>
              <a:t>FY27 AOP pre-read  ·  6</a:t>
            </a:r>
          </a:p>
        </p:txBody>
      </p:sp>
      <p:sp>
        <p:nvSpPr>
          <p:cNvPr id="7" name="Rectangle 6"/>
          <p:cNvSpPr/>
          <p:nvPr/>
        </p:nvSpPr>
        <p:spPr>
          <a:xfrm>
            <a:off x="640080" y="1417320"/>
            <a:ext cx="5349240" cy="402336"/>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86384" y="1517904"/>
            <a:ext cx="5074920" cy="274320"/>
          </a:xfrm>
          <a:prstGeom prst="rect">
            <a:avLst/>
          </a:prstGeom>
          <a:noFill/>
        </p:spPr>
        <p:txBody>
          <a:bodyPr wrap="square" lIns="0" rIns="0" tIns="0" bIns="0">
            <a:spAutoFit/>
          </a:bodyPr>
          <a:lstStyle/>
          <a:p>
            <a:pPr algn="l">
              <a:lnSpc>
                <a:spcPct val="118000"/>
              </a:lnSpc>
              <a:spcAft>
                <a:spcPts val="0"/>
              </a:spcAft>
            </a:pPr>
            <a:r>
              <a:rPr sz="1150" b="1" i="0">
                <a:solidFill>
                  <a:srgbClr val="FFFFFF"/>
                </a:solidFill>
                <a:latin typeface="Calibri"/>
              </a:rPr>
              <a:t>OPERATING ASSUMPTIONS</a:t>
            </a:r>
          </a:p>
        </p:txBody>
      </p:sp>
      <p:sp>
        <p:nvSpPr>
          <p:cNvPr id="9" name="TextBox 8"/>
          <p:cNvSpPr txBox="1"/>
          <p:nvPr/>
        </p:nvSpPr>
        <p:spPr>
          <a:xfrm>
            <a:off x="676656" y="1984248"/>
            <a:ext cx="5257800" cy="4069080"/>
          </a:xfrm>
          <a:prstGeom prst="rect">
            <a:avLst/>
          </a:prstGeom>
          <a:noFill/>
        </p:spPr>
        <p:txBody>
          <a:bodyPr wrap="square" lIns="0" rIns="0" tIns="0" bIns="0">
            <a:spAutoFit/>
          </a:bodyPr>
          <a:lstStyle/>
          <a:p>
            <a:pPr>
              <a:lnSpc>
                <a:spcPct val="120000"/>
              </a:lnSpc>
              <a:spcAft>
                <a:spcPts val="744"/>
              </a:spcAft>
            </a:pPr>
            <a:r>
              <a:rPr sz="1200" b="1">
                <a:solidFill>
                  <a:srgbClr val="2E7D75"/>
                </a:solidFill>
                <a:latin typeface="Calibri"/>
              </a:rPr>
              <a:t>—  </a:t>
            </a:r>
            <a:r>
              <a:rPr sz="1200" b="0" i="0">
                <a:solidFill>
                  <a:srgbClr val="2B2F38"/>
                </a:solidFill>
                <a:latin typeface="Calibri"/>
              </a:rPr>
              <a:t>Fill rate holds at ~95% and OTIF at ~90% — no repeat of the Nov 2025 storm impact.</a:t>
            </a:r>
          </a:p>
          <a:p>
            <a:pPr>
              <a:lnSpc>
                <a:spcPct val="120000"/>
              </a:lnSpc>
              <a:spcAft>
                <a:spcPts val="744"/>
              </a:spcAft>
            </a:pPr>
            <a:r>
              <a:rPr sz="1200" b="1">
                <a:solidFill>
                  <a:srgbClr val="2E7D75"/>
                </a:solidFill>
                <a:latin typeface="Calibri"/>
              </a:rPr>
              <a:t>—  </a:t>
            </a:r>
            <a:r>
              <a:rPr sz="1200" b="0" i="0">
                <a:solidFill>
                  <a:srgbClr val="2B2F38"/>
                </a:solidFill>
                <a:latin typeface="Calibri"/>
              </a:rPr>
              <a:t>Pack Refresh ships Aug 15 2026 and is fully distributed by Q4.</a:t>
            </a:r>
          </a:p>
          <a:p>
            <a:pPr>
              <a:lnSpc>
                <a:spcPct val="120000"/>
              </a:lnSpc>
              <a:spcAft>
                <a:spcPts val="744"/>
              </a:spcAft>
            </a:pPr>
            <a:r>
              <a:rPr sz="1200" b="1">
                <a:solidFill>
                  <a:srgbClr val="2E7D75"/>
                </a:solidFill>
                <a:latin typeface="Calibri"/>
              </a:rPr>
              <a:t>—  </a:t>
            </a:r>
            <a:r>
              <a:rPr sz="1200" b="0" i="0">
                <a:solidFill>
                  <a:srgbClr val="2B2F38"/>
                </a:solidFill>
                <a:latin typeface="Calibri"/>
              </a:rPr>
              <a:t>Wellness Protein segment growth stays in the mid-teens.</a:t>
            </a:r>
          </a:p>
          <a:p>
            <a:pPr>
              <a:lnSpc>
                <a:spcPct val="120000"/>
              </a:lnSpc>
              <a:spcAft>
                <a:spcPts val="744"/>
              </a:spcAft>
            </a:pPr>
            <a:r>
              <a:rPr sz="1200" b="1">
                <a:solidFill>
                  <a:srgbClr val="2E7D75"/>
                </a:solidFill>
                <a:latin typeface="Calibri"/>
              </a:rPr>
              <a:t>—  </a:t>
            </a:r>
            <a:r>
              <a:rPr sz="1200" b="0" i="0">
                <a:solidFill>
                  <a:srgbClr val="2B2F38"/>
                </a:solidFill>
                <a:latin typeface="Calibri"/>
              </a:rPr>
              <a:t>No incremental list-price increase in FY27; mix and pack architecture only.</a:t>
            </a:r>
          </a:p>
          <a:p>
            <a:pPr>
              <a:lnSpc>
                <a:spcPct val="120000"/>
              </a:lnSpc>
              <a:spcAft>
                <a:spcPts val="744"/>
              </a:spcAft>
            </a:pPr>
            <a:r>
              <a:rPr sz="1200" b="1">
                <a:solidFill>
                  <a:srgbClr val="2E7D75"/>
                </a:solidFill>
                <a:latin typeface="Calibri"/>
              </a:rPr>
              <a:t>—  </a:t>
            </a:r>
            <a:r>
              <a:rPr sz="1200" b="0" i="0">
                <a:solidFill>
                  <a:srgbClr val="2B2F38"/>
                </a:solidFill>
                <a:latin typeface="Calibri"/>
              </a:rPr>
              <a:t>Trade calendar rebuilt to 0.60 incrementality without volume loss.</a:t>
            </a:r>
          </a:p>
        </p:txBody>
      </p:sp>
      <p:sp>
        <p:nvSpPr>
          <p:cNvPr id="10" name="Rectangle 9"/>
          <p:cNvSpPr/>
          <p:nvPr/>
        </p:nvSpPr>
        <p:spPr>
          <a:xfrm>
            <a:off x="6208776" y="1417320"/>
            <a:ext cx="5349240" cy="402336"/>
          </a:xfrm>
          <a:prstGeom prst="rect">
            <a:avLst/>
          </a:prstGeom>
          <a:solidFill>
            <a:srgbClr val="5B64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355080" y="1517904"/>
            <a:ext cx="5074920" cy="274320"/>
          </a:xfrm>
          <a:prstGeom prst="rect">
            <a:avLst/>
          </a:prstGeom>
          <a:noFill/>
        </p:spPr>
        <p:txBody>
          <a:bodyPr wrap="square" lIns="0" rIns="0" tIns="0" bIns="0">
            <a:spAutoFit/>
          </a:bodyPr>
          <a:lstStyle/>
          <a:p>
            <a:pPr algn="l">
              <a:lnSpc>
                <a:spcPct val="118000"/>
              </a:lnSpc>
              <a:spcAft>
                <a:spcPts val="0"/>
              </a:spcAft>
            </a:pPr>
            <a:r>
              <a:rPr sz="1150" b="1" i="0">
                <a:solidFill>
                  <a:srgbClr val="FFFFFF"/>
                </a:solidFill>
                <a:latin typeface="Calibri"/>
              </a:rPr>
              <a:t>SENSITIVITIES (FY27 REVENUE)</a:t>
            </a:r>
          </a:p>
        </p:txBody>
      </p:sp>
      <p:sp>
        <p:nvSpPr>
          <p:cNvPr id="12" name="TextBox 11"/>
          <p:cNvSpPr txBox="1"/>
          <p:nvPr/>
        </p:nvSpPr>
        <p:spPr>
          <a:xfrm>
            <a:off x="6245352" y="1984248"/>
            <a:ext cx="5257800" cy="4069080"/>
          </a:xfrm>
          <a:prstGeom prst="rect">
            <a:avLst/>
          </a:prstGeom>
          <a:noFill/>
        </p:spPr>
        <p:txBody>
          <a:bodyPr wrap="square" lIns="0" rIns="0" tIns="0" bIns="0">
            <a:spAutoFit/>
          </a:bodyPr>
          <a:lstStyle/>
          <a:p>
            <a:pPr>
              <a:lnSpc>
                <a:spcPct val="120000"/>
              </a:lnSpc>
              <a:spcAft>
                <a:spcPts val="744"/>
              </a:spcAft>
            </a:pPr>
            <a:r>
              <a:rPr sz="1200" b="1">
                <a:solidFill>
                  <a:srgbClr val="2E7D75"/>
                </a:solidFill>
                <a:latin typeface="Calibri"/>
              </a:rPr>
              <a:t>—  </a:t>
            </a:r>
            <a:r>
              <a:rPr sz="1200" b="0" i="0">
                <a:solidFill>
                  <a:srgbClr val="2B2F38"/>
                </a:solidFill>
                <a:latin typeface="Calibri"/>
              </a:rPr>
              <a:t>Pack Refresh slips one quarter: −$7M.</a:t>
            </a:r>
          </a:p>
          <a:p>
            <a:pPr>
              <a:lnSpc>
                <a:spcPct val="120000"/>
              </a:lnSpc>
              <a:spcAft>
                <a:spcPts val="744"/>
              </a:spcAft>
            </a:pPr>
            <a:r>
              <a:rPr sz="1200" b="1">
                <a:solidFill>
                  <a:srgbClr val="2E7D75"/>
                </a:solidFill>
                <a:latin typeface="Calibri"/>
              </a:rPr>
              <a:t>—  </a:t>
            </a:r>
            <a:r>
              <a:rPr sz="1200" b="0" i="0">
                <a:solidFill>
                  <a:srgbClr val="2B2F38"/>
                </a:solidFill>
                <a:latin typeface="Calibri"/>
              </a:rPr>
              <a:t>Wellness Protein growth halves to +9%: −$12M on ProteinPeak.</a:t>
            </a:r>
          </a:p>
          <a:p>
            <a:pPr>
              <a:lnSpc>
                <a:spcPct val="120000"/>
              </a:lnSpc>
              <a:spcAft>
                <a:spcPts val="744"/>
              </a:spcAft>
            </a:pPr>
            <a:r>
              <a:rPr sz="1200" b="1">
                <a:solidFill>
                  <a:srgbClr val="2E7D75"/>
                </a:solidFill>
                <a:latin typeface="Calibri"/>
              </a:rPr>
              <a:t>—  </a:t>
            </a:r>
            <a:r>
              <a:rPr sz="1200" b="0" i="0">
                <a:solidFill>
                  <a:srgbClr val="2B2F38"/>
                </a:solidFill>
                <a:latin typeface="Calibri"/>
              </a:rPr>
              <a:t>Louisiana stays at 3.0% share rather than recovering to 4.5%: −$3M.</a:t>
            </a:r>
          </a:p>
          <a:p>
            <a:pPr>
              <a:lnSpc>
                <a:spcPct val="120000"/>
              </a:lnSpc>
              <a:spcAft>
                <a:spcPts val="744"/>
              </a:spcAft>
            </a:pPr>
            <a:r>
              <a:rPr sz="1200" b="1">
                <a:solidFill>
                  <a:srgbClr val="2E7D75"/>
                </a:solidFill>
                <a:latin typeface="Calibri"/>
              </a:rPr>
              <a:t>—  </a:t>
            </a:r>
            <a:r>
              <a:rPr sz="1200" b="0" i="0">
                <a:solidFill>
                  <a:srgbClr val="2B2F38"/>
                </a:solidFill>
                <a:latin typeface="Calibri"/>
              </a:rPr>
              <a:t>Trade index stalls at 0.52: no revenue effect, −60 bps EBITDA.</a:t>
            </a:r>
          </a:p>
          <a:p>
            <a:pPr>
              <a:lnSpc>
                <a:spcPct val="120000"/>
              </a:lnSpc>
              <a:spcAft>
                <a:spcPts val="744"/>
              </a:spcAft>
            </a:pPr>
            <a:r>
              <a:rPr sz="1200" b="1">
                <a:solidFill>
                  <a:srgbClr val="2E7D75"/>
                </a:solidFill>
                <a:latin typeface="Calibri"/>
              </a:rPr>
              <a:t>—  </a:t>
            </a:r>
            <a:r>
              <a:rPr sz="1200" b="0" i="0">
                <a:solidFill>
                  <a:srgbClr val="2B2F38"/>
                </a:solidFill>
                <a:latin typeface="Calibri"/>
              </a:rPr>
              <a:t>GLP-1 volume drag one point worse than assumed: −$5M.</a:t>
            </a:r>
          </a:p>
        </p:txBody>
      </p:sp>
      <p:sp>
        <p:nvSpPr>
          <p:cNvPr id="13" name="TextBox 12"/>
          <p:cNvSpPr txBox="1"/>
          <p:nvPr/>
        </p:nvSpPr>
        <p:spPr>
          <a:xfrm>
            <a:off x="640080" y="5632704"/>
            <a:ext cx="10911535" cy="384048"/>
          </a:xfrm>
          <a:prstGeom prst="rect">
            <a:avLst/>
          </a:prstGeom>
          <a:noFill/>
        </p:spPr>
        <p:txBody>
          <a:bodyPr wrap="square" lIns="0" rIns="0" tIns="0" bIns="0">
            <a:spAutoFit/>
          </a:bodyPr>
          <a:lstStyle/>
          <a:p>
            <a:pPr algn="l">
              <a:lnSpc>
                <a:spcPct val="116000"/>
              </a:lnSpc>
              <a:spcAft>
                <a:spcPts val="0"/>
              </a:spcAft>
            </a:pPr>
            <a:r>
              <a:rPr sz="1050" b="0" i="0">
                <a:solidFill>
                  <a:srgbClr val="5B6472"/>
                </a:solidFill>
                <a:latin typeface="Calibri"/>
              </a:rPr>
              <a:t>Sensitivities are planning estimates, not modelled forecasts.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256032"/>
          </a:xfrm>
          <a:prstGeom prst="rect">
            <a:avLst/>
          </a:prstGeom>
          <a:noFill/>
        </p:spPr>
        <p:txBody>
          <a:bodyPr wrap="square" lIns="0" rIns="0" tIns="0" bIns="0">
            <a:spAutoFit/>
          </a:bodyPr>
          <a:lstStyle/>
          <a:p>
            <a:pPr algn="l">
              <a:lnSpc>
                <a:spcPct val="118000"/>
              </a:lnSpc>
              <a:spcAft>
                <a:spcPts val="0"/>
              </a:spcAft>
            </a:pPr>
            <a:r>
              <a:rPr sz="1000" b="1" i="0">
                <a:solidFill>
                  <a:srgbClr val="2E7D75"/>
                </a:solidFill>
                <a:latin typeface="Calibri"/>
              </a:rPr>
              <a:t>THE ASK</a:t>
            </a:r>
          </a:p>
        </p:txBody>
      </p:sp>
      <p:sp>
        <p:nvSpPr>
          <p:cNvPr id="3" name="TextBox 2"/>
          <p:cNvSpPr txBox="1"/>
          <p:nvPr/>
        </p:nvSpPr>
        <p:spPr>
          <a:xfrm>
            <a:off x="640080" y="676656"/>
            <a:ext cx="10911535" cy="566928"/>
          </a:xfrm>
          <a:prstGeom prst="rect">
            <a:avLst/>
          </a:prstGeom>
          <a:noFill/>
        </p:spPr>
        <p:txBody>
          <a:bodyPr wrap="square" lIns="0" rIns="0" tIns="0" bIns="0">
            <a:spAutoFit/>
          </a:bodyPr>
          <a:lstStyle/>
          <a:p>
            <a:pPr algn="l">
              <a:lnSpc>
                <a:spcPct val="118000"/>
              </a:lnSpc>
              <a:spcAft>
                <a:spcPts val="0"/>
              </a:spcAft>
            </a:pPr>
            <a:r>
              <a:rPr sz="2500" b="1" i="0">
                <a:solidFill>
                  <a:srgbClr val="1F2A44"/>
                </a:solidFill>
                <a:latin typeface="Calibri"/>
              </a:rPr>
              <a:t>What we need from the board</a:t>
            </a:r>
          </a:p>
        </p:txBody>
      </p:sp>
      <p:sp>
        <p:nvSpPr>
          <p:cNvPr id="4" name="Rectangle 3"/>
          <p:cNvSpPr/>
          <p:nvPr/>
        </p:nvSpPr>
        <p:spPr>
          <a:xfrm>
            <a:off x="640080" y="1243584"/>
            <a:ext cx="1005840" cy="22860"/>
          </a:xfrm>
          <a:prstGeom prst="rect">
            <a:avLst/>
          </a:prstGeom>
          <a:solidFill>
            <a:srgbClr val="2E7D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40080" y="6419088"/>
            <a:ext cx="8412480" cy="219456"/>
          </a:xfrm>
          <a:prstGeom prst="rect">
            <a:avLst/>
          </a:prstGeom>
          <a:noFill/>
        </p:spPr>
        <p:txBody>
          <a:bodyPr wrap="square" lIns="0" rIns="0" tIns="0" bIns="0">
            <a:spAutoFit/>
          </a:bodyPr>
          <a:lstStyle/>
          <a:p>
            <a:pPr algn="l">
              <a:lnSpc>
                <a:spcPct val="118000"/>
              </a:lnSpc>
              <a:spcAft>
                <a:spcPts val="0"/>
              </a:spcAft>
            </a:pPr>
            <a:r>
              <a:rPr sz="750" b="0" i="0">
                <a:solidFill>
                  <a:srgbClr val="5B6472"/>
                </a:solidFill>
                <a:latin typeface="Calibri"/>
              </a:rPr>
              <a:t>Internal · Confidential — Acme Corp synthetic demo data. Fictional; not for real decision-making.</a:t>
            </a:r>
          </a:p>
        </p:txBody>
      </p:sp>
      <p:sp>
        <p:nvSpPr>
          <p:cNvPr id="6" name="TextBox 5"/>
          <p:cNvSpPr txBox="1"/>
          <p:nvPr/>
        </p:nvSpPr>
        <p:spPr>
          <a:xfrm>
            <a:off x="10424160" y="6419088"/>
            <a:ext cx="1124712" cy="219456"/>
          </a:xfrm>
          <a:prstGeom prst="rect">
            <a:avLst/>
          </a:prstGeom>
          <a:noFill/>
        </p:spPr>
        <p:txBody>
          <a:bodyPr wrap="square" lIns="0" rIns="0" tIns="0" bIns="0">
            <a:spAutoFit/>
          </a:bodyPr>
          <a:lstStyle/>
          <a:p>
            <a:pPr algn="r">
              <a:lnSpc>
                <a:spcPct val="118000"/>
              </a:lnSpc>
              <a:spcAft>
                <a:spcPts val="0"/>
              </a:spcAft>
            </a:pPr>
            <a:r>
              <a:rPr sz="750" b="0" i="0">
                <a:solidFill>
                  <a:srgbClr val="5B6472"/>
                </a:solidFill>
                <a:latin typeface="Calibri"/>
              </a:rPr>
              <a:t>FY27 AOP pre-read  ·  7</a:t>
            </a:r>
          </a:p>
        </p:txBody>
      </p:sp>
      <p:graphicFrame>
        <p:nvGraphicFramePr>
          <p:cNvPr id="7" name="Table 6"/>
          <p:cNvGraphicFramePr>
            <a:graphicFrameLocks noGrp="1"/>
          </p:cNvGraphicFramePr>
          <p:nvPr/>
        </p:nvGraphicFramePr>
        <p:xfrm>
          <a:off x="640080" y="1417320"/>
          <a:ext cx="10911533" cy="2286000"/>
        </p:xfrm>
        <a:graphic>
          <a:graphicData uri="http://schemas.openxmlformats.org/drawingml/2006/table">
            <a:tbl>
              <a:tblPr firstRow="1" bandRow="1">
                <a:tableStyleId>{5C22544A-7EE6-4342-B048-85BDC9FD1C3A}</a:tableStyleId>
              </a:tblPr>
              <a:tblGrid>
                <a:gridCol w="545576"/>
                <a:gridCol w="6001344"/>
                <a:gridCol w="2509653"/>
                <a:gridCol w="1854960"/>
              </a:tblGrid>
              <a:tr h="457200">
                <a:tc>
                  <a:txBody>
                    <a:bodyPr/>
                    <a:lstStyle/>
                    <a:p>
                      <a:pPr algn="l"/>
                      <a:r>
                        <a:rPr sz="1000" b="1">
                          <a:solidFill>
                            <a:srgbClr val="FFFFFF"/>
                          </a:solidFill>
                          <a:latin typeface="Calibri"/>
                        </a:rPr>
                        <a:t>#</a:t>
                      </a:r>
                    </a:p>
                  </a:txBody>
                  <a:tcPr marL="64008" marR="64008" marT="27432" marB="27432" anchor="ctr">
                    <a:solidFill>
                      <a:srgbClr val="1F2A44"/>
                    </a:solidFill>
                  </a:tcPr>
                </a:tc>
                <a:tc>
                  <a:txBody>
                    <a:bodyPr/>
                    <a:lstStyle/>
                    <a:p>
                      <a:pPr algn="l"/>
                      <a:r>
                        <a:rPr sz="1000" b="1">
                          <a:solidFill>
                            <a:srgbClr val="FFFFFF"/>
                          </a:solidFill>
                          <a:latin typeface="Calibri"/>
                        </a:rPr>
                        <a:t>Action</a:t>
                      </a:r>
                    </a:p>
                  </a:txBody>
                  <a:tcPr marL="64008" marR="64008" marT="27432" marB="27432" anchor="ctr">
                    <a:solidFill>
                      <a:srgbClr val="1F2A44"/>
                    </a:solidFill>
                  </a:tcPr>
                </a:tc>
                <a:tc>
                  <a:txBody>
                    <a:bodyPr/>
                    <a:lstStyle/>
                    <a:p>
                      <a:pPr algn="l"/>
                      <a:r>
                        <a:rPr sz="1000" b="1">
                          <a:solidFill>
                            <a:srgbClr val="FFFFFF"/>
                          </a:solidFill>
                          <a:latin typeface="Calibri"/>
                        </a:rPr>
                        <a:t>Owner</a:t>
                      </a:r>
                    </a:p>
                  </a:txBody>
                  <a:tcPr marL="64008" marR="64008" marT="27432" marB="27432" anchor="ctr">
                    <a:solidFill>
                      <a:srgbClr val="1F2A44"/>
                    </a:solidFill>
                  </a:tcPr>
                </a:tc>
                <a:tc>
                  <a:txBody>
                    <a:bodyPr/>
                    <a:lstStyle/>
                    <a:p>
                      <a:pPr algn="r"/>
                      <a:r>
                        <a:rPr sz="1000" b="1">
                          <a:solidFill>
                            <a:srgbClr val="FFFFFF"/>
                          </a:solidFill>
                          <a:latin typeface="Calibri"/>
                        </a:rPr>
                        <a:t>When</a:t>
                      </a:r>
                    </a:p>
                  </a:txBody>
                  <a:tcPr marL="64008" marR="64008" marT="27432" marB="27432" anchor="ctr">
                    <a:solidFill>
                      <a:srgbClr val="1F2A44"/>
                    </a:solidFill>
                  </a:tcPr>
                </a:tc>
              </a:tr>
              <a:tr h="457200">
                <a:tc>
                  <a:txBody>
                    <a:bodyPr/>
                    <a:lstStyle/>
                    <a:p>
                      <a:pPr algn="l"/>
                      <a:r>
                        <a:rPr sz="1050" b="0">
                          <a:solidFill>
                            <a:srgbClr val="2B2F38"/>
                          </a:solidFill>
                          <a:latin typeface="Calibri"/>
                        </a:rPr>
                        <a:t>1</a:t>
                      </a:r>
                    </a:p>
                  </a:txBody>
                  <a:tcPr marL="64008" marR="64008" marT="18288" marB="18288" anchor="ctr">
                    <a:solidFill>
                      <a:srgbClr val="FFFFFF"/>
                    </a:solidFill>
                  </a:tcPr>
                </a:tc>
                <a:tc>
                  <a:txBody>
                    <a:bodyPr/>
                    <a:lstStyle/>
                    <a:p>
                      <a:pPr algn="l"/>
                      <a:r>
                        <a:rPr sz="1050" b="0">
                          <a:solidFill>
                            <a:srgbClr val="2B2F38"/>
                          </a:solidFill>
                          <a:latin typeface="Calibri"/>
                        </a:rPr>
                        <a:t>Approve the $880M FY27 revenue plan and the ~15.0% EBITDA target</a:t>
                      </a:r>
                    </a:p>
                  </a:txBody>
                  <a:tcPr marL="64008" marR="64008" marT="18288" marB="18288" anchor="ctr">
                    <a:solidFill>
                      <a:srgbClr val="FFFFFF"/>
                    </a:solidFill>
                  </a:tcPr>
                </a:tc>
                <a:tc>
                  <a:txBody>
                    <a:bodyPr/>
                    <a:lstStyle/>
                    <a:p>
                      <a:pPr algn="l"/>
                      <a:r>
                        <a:rPr sz="1050" b="0">
                          <a:solidFill>
                            <a:srgbClr val="2B2F38"/>
                          </a:solidFill>
                          <a:latin typeface="Calibri"/>
                        </a:rPr>
                        <a:t>Board</a:t>
                      </a:r>
                    </a:p>
                  </a:txBody>
                  <a:tcPr marL="64008" marR="64008" marT="18288" marB="18288" anchor="ctr">
                    <a:solidFill>
                      <a:srgbClr val="FFFFFF"/>
                    </a:solidFill>
                  </a:tcPr>
                </a:tc>
                <a:tc>
                  <a:txBody>
                    <a:bodyPr/>
                    <a:lstStyle/>
                    <a:p>
                      <a:pPr algn="r"/>
                      <a:r>
                        <a:rPr sz="1050" b="0">
                          <a:solidFill>
                            <a:srgbClr val="2B2F38"/>
                          </a:solidFill>
                          <a:latin typeface="Calibri"/>
                        </a:rPr>
                        <a:t>October 2026</a:t>
                      </a:r>
                    </a:p>
                  </a:txBody>
                  <a:tcPr marL="64008" marR="64008" marT="18288" marB="18288" anchor="ctr">
                    <a:solidFill>
                      <a:srgbClr val="FFFFFF"/>
                    </a:solidFill>
                  </a:tcPr>
                </a:tc>
              </a:tr>
              <a:tr h="457200">
                <a:tc>
                  <a:txBody>
                    <a:bodyPr/>
                    <a:lstStyle/>
                    <a:p>
                      <a:pPr algn="l"/>
                      <a:r>
                        <a:rPr sz="1050" b="0">
                          <a:solidFill>
                            <a:srgbClr val="2B2F38"/>
                          </a:solidFill>
                          <a:latin typeface="Calibri"/>
                        </a:rPr>
                        <a:t>2</a:t>
                      </a:r>
                    </a:p>
                  </a:txBody>
                  <a:tcPr marL="64008" marR="64008" marT="18288" marB="18288" anchor="ctr">
                    <a:solidFill>
                      <a:srgbClr val="F5F7F9"/>
                    </a:solidFill>
                  </a:tcPr>
                </a:tc>
                <a:tc>
                  <a:txBody>
                    <a:bodyPr/>
                    <a:lstStyle/>
                    <a:p>
                      <a:pPr algn="l"/>
                      <a:r>
                        <a:rPr sz="1050" b="0">
                          <a:solidFill>
                            <a:srgbClr val="2B2F38"/>
                          </a:solidFill>
                          <a:latin typeface="Calibri"/>
                        </a:rPr>
                        <a:t>Approve the trade-efficiency programme as the primary margin lever (0.52 → 0.60)</a:t>
                      </a:r>
                    </a:p>
                  </a:txBody>
                  <a:tcPr marL="64008" marR="64008" marT="18288" marB="18288" anchor="ctr">
                    <a:solidFill>
                      <a:srgbClr val="F5F7F9"/>
                    </a:solidFill>
                  </a:tcPr>
                </a:tc>
                <a:tc>
                  <a:txBody>
                    <a:bodyPr/>
                    <a:lstStyle/>
                    <a:p>
                      <a:pPr algn="l"/>
                      <a:r>
                        <a:rPr sz="1050" b="0">
                          <a:solidFill>
                            <a:srgbClr val="2B2F38"/>
                          </a:solidFill>
                          <a:latin typeface="Calibri"/>
                        </a:rPr>
                        <a:t>CFO / RGM Lead</a:t>
                      </a:r>
                    </a:p>
                  </a:txBody>
                  <a:tcPr marL="64008" marR="64008" marT="18288" marB="18288" anchor="ctr">
                    <a:solidFill>
                      <a:srgbClr val="F5F7F9"/>
                    </a:solidFill>
                  </a:tcPr>
                </a:tc>
                <a:tc>
                  <a:txBody>
                    <a:bodyPr/>
                    <a:lstStyle/>
                    <a:p>
                      <a:pPr algn="r"/>
                      <a:r>
                        <a:rPr sz="1050" b="0">
                          <a:solidFill>
                            <a:srgbClr val="2B2F38"/>
                          </a:solidFill>
                          <a:latin typeface="Calibri"/>
                        </a:rPr>
                        <a:t>October 2026</a:t>
                      </a:r>
                    </a:p>
                  </a:txBody>
                  <a:tcPr marL="64008" marR="64008" marT="18288" marB="18288" anchor="ctr">
                    <a:solidFill>
                      <a:srgbClr val="F5F7F9"/>
                    </a:solidFill>
                  </a:tcPr>
                </a:tc>
              </a:tr>
              <a:tr h="457200">
                <a:tc>
                  <a:txBody>
                    <a:bodyPr/>
                    <a:lstStyle/>
                    <a:p>
                      <a:pPr algn="l"/>
                      <a:r>
                        <a:rPr sz="1050" b="0">
                          <a:solidFill>
                            <a:srgbClr val="2B2F38"/>
                          </a:solidFill>
                          <a:latin typeface="Calibri"/>
                        </a:rPr>
                        <a:t>3</a:t>
                      </a:r>
                    </a:p>
                  </a:txBody>
                  <a:tcPr marL="64008" marR="64008" marT="18288" marB="18288" anchor="ctr">
                    <a:solidFill>
                      <a:srgbClr val="FFFFFF"/>
                    </a:solidFill>
                  </a:tcPr>
                </a:tc>
                <a:tc>
                  <a:txBody>
                    <a:bodyPr/>
                    <a:lstStyle/>
                    <a:p>
                      <a:pPr algn="l"/>
                      <a:r>
                        <a:rPr sz="1050" b="0">
                          <a:solidFill>
                            <a:srgbClr val="2B2F38"/>
                          </a:solidFill>
                          <a:latin typeface="Calibri"/>
                        </a:rPr>
                        <a:t>Note the FY27–FY29 long-range plan (Report 43) as the frame for this AOP</a:t>
                      </a:r>
                    </a:p>
                  </a:txBody>
                  <a:tcPr marL="64008" marR="64008" marT="18288" marB="18288" anchor="ctr">
                    <a:solidFill>
                      <a:srgbClr val="FFFFFF"/>
                    </a:solidFill>
                  </a:tcPr>
                </a:tc>
                <a:tc>
                  <a:txBody>
                    <a:bodyPr/>
                    <a:lstStyle/>
                    <a:p>
                      <a:pPr algn="l"/>
                      <a:r>
                        <a:rPr sz="1050" b="0">
                          <a:solidFill>
                            <a:srgbClr val="2B2F38"/>
                          </a:solidFill>
                          <a:latin typeface="Calibri"/>
                        </a:rPr>
                        <a:t>CEO / Strategy</a:t>
                      </a:r>
                    </a:p>
                  </a:txBody>
                  <a:tcPr marL="64008" marR="64008" marT="18288" marB="18288" anchor="ctr">
                    <a:solidFill>
                      <a:srgbClr val="FFFFFF"/>
                    </a:solidFill>
                  </a:tcPr>
                </a:tc>
                <a:tc>
                  <a:txBody>
                    <a:bodyPr/>
                    <a:lstStyle/>
                    <a:p>
                      <a:pPr algn="r"/>
                      <a:r>
                        <a:rPr sz="1050" b="0">
                          <a:solidFill>
                            <a:srgbClr val="2B2F38"/>
                          </a:solidFill>
                          <a:latin typeface="Calibri"/>
                        </a:rPr>
                        <a:t>October 2026</a:t>
                      </a:r>
                    </a:p>
                  </a:txBody>
                  <a:tcPr marL="64008" marR="64008" marT="18288" marB="18288" anchor="ctr">
                    <a:solidFill>
                      <a:srgbClr val="FFFFFF"/>
                    </a:solidFill>
                  </a:tcPr>
                </a:tc>
              </a:tr>
              <a:tr h="457200">
                <a:tc>
                  <a:txBody>
                    <a:bodyPr/>
                    <a:lstStyle/>
                    <a:p>
                      <a:pPr algn="l"/>
                      <a:r>
                        <a:rPr sz="1050" b="0">
                          <a:solidFill>
                            <a:srgbClr val="2B2F38"/>
                          </a:solidFill>
                          <a:latin typeface="Calibri"/>
                        </a:rPr>
                        <a:t>4</a:t>
                      </a:r>
                    </a:p>
                  </a:txBody>
                  <a:tcPr marL="64008" marR="64008" marT="18288" marB="18288" anchor="ctr">
                    <a:solidFill>
                      <a:srgbClr val="F5F7F9"/>
                    </a:solidFill>
                  </a:tcPr>
                </a:tc>
                <a:tc>
                  <a:txBody>
                    <a:bodyPr/>
                    <a:lstStyle/>
                    <a:p>
                      <a:pPr algn="l"/>
                      <a:r>
                        <a:rPr sz="1050" b="0">
                          <a:solidFill>
                            <a:srgbClr val="2B2F38"/>
                          </a:solidFill>
                          <a:latin typeface="Calibri"/>
                        </a:rPr>
                        <a:t>Approve capex for Pack Refresh changeover and protein line capacity</a:t>
                      </a:r>
                    </a:p>
                  </a:txBody>
                  <a:tcPr marL="64008" marR="64008" marT="18288" marB="18288" anchor="ctr">
                    <a:solidFill>
                      <a:srgbClr val="F5F7F9"/>
                    </a:solidFill>
                  </a:tcPr>
                </a:tc>
                <a:tc>
                  <a:txBody>
                    <a:bodyPr/>
                    <a:lstStyle/>
                    <a:p>
                      <a:pPr algn="l"/>
                      <a:r>
                        <a:rPr sz="1050" b="0">
                          <a:solidFill>
                            <a:srgbClr val="2B2F38"/>
                          </a:solidFill>
                          <a:latin typeface="Calibri"/>
                        </a:rPr>
                        <a:t>CFO / VP Supply Chain</a:t>
                      </a:r>
                    </a:p>
                  </a:txBody>
                  <a:tcPr marL="64008" marR="64008" marT="18288" marB="18288" anchor="ctr">
                    <a:solidFill>
                      <a:srgbClr val="F5F7F9"/>
                    </a:solidFill>
                  </a:tcPr>
                </a:tc>
                <a:tc>
                  <a:txBody>
                    <a:bodyPr/>
                    <a:lstStyle/>
                    <a:p>
                      <a:pPr algn="r"/>
                      <a:r>
                        <a:rPr sz="1050" b="0">
                          <a:solidFill>
                            <a:srgbClr val="2B2F38"/>
                          </a:solidFill>
                          <a:latin typeface="Calibri"/>
                        </a:rPr>
                        <a:t>October 2026</a:t>
                      </a:r>
                    </a:p>
                  </a:txBody>
                  <a:tcPr marL="64008" marR="64008" marT="18288" marB="18288" anchor="ctr">
                    <a:solidFill>
                      <a:srgbClr val="F5F7F9"/>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822960" y="1371600"/>
            <a:ext cx="1005840" cy="27432"/>
          </a:xfrm>
          <a:prstGeom prst="rect">
            <a:avLst/>
          </a:prstGeom>
          <a:solidFill>
            <a:srgbClr val="2E7D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822960" y="914400"/>
            <a:ext cx="10424160" cy="292608"/>
          </a:xfrm>
          <a:prstGeom prst="rect">
            <a:avLst/>
          </a:prstGeom>
          <a:noFill/>
        </p:spPr>
        <p:txBody>
          <a:bodyPr wrap="square" lIns="0" rIns="0" tIns="0" bIns="0">
            <a:spAutoFit/>
          </a:bodyPr>
          <a:lstStyle/>
          <a:p>
            <a:pPr algn="l">
              <a:lnSpc>
                <a:spcPct val="118000"/>
              </a:lnSpc>
              <a:spcAft>
                <a:spcPts val="0"/>
              </a:spcAft>
            </a:pPr>
            <a:r>
              <a:rPr sz="1200" b="1" i="0">
                <a:solidFill>
                  <a:srgbClr val="2E7D75"/>
                </a:solidFill>
                <a:latin typeface="Calibri"/>
              </a:rPr>
              <a:t>THE ONE THING</a:t>
            </a:r>
          </a:p>
        </p:txBody>
      </p:sp>
      <p:sp>
        <p:nvSpPr>
          <p:cNvPr id="5" name="TextBox 4"/>
          <p:cNvSpPr txBox="1"/>
          <p:nvPr/>
        </p:nvSpPr>
        <p:spPr>
          <a:xfrm>
            <a:off x="804672" y="1783080"/>
            <a:ext cx="10241280" cy="910336"/>
          </a:xfrm>
          <a:prstGeom prst="rect">
            <a:avLst/>
          </a:prstGeom>
          <a:noFill/>
        </p:spPr>
        <p:txBody>
          <a:bodyPr wrap="square" lIns="0" rIns="0" tIns="0" bIns="0">
            <a:spAutoFit/>
          </a:bodyPr>
          <a:lstStyle/>
          <a:p>
            <a:pPr algn="l">
              <a:lnSpc>
                <a:spcPct val="112000"/>
              </a:lnSpc>
              <a:spcAft>
                <a:spcPts val="0"/>
              </a:spcAft>
            </a:pPr>
            <a:r>
              <a:rPr sz="3200" b="1" i="0">
                <a:solidFill>
                  <a:srgbClr val="FFFFFF"/>
                </a:solidFill>
                <a:latin typeface="Calibri"/>
              </a:rPr>
              <a:t>Fund the protein, stabilise the core, take the margin out of trade.</a:t>
            </a:r>
          </a:p>
        </p:txBody>
      </p:sp>
      <p:sp>
        <p:nvSpPr>
          <p:cNvPr id="6" name="TextBox 5"/>
          <p:cNvSpPr txBox="1"/>
          <p:nvPr/>
        </p:nvSpPr>
        <p:spPr>
          <a:xfrm>
            <a:off x="822960" y="3150616"/>
            <a:ext cx="9875520" cy="2011680"/>
          </a:xfrm>
          <a:prstGeom prst="rect">
            <a:avLst/>
          </a:prstGeom>
          <a:noFill/>
        </p:spPr>
        <p:txBody>
          <a:bodyPr wrap="square" lIns="0" rIns="0" tIns="0" bIns="0">
            <a:spAutoFit/>
          </a:bodyPr>
          <a:lstStyle/>
          <a:p>
            <a:pPr algn="l">
              <a:lnSpc>
                <a:spcPct val="124000"/>
              </a:lnSpc>
              <a:spcAft>
                <a:spcPts val="900"/>
              </a:spcAft>
            </a:pPr>
            <a:r>
              <a:rPr sz="1400" b="0" i="0">
                <a:solidFill>
                  <a:srgbClr val="C9D2DB"/>
                </a:solidFill>
                <a:latin typeface="Calibri"/>
              </a:rPr>
              <a:t>$880M and ~15.0% — the AOP the long-range plan implies.</a:t>
            </a:r>
          </a:p>
          <a:p>
            <a:pPr algn="l">
              <a:lnSpc>
                <a:spcPct val="124000"/>
              </a:lnSpc>
              <a:spcAft>
                <a:spcPts val="900"/>
              </a:spcAft>
            </a:pPr>
            <a:r>
              <a:rPr sz="1400" b="0" i="0">
                <a:solidFill>
                  <a:srgbClr val="C9D2DB"/>
                </a:solidFill>
                <a:latin typeface="Calibri"/>
              </a:rPr>
              <a:t>ProteinPeak carries $52M of the $85M of gross brand growth.</a:t>
            </a:r>
          </a:p>
          <a:p>
            <a:pPr algn="l">
              <a:lnSpc>
                <a:spcPct val="124000"/>
              </a:lnSpc>
              <a:spcAft>
                <a:spcPts val="900"/>
              </a:spcAft>
            </a:pPr>
            <a:r>
              <a:rPr sz="1400" b="0" i="0">
                <a:solidFill>
                  <a:srgbClr val="C9D2DB"/>
                </a:solidFill>
                <a:latin typeface="Calibri"/>
              </a:rPr>
              <a:t>The 16% FY28 margin commitment stays intact.</a:t>
            </a:r>
          </a:p>
        </p:txBody>
      </p:sp>
      <p:sp>
        <p:nvSpPr>
          <p:cNvPr id="7" name="TextBox 6"/>
          <p:cNvSpPr txBox="1"/>
          <p:nvPr/>
        </p:nvSpPr>
        <p:spPr>
          <a:xfrm>
            <a:off x="822960" y="6419088"/>
            <a:ext cx="10424160" cy="219456"/>
          </a:xfrm>
          <a:prstGeom prst="rect">
            <a:avLst/>
          </a:prstGeom>
          <a:noFill/>
        </p:spPr>
        <p:txBody>
          <a:bodyPr wrap="square" lIns="0" rIns="0" tIns="0" bIns="0">
            <a:spAutoFit/>
          </a:bodyPr>
          <a:lstStyle/>
          <a:p>
            <a:pPr algn="l">
              <a:lnSpc>
                <a:spcPct val="118000"/>
              </a:lnSpc>
              <a:spcAft>
                <a:spcPts val="0"/>
              </a:spcAft>
            </a:pPr>
            <a:r>
              <a:rPr sz="750" b="0" i="0">
                <a:solidFill>
                  <a:srgbClr val="5B6472"/>
                </a:solidFill>
                <a:latin typeface="Calibri"/>
              </a:rPr>
              <a:t>Internal · Confidential — Acme Corp synthetic demo data. Fictional; not for real decision-making.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Acme Corp FY2027 Annual Operating Plan</dc:title>
  <dc:subject/>
  <dc:creator>Acme Corp (synthetic)</dc:creator>
  <cp:keywords/>
  <dc:description>Internal management presentation</dc:description>
  <cp:lastModifiedBy>Steve Canny</cp:lastModifiedBy>
  <cp:revision>1</cp:revision>
  <dcterms:created xsi:type="dcterms:W3CDTF">2013-01-27T09:14:16Z</dcterms:created>
  <dcterms:modified xsi:type="dcterms:W3CDTF">2013-01-27T09:15:58Z</dcterms:modified>
  <cp:category/>
</cp:coreProperties>
</file>