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" y="841248"/>
            <a:ext cx="182880" cy="182880"/>
          </a:xfrm>
          <a:prstGeom prst="ellipse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2144" y="841248"/>
            <a:ext cx="182880" cy="182880"/>
          </a:xfrm>
          <a:prstGeom prst="ellipse">
            <a:avLst/>
          </a:prstGeom>
          <a:solidFill>
            <a:srgbClr val="3E6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63040" y="841248"/>
            <a:ext cx="182880" cy="18288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2E7D75"/>
                </a:solidFill>
                <a:latin typeface="Calibri"/>
              </a:rPr>
              <a:t>QUARTERLY BUSINESS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331720"/>
            <a:ext cx="10515600" cy="1124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100" b="1" i="0">
                <a:solidFill>
                  <a:srgbClr val="FFFFFF"/>
                </a:solidFill>
                <a:latin typeface="Calibri"/>
              </a:rPr>
              <a:t>Acme Corp — Q2 FY2026 Company Business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2DB"/>
                </a:solidFill>
                <a:latin typeface="Calibri"/>
              </a:rPr>
              <a:t>Enterprise performance through May, the ProteinPeak launch read, and what it means for the back half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5216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Calibri"/>
              </a:rPr>
              <a:t>Diane Halverson, VP Sales NA (sponsor) · Finance &amp; Insights (prep) · July 2026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Calibri"/>
              </a:rPr>
              <a:t>Internal management presentation · Internal · Confidential — synthetic demo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What this deck covers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Q2 2026 Company BR  ·  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72184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6002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1609344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Where the quarter landed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30552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25856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2267712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Brand-by-brand read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88920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91693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2926080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Share and category context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447288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57530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8" y="3584448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The ProteinPeak launch, four weeks 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105656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423367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7008" y="4242816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Louisiana: is the recovery working?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8776" y="1472184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16002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75704" y="1609344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Spend efficiency — trade and retail media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08776" y="2130552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6792" y="225856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75704" y="2267712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Supply and service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08776" y="2788920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36792" y="291693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75704" y="2926080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Risks into H2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08776" y="3447288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36792" y="357530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75704" y="3584448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The ask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THE HEADLINE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Q2 2026 Company BR  ·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6492240" cy="1160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1000"/>
              </a:spcAft>
            </a:pPr>
            <a:r>
              <a:rPr sz="1450" b="0" i="0">
                <a:solidFill>
                  <a:srgbClr val="2B2F38"/>
                </a:solidFill>
                <a:latin typeface="Calibri"/>
              </a:rPr>
              <a:t>Q2 FY2026 through May ran $123.1M against $127.5M of plan (-3.4%) — a two-point improvement on Q1's -5.3%, and the first quarter since the Louisiana break where the trend line moves the right way. The improvement is almost entirely ProteinPeak coming out of its pre-launch trough. Crunchwell has not yet turned.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96920"/>
            <a:ext cx="6492240" cy="3256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Revenue: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 $123.1M vs $127.5M plan QTD. April $61.5M (-3.5%), May $61.6M (-3.4%) — the gap narrows month on month.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ProteinPeak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 moved from −25.4% (Q1, pre-launch) to −6.1% in May on the back of the April 20 Cinnamon Crunch and Cocoa Almond launch. Trial is running 110–113% of plan at Target.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Crunchwell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 is still −5.7 to −6.0% every month. Louisiana has recovered ~35 bps off the trough but is nowhere near the 6.4% starting point. The Pack Refresh (Aug 15) is the next lever.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Efficiency, not demand,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 is the CFO's issue: retail media returns $0.65 per $1 with Amazon Ads at 0.40, and trade incrementality sits at 0.52.</a:t>
            </a:r>
          </a:p>
        </p:txBody>
      </p:sp>
      <p:sp>
        <p:nvSpPr>
          <p:cNvPr id="9" name="Rectangle 8"/>
          <p:cNvSpPr/>
          <p:nvPr/>
        </p:nvSpPr>
        <p:spPr>
          <a:xfrm>
            <a:off x="7543800" y="1435608"/>
            <a:ext cx="2148840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90104" y="1581912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 i="0">
                <a:solidFill>
                  <a:srgbClr val="1F2A44"/>
                </a:solidFill>
                <a:latin typeface="Calibri"/>
              </a:rPr>
              <a:t>-3.4%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0104" y="2093976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5B6472"/>
                </a:solidFill>
                <a:latin typeface="Calibri"/>
              </a:rPr>
              <a:t>Q2 QTD REVENUE VS PLAN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12096" y="1435608"/>
            <a:ext cx="2148840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0" y="1581912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 i="0">
                <a:solidFill>
                  <a:srgbClr val="1F2A44"/>
                </a:solidFill>
                <a:latin typeface="Calibri"/>
              </a:rPr>
              <a:t>-5.3%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2093976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5B6472"/>
                </a:solidFill>
                <a:latin typeface="Calibri"/>
              </a:rPr>
              <a:t>Q1 REVENUE VS PLAN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43800" y="2734056"/>
            <a:ext cx="2148840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0104" y="288036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 i="0">
                <a:solidFill>
                  <a:srgbClr val="1F2A44"/>
                </a:solidFill>
                <a:latin typeface="Calibri"/>
              </a:rPr>
              <a:t>8.09%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0104" y="3392424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5B6472"/>
                </a:solidFill>
                <a:latin typeface="Calibri"/>
              </a:rPr>
              <a:t>ACME NATIONAL RTE SHARE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12096" y="2734056"/>
            <a:ext cx="2148840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0" y="288036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 i="0">
                <a:solidFill>
                  <a:srgbClr val="1F2A44"/>
                </a:solidFill>
                <a:latin typeface="Calibri"/>
              </a:rPr>
              <a:t>$0.65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3392424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5B6472"/>
                </a:solidFill>
                <a:latin typeface="Calibri"/>
              </a:rPr>
              <a:t>RETAIL-MEDIA INCREMENTAL PER $1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THE NUMBER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Five months of a closing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Q2 2026 Company BR  ·  3</a:t>
            </a:r>
          </a:p>
        </p:txBody>
      </p:sp>
      <p:pic>
        <p:nvPicPr>
          <p:cNvPr id="7" name="Picture 6" descr="r41_mon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15121"/>
            <a:ext cx="6492240" cy="255460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60920" y="1472184"/>
            <a:ext cx="4206240" cy="4581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Plan is flat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 at $63.7M/month — the FY26 operating plan was built straight-lined.</a:t>
            </a:r>
          </a:p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Actuals ran $60.3–60.4M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 through Q1, then stepped up to $61.5M and $61.6M in April and May as launch volume shipped.</a:t>
            </a:r>
          </a:p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The gap halves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 from −5.4% at the February low to −3.4% in May.</a:t>
            </a:r>
          </a:p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Read: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 the H2 reforecast (Report 44) should assume the improvement holds, not that it accelerates.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plan_vs_actual, periods 2026-01 to 2026-05.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BRAND READ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Four of six brands inside two points of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Q2 2026 Company BR  ·  4</a:t>
            </a:r>
          </a:p>
        </p:txBody>
      </p:sp>
      <p:pic>
        <p:nvPicPr>
          <p:cNvPr id="7" name="Picture 6" descr="r41_brandv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11385"/>
            <a:ext cx="6309360" cy="2507213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0" y="1490472"/>
          <a:ext cx="441655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4965"/>
                <a:gridCol w="794979"/>
                <a:gridCol w="794979"/>
                <a:gridCol w="706648"/>
                <a:gridCol w="794979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Brand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Plan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Actual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Var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Crunchwell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$50.4M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$47.5M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-5.8%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C08A1E"/>
                          </a:solidFill>
                          <a:latin typeface="Calibri"/>
                        </a:rPr>
                        <a:t>Watch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TrailGrove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$25.4M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$25.0M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-1.5%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2E7D5B"/>
                          </a:solidFill>
                          <a:latin typeface="Calibri"/>
                        </a:rPr>
                        <a:t>On track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MorningOats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$15.5M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$15.4M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-1.1%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2E7D5B"/>
                          </a:solidFill>
                          <a:latin typeface="Calibri"/>
                        </a:rPr>
                        <a:t>On track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HoneyNest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$13.6M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$13.5M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-1.1%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2E7D5B"/>
                          </a:solidFill>
                          <a:latin typeface="Calibri"/>
                        </a:rPr>
                        <a:t>On track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ProteinPeak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$11.6M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$10.9M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-6.1%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C08A1E"/>
                          </a:solidFill>
                          <a:latin typeface="Calibri"/>
                        </a:rPr>
                        <a:t>Watch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RootDay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$10.9M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$10.9M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-0.2%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2E7D5B"/>
                          </a:solidFill>
                          <a:latin typeface="Calibri"/>
                        </a:rPr>
                        <a:t>On track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2B2F38"/>
                          </a:solidFill>
                          <a:latin typeface="Calibri"/>
                        </a:rPr>
                        <a:t>Total Acme</a:t>
                      </a:r>
                    </a:p>
                  </a:txBody>
                  <a:tcPr marL="64008" marR="64008" marT="18288" marB="18288" anchor="ctr"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2B2F38"/>
                          </a:solidFill>
                          <a:latin typeface="Calibri"/>
                        </a:rPr>
                        <a:t>$127.5M</a:t>
                      </a:r>
                    </a:p>
                  </a:txBody>
                  <a:tcPr marL="64008" marR="64008" marT="18288" marB="18288" anchor="ctr"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2B2F38"/>
                          </a:solidFill>
                          <a:latin typeface="Calibri"/>
                        </a:rPr>
                        <a:t>$123.1M</a:t>
                      </a:r>
                    </a:p>
                  </a:txBody>
                  <a:tcPr marL="64008" marR="64008" marT="18288" marB="18288" anchor="ctr"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2B2F38"/>
                          </a:solidFill>
                          <a:latin typeface="Calibri"/>
                        </a:rPr>
                        <a:t>-3.4%</a:t>
                      </a:r>
                    </a:p>
                  </a:txBody>
                  <a:tcPr marL="64008" marR="64008" marT="18288" marB="18288" anchor="ctr"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C08A1E"/>
                          </a:solidFill>
                          <a:latin typeface="Calibri"/>
                        </a:rPr>
                        <a:t>Watch</a:t>
                      </a:r>
                    </a:p>
                  </a:txBody>
                  <a:tcPr marL="64008" marR="64008" marT="18288" marB="18288" anchor="ctr">
                    <a:solidFill>
                      <a:srgbClr val="EAEE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plan_vs_actual, 2026-04 and 2026-05.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SHARE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National share holds; Louisiana is the hole in the floor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Q2 2026 Company BR  ·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11535" cy="198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1">
                <a:solidFill>
                  <a:srgbClr val="5B6472"/>
                </a:solidFill>
                <a:latin typeface="Calibri"/>
              </a:rPr>
              <a:t>Acme all-brand share is flat-to-up nationally. The share problem is one DMA deep.</a:t>
            </a:r>
          </a:p>
        </p:txBody>
      </p:sp>
      <p:pic>
        <p:nvPicPr>
          <p:cNvPr id="8" name="Picture 7" descr="r41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1617" y="1743456"/>
            <a:ext cx="9628460" cy="37886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syndicated_weekly, RTE Cereal. Canonical LA headline (Mass/Grocery, peak-to-trough) is 6.4% → 3.0%, −340 bps; the all-channel value-weighted cut shown here is milder in the same direction.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CATEGORY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Where we play decides how hard we have to run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Q2 2026 Company BR  ·  6</a:t>
            </a:r>
          </a:p>
        </p:txBody>
      </p:sp>
      <p:pic>
        <p:nvPicPr>
          <p:cNvPr id="7" name="Picture 6" descr="r41_c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45006"/>
            <a:ext cx="6492240" cy="249483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60920" y="1472184"/>
            <a:ext cx="4206240" cy="4581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Wellness Protein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 grew +18.3% to $840M and is +18.6% again in Q2 QTD. Acme share there moved 7.6% → 8.4%.</a:t>
            </a:r>
          </a:p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Family Sweet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 — Crunchwell's home — grew +1.4%. A flat brand in a flat segment is a share-neutral, growth-negative position.</a:t>
            </a:r>
          </a:p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Kids Sweet is −2.8%.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 HoneyNest is executing well inside a shrinking pocket (see the portfolio decision, Report 50).</a:t>
            </a:r>
          </a:p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Oat milk +18.8%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 is RootDay's tailwind and the most under-funded upside in the portfolio.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seed_category_market_size, FY2025 US National.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LAUNCH READ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ProteinPeak, four weeks in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Q2 2026 Company BR  ·  7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2021372" cy="1572768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08760"/>
            <a:ext cx="45720" cy="1572768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91640"/>
            <a:ext cx="171047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700" b="1" i="0">
                <a:solidFill>
                  <a:srgbClr val="1F2A44"/>
                </a:solidFill>
                <a:latin typeface="Calibri"/>
              </a:rPr>
              <a:t>110–113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95144"/>
            <a:ext cx="17104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5B6472"/>
                </a:solidFill>
                <a:latin typeface="Calibri"/>
              </a:rPr>
              <a:t>TRIAL INDEX AT 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569464"/>
            <a:ext cx="171047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5B6472"/>
                </a:solidFill>
                <a:latin typeface="Calibri"/>
              </a:rPr>
              <a:t>vs plan; Walmart pilot 77–78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62620" y="1508760"/>
            <a:ext cx="2021372" cy="1572768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62620" y="1508760"/>
            <a:ext cx="45720" cy="1572768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45500" y="1691640"/>
            <a:ext cx="171047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700" b="1" i="0">
                <a:solidFill>
                  <a:srgbClr val="1F2A44"/>
                </a:solidFill>
                <a:latin typeface="Calibri"/>
              </a:rPr>
              <a:t>53%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5500" y="2295144"/>
            <a:ext cx="17104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5B6472"/>
                </a:solidFill>
                <a:latin typeface="Calibri"/>
              </a:rPr>
              <a:t>NEW-TO-BRAND VOLUME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45500" y="2569464"/>
            <a:ext cx="171047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5B6472"/>
                </a:solidFill>
                <a:latin typeface="Calibri"/>
              </a:rPr>
              <a:t>32% cannibalization, 15% competitive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85160" y="1508760"/>
            <a:ext cx="2021372" cy="1572768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85160" y="1508760"/>
            <a:ext cx="45720" cy="1572768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68040" y="1691640"/>
            <a:ext cx="171047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700" b="1" i="0">
                <a:solidFill>
                  <a:srgbClr val="1F2A44"/>
                </a:solidFill>
                <a:latin typeface="Calibri"/>
              </a:rPr>
              <a:t>1.2×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68040" y="2295144"/>
            <a:ext cx="17104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5B6472"/>
                </a:solidFill>
                <a:latin typeface="Calibri"/>
              </a:rPr>
              <a:t>WEEK-2 REPEAT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68040" y="2569464"/>
            <a:ext cx="171047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5B6472"/>
                </a:solidFill>
                <a:latin typeface="Calibri"/>
              </a:rPr>
              <a:t>vs Berry Crunch archive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07700" y="1508760"/>
            <a:ext cx="2021372" cy="1572768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07700" y="1508760"/>
            <a:ext cx="45720" cy="1572768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0580" y="1691640"/>
            <a:ext cx="171047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700" b="1" i="0">
                <a:solidFill>
                  <a:srgbClr val="1F2A44"/>
                </a:solidFill>
                <a:latin typeface="Calibri"/>
              </a:rPr>
              <a:t>+0.44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0580" y="2295144"/>
            <a:ext cx="17104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5B6472"/>
                </a:solidFill>
                <a:latin typeface="Calibri"/>
              </a:rPr>
              <a:t>SOCIAL SENTIMENT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0580" y="2569464"/>
            <a:ext cx="171047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5B6472"/>
                </a:solidFill>
                <a:latin typeface="Calibri"/>
              </a:rPr>
              <a:t>~496 mentions in 2026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30240" y="1508760"/>
            <a:ext cx="2021372" cy="1572768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530240" y="1508760"/>
            <a:ext cx="45720" cy="1572768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13120" y="1691640"/>
            <a:ext cx="171047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700" b="1" i="0">
                <a:solidFill>
                  <a:srgbClr val="1F2A44"/>
                </a:solidFill>
                <a:latin typeface="Calibri"/>
              </a:rPr>
              <a:t>17.5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13120" y="2295144"/>
            <a:ext cx="17104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5B6472"/>
                </a:solidFill>
                <a:latin typeface="Calibri"/>
              </a:rPr>
              <a:t>TARGET VELOCITY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13120" y="2569464"/>
            <a:ext cx="171047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5B6472"/>
                </a:solidFill>
                <a:latin typeface="Calibri"/>
              </a:rPr>
              <a:t>units/store/week vs 9.2 Walmart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3337560"/>
            <a:ext cx="10911535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800"/>
              </a:spcAft>
            </a:pPr>
            <a:r>
              <a:rPr sz="1300" b="0" i="0">
                <a:solidFill>
                  <a:srgbClr val="2B2F38"/>
                </a:solidFill>
                <a:latin typeface="Calibri"/>
              </a:rPr>
              <a:t>The launch is working where it was designed to work. Target over-indexes for Wellness Protein (18.4% Acme share vs 5.2% at Walmart), and the endcap plus Roundel package converted. The Walmart pilot is the underperformer and needs a distribution fix, not a media fix.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632704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seed_proteinpeak_q2_launch, household_transactions PP005/PP006, social_mentions, seed_category_market_size.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EFFICIENCY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Retail media: one platform is carrying the ratio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Q2 2026 Company BR  ·  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1153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9921"/>
                <a:gridCol w="1745845"/>
                <a:gridCol w="1964076"/>
                <a:gridCol w="1745845"/>
                <a:gridCol w="1745845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Platform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Spend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Incremental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Incr. ratio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Call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Amazon Ads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$2.4M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$0.98M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0.40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B24A2E"/>
                          </a:solidFill>
                          <a:latin typeface="Calibri"/>
                        </a:rPr>
                        <a:t>Reallocate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Walmart Connect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$1.0M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$1.21M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1.20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2E7D5B"/>
                          </a:solidFill>
                          <a:latin typeface="Calibri"/>
                        </a:rPr>
                        <a:t>Reinvest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Kroger Precision Marketing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$0.4M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$0.32M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0.77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B24A2E"/>
                          </a:solidFill>
                          <a:latin typeface="Calibri"/>
                        </a:rPr>
                        <a:t>Reallocate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Target Roundel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$0.4M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$0.22M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0.50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B24A2E"/>
                          </a:solidFill>
                          <a:latin typeface="Calibri"/>
                        </a:rPr>
                        <a:t>Reallocate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B2F38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64008" marR="64008" marT="18288" marB="18288" anchor="ctr"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2B2F38"/>
                          </a:solidFill>
                          <a:latin typeface="Calibri"/>
                        </a:rPr>
                        <a:t>$4.2M</a:t>
                      </a:r>
                    </a:p>
                  </a:txBody>
                  <a:tcPr marL="64008" marR="64008" marT="18288" marB="18288" anchor="ctr"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2B2F38"/>
                          </a:solidFill>
                          <a:latin typeface="Calibri"/>
                        </a:rPr>
                        <a:t>$2.73M</a:t>
                      </a:r>
                    </a:p>
                  </a:txBody>
                  <a:tcPr marL="64008" marR="64008" marT="18288" marB="18288" anchor="ctr"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2B2F38"/>
                          </a:solidFill>
                          <a:latin typeface="Calibri"/>
                        </a:rPr>
                        <a:t>0.65</a:t>
                      </a:r>
                    </a:p>
                  </a:txBody>
                  <a:tcPr marL="64008" marR="64008" marT="18288" marB="18288" anchor="ctr"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2B2F38"/>
                          </a:solidFill>
                          <a:latin typeface="Calibri"/>
                        </a:rPr>
                        <a:t>Rebalance</a:t>
                      </a:r>
                    </a:p>
                  </a:txBody>
                  <a:tcPr marL="64008" marR="64008" marT="18288" marB="18288" anchor="ctr">
                    <a:solidFill>
                      <a:srgbClr val="EAEEF2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" y="4416552"/>
            <a:ext cx="10911535" cy="766572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4416552"/>
            <a:ext cx="45720" cy="76657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4507992"/>
            <a:ext cx="106006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1F2A44"/>
                </a:solidFill>
                <a:latin typeface="Calibri"/>
              </a:rPr>
              <a:t>The $700K 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4764024"/>
            <a:ext cx="10600639" cy="3093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2B2F38"/>
                </a:solidFill>
                <a:latin typeface="Calibri"/>
              </a:rPr>
              <a:t>Moving ~$700K out of Amazon Ads into Walmart Connect, Kroger Precision and a Louisiana injection converts $0.40-per-dollar spend into $1.20-per-dollar spend. It is the cheapest incremental revenue available to us in H2.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seed_retail_media_spend_q1_2026, modelled incrementality (not platform ROAS).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What we are watching into H2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Q2 2026 Company BR  ·  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11533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8768"/>
                <a:gridCol w="2618768"/>
                <a:gridCol w="3928152"/>
                <a:gridCol w="1745845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Impact if it lands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Mitigation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2F38"/>
                          </a:solidFill>
                          <a:latin typeface="Calibri"/>
                        </a:rPr>
                        <a:t>Larksfield's 14g protein line (LCH00032, May 12)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2F38"/>
                          </a:solidFill>
                          <a:latin typeface="Calibri"/>
                        </a:rPr>
                        <a:t>Slows ProteinPeak's share build in its best pocket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2F38"/>
                          </a:solidFill>
                          <a:latin typeface="Calibri"/>
                        </a:rPr>
                        <a:t>Accelerate Chocolate Almond to the Q4 line reviews; hold Target endcap through Q3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2F38"/>
                          </a:solidFill>
                          <a:latin typeface="Calibri"/>
                        </a:rPr>
                        <a:t>Sage Park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2F38"/>
                          </a:solidFill>
                          <a:latin typeface="Calibri"/>
                        </a:rPr>
                        <a:t>Crunchwell Pack Refresh slips past Aug 15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2F38"/>
                          </a:solidFill>
                          <a:latin typeface="Calibri"/>
                        </a:rPr>
                        <a:t>Louisiana recovery loses its anchor and Q4 shipment build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2F38"/>
                          </a:solidFill>
                          <a:latin typeface="Calibri"/>
                        </a:rPr>
                        <a:t>Weekly stage-gate with R&amp;D and packaging; pre-build hero SKUs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2F38"/>
                          </a:solidFill>
                          <a:latin typeface="Calibri"/>
                        </a:rPr>
                        <a:t>Cory Whitman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2F38"/>
                          </a:solidFill>
                          <a:latin typeface="Calibri"/>
                        </a:rPr>
                        <a:t>Amazon Ads spend not reallocated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2F38"/>
                          </a:solidFill>
                          <a:latin typeface="Calibri"/>
                        </a:rPr>
                        <a:t>≈$0.6M of avoidable H2 inefficiency at current ratios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2F38"/>
                          </a:solidFill>
                          <a:latin typeface="Calibri"/>
                        </a:rPr>
                        <a:t>Reallocation decision at the July commercial review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2F38"/>
                          </a:solidFill>
                          <a:latin typeface="Calibri"/>
                        </a:rPr>
                        <a:t>Tasha Brooks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2F38"/>
                          </a:solidFill>
                          <a:latin typeface="Calibri"/>
                        </a:rPr>
                        <a:t>GLP-1 volume drag (trend strength 0.81)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2F38"/>
                          </a:solidFill>
                          <a:latin typeface="Calibri"/>
                        </a:rPr>
                        <a:t>Structural pressure on family-size cereal volume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2F38"/>
                          </a:solidFill>
                          <a:latin typeface="Calibri"/>
                        </a:rPr>
                        <a:t>Pack-architecture work in the RGM plan (Report 45)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2F38"/>
                          </a:solidFill>
                          <a:latin typeface="Calibri"/>
                        </a:rPr>
                        <a:t>RGM Lead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seed_competitor_launches, seed_innovation_pipeline, seed_macro_trends.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Four decisions out of this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Q2 2026 Company BR  ·  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11533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576"/>
                <a:gridCol w="6001344"/>
                <a:gridCol w="2509653"/>
                <a:gridCol w="185496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Approve the $700K retail-media reallocation out of Amazon Ads into Walmart Connect, Kroger Precision and Louisiana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Tasha Brooks / CFO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By Aug 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Hold the FY26 revenue commitment on the protein build; reforecast H2 on May's run-rate, not on Q1's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Finance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H2 reforecast, July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Fix Walmart ProteinPeak distribution at the August line review rather than adding media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Marcus Boudreaux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Aug line review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Confirm Pack Refresh on-shelf for Aug 15 with a weekly stage-gate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Cory Whitman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From July 15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005840" cy="27432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2E7D75"/>
                </a:solidFill>
                <a:latin typeface="Calibri"/>
              </a:rPr>
              <a:t>THE ONE 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783080"/>
            <a:ext cx="10241280" cy="455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The trend turned. The base has not.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95448"/>
            <a:ext cx="9875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900"/>
              </a:spcAft>
            </a:pPr>
            <a:r>
              <a:rPr sz="1400" b="0" i="0">
                <a:solidFill>
                  <a:srgbClr val="C9D2DB"/>
                </a:solidFill>
                <a:latin typeface="Calibri"/>
              </a:rPr>
              <a:t>Q2 QTD -3.4% vs plan, improving from -5.3% in Q1.</a:t>
            </a:r>
          </a:p>
          <a:p>
            <a:pPr algn="l">
              <a:lnSpc>
                <a:spcPct val="124000"/>
              </a:lnSpc>
              <a:spcAft>
                <a:spcPts val="900"/>
              </a:spcAft>
            </a:pPr>
            <a:r>
              <a:rPr sz="1400" b="0" i="0">
                <a:solidFill>
                  <a:srgbClr val="C9D2DB"/>
                </a:solidFill>
                <a:latin typeface="Calibri"/>
              </a:rPr>
              <a:t>ProteinPeak is doing its job — 53% of launch volume is new to Acme.</a:t>
            </a:r>
          </a:p>
          <a:p>
            <a:pPr algn="l">
              <a:lnSpc>
                <a:spcPct val="124000"/>
              </a:lnSpc>
              <a:spcAft>
                <a:spcPts val="900"/>
              </a:spcAft>
            </a:pPr>
            <a:r>
              <a:rPr sz="1400" b="0" i="0">
                <a:solidFill>
                  <a:srgbClr val="C9D2DB"/>
                </a:solidFill>
                <a:latin typeface="Calibri"/>
              </a:rPr>
              <a:t>Crunchwell is still −6% a month, and that is the FY27 problem.</a:t>
            </a:r>
          </a:p>
          <a:p>
            <a:pPr algn="l">
              <a:lnSpc>
                <a:spcPct val="124000"/>
              </a:lnSpc>
              <a:spcAft>
                <a:spcPts val="900"/>
              </a:spcAft>
            </a:pPr>
            <a:r>
              <a:rPr sz="1400" b="0" i="0">
                <a:solidFill>
                  <a:srgbClr val="C9D2DB"/>
                </a:solidFill>
                <a:latin typeface="Calibri"/>
              </a:rPr>
              <a:t>Today's decision is the $700K reallocation.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19088"/>
            <a:ext cx="10424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Corp — Q2 FY2026 Company Business Review</dc:title>
  <dc:subject/>
  <dc:creator>Acme Corp (synthetic)</dc:creator>
  <cp:keywords/>
  <dc:description>Internal management presentation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