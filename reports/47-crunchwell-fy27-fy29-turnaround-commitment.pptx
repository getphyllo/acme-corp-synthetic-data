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" y="841248"/>
            <a:ext cx="182880" cy="182880"/>
          </a:xfrm>
          <a:prstGeom prst="ellipse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52144" y="841248"/>
            <a:ext cx="182880" cy="182880"/>
          </a:xfrm>
          <a:prstGeom prst="ellipse">
            <a:avLst/>
          </a:prstGeom>
          <a:solidFill>
            <a:srgbClr val="3E6D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040" y="841248"/>
            <a:ext cx="182880" cy="182880"/>
          </a:xfrm>
          <a:prstGeom prst="ellipse">
            <a:avLst/>
          </a:prstGeom>
          <a:solidFill>
            <a:srgbClr val="B98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2E7D75"/>
                </a:solidFill>
                <a:latin typeface="Calibri"/>
              </a:rPr>
              <a:t>THREE-YEAR TURNAROUND · STEERCO COMMITMENT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331720"/>
            <a:ext cx="10515600" cy="56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4100" b="1" i="0">
                <a:solidFill>
                  <a:srgbClr val="FFFFFF"/>
                </a:solidFill>
                <a:latin typeface="Calibri"/>
              </a:rPr>
              <a:t>Crunchwell FY27–FY29 Turnaround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78124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C9D2DB"/>
                </a:solidFill>
                <a:latin typeface="Calibri"/>
              </a:rPr>
              <a:t>What we are committing to, in what order, and the gates at which the committee can stop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Cory Whitman with Finance and Supply Chain · SteerCo, July 2026</a:t>
            </a:r>
          </a:p>
          <a:p>
            <a:pPr algn="l">
              <a:lnSpc>
                <a:spcPct val="118000"/>
              </a:lnSpc>
              <a:spcAft>
                <a:spcPts val="300"/>
              </a:spcAft>
            </a:pPr>
            <a:r>
              <a:rPr sz="1100" b="0" i="0">
                <a:solidFill>
                  <a:srgbClr val="5B6472"/>
                </a:solidFill>
                <a:latin typeface="Calibri"/>
              </a:rPr>
              <a:t>Internal management presentation · Internal · Confidential — synthetic demo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this deck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commitment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Where we are today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geography of the problem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8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Three-year sequence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105656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" y="423367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8" y="4242816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Year 1 — stabilise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8776" y="1472184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1600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75704" y="160934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Year 2 — rebuild relevance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8776" y="2130552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225856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75704" y="2267712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Year 3 — grow again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08776" y="2788920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36792" y="291693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75704" y="2926080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Gates and stop conditions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08776" y="3447288"/>
            <a:ext cx="5349240" cy="548640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57530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2E7D75"/>
                </a:solidFill>
                <a:latin typeface="Calibri"/>
              </a:rP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75704" y="3584448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1" i="0">
                <a:solidFill>
                  <a:srgbClr val="1F2A44"/>
                </a:solidFill>
                <a:latin typeface="Calibri"/>
              </a:rPr>
              <a:t>The ask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staged commitment, not a promise of growth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6492240" cy="1160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1000"/>
              </a:spcAft>
            </a:pPr>
            <a:r>
              <a:rPr sz="1450" b="0" i="0">
                <a:solidFill>
                  <a:srgbClr val="2B2F38"/>
                </a:solidFill>
                <a:latin typeface="Calibri"/>
              </a:rPr>
              <a:t>Crunchwell is $312M of FY25 revenue running −5.7 to −6.0% to plan every month of FY26, with a 340 bps hole in Louisiana and a five-point relevance decline nationally. The commitment is not a return to growth in FY27. It is stabilisation in FY27, relevance recovery in FY28, and growth in FY29 — with a hard gate at the end of each year.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96920"/>
            <a:ext cx="6492240" cy="32564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Year 1 (FY27): stabilise.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Hold revenue at ≈$318M, get Louisiana above 4.5%, land the Pack Refresh, cap trade depth. No growth commitment.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Year 2 (FY28): rebuild relevance.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Relevance to 65+, Modernity to 52, Mega Family Pack in market, Maiz Crunch through Stage-4.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Year 3 (FY29): grow.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+2% revenue growth with trade rate down from 25.6% to 22% of gross.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Stop conditions are explicit.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If the Year-1 gate fails, the committee reallocates Crunchwell A&amp;P to ProteinPeak and TrailGrove rather than funding Year 2.</a:t>
            </a:r>
          </a:p>
        </p:txBody>
      </p:sp>
      <p:sp>
        <p:nvSpPr>
          <p:cNvPr id="9" name="Rectangle 8"/>
          <p:cNvSpPr/>
          <p:nvPr/>
        </p:nvSpPr>
        <p:spPr>
          <a:xfrm>
            <a:off x="7543800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90104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-5.8%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0104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FY26 AVERAGE VARIANCE TO PLAN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12096" y="1435608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0" y="1581912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4.16%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0" y="2093976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LOUISIANA VALUE SHARE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543800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0104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62.7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0104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RELEVANCE TOP-TWO-BOX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912096" y="2734056"/>
            <a:ext cx="2148840" cy="1133856"/>
          </a:xfrm>
          <a:prstGeom prst="rect">
            <a:avLst/>
          </a:prstGeom>
          <a:solidFill>
            <a:srgbClr val="F5F7F9"/>
          </a:solidFill>
          <a:ln w="6350">
            <a:solidFill>
              <a:srgbClr val="C9D2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88036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200" b="1" i="0">
                <a:solidFill>
                  <a:srgbClr val="1F2A44"/>
                </a:solidFill>
                <a:latin typeface="Calibri"/>
              </a:rPr>
              <a:t>$318M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0" y="3392424"/>
            <a:ext cx="18745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1" i="0">
                <a:solidFill>
                  <a:srgbClr val="5B6472"/>
                </a:solidFill>
                <a:latin typeface="Calibri"/>
              </a:rPr>
              <a:t>FY27 REVENUE COMMITMENT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A consistent, structural gap — not a bad month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3</a:t>
            </a:r>
          </a:p>
        </p:txBody>
      </p:sp>
      <p:pic>
        <p:nvPicPr>
          <p:cNvPr id="7" name="Picture 6" descr="r47_v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69822"/>
            <a:ext cx="6492240" cy="244520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60920" y="1472184"/>
            <a:ext cx="4206240" cy="4581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Every month of FY26 lands between -6.0% and -5.7%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against a flat $25.19M monthly plan.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Consistency is the diagnosis: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this is base erosion, not promotional timing.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Louisiana explains roughly a third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of the absolute gap; the rest is national relevance decay.</a:t>
            </a:r>
          </a:p>
          <a:p>
            <a:pPr>
              <a:lnSpc>
                <a:spcPct val="120000"/>
              </a:lnSpc>
              <a:spcAft>
                <a:spcPts val="713"/>
              </a:spcAft>
            </a:pPr>
            <a:r>
              <a:rPr sz="1150" b="1">
                <a:solidFill>
                  <a:srgbClr val="2E7D75"/>
                </a:solidFill>
                <a:latin typeface="Calibri"/>
              </a:rPr>
              <a:t>—  </a:t>
            </a:r>
            <a:r>
              <a:rPr sz="1150" b="1" i="0">
                <a:solidFill>
                  <a:srgbClr val="2B2F38"/>
                </a:solidFill>
                <a:latin typeface="Calibri"/>
              </a:rPr>
              <a:t>The Pack Refresh is the only structural change</a:t>
            </a:r>
            <a:r>
              <a:rPr sz="1150" b="0" i="0">
                <a:solidFill>
                  <a:srgbClr val="2B2F38"/>
                </a:solidFill>
                <a:latin typeface="Calibri"/>
              </a:rPr>
              <a:t> landing inside FY26.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plan_vs_actual, Crunchwell, 2026-01 to 2026-05.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GEOGRAPHY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battlefields, two leading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4</a:t>
            </a:r>
          </a:p>
        </p:txBody>
      </p:sp>
      <p:pic>
        <p:nvPicPr>
          <p:cNvPr id="7" name="Picture 6" descr="r47_ge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02564"/>
            <a:ext cx="6309360" cy="2524854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132320" y="1490472"/>
          <a:ext cx="441654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3296"/>
                <a:gridCol w="662482"/>
                <a:gridCol w="706648"/>
                <a:gridCol w="662482"/>
                <a:gridCol w="971641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Market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FY25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Q1 FY26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Δ bps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850" b="1">
                          <a:solidFill>
                            <a:srgbClr val="FFFFFF"/>
                          </a:solidFill>
                          <a:latin typeface="Calibri"/>
                        </a:rPr>
                        <a:t>Tier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Louisiana DMA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-340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New Orleans-Metairie 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5.1%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3.0%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-210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Baton Rouge MSA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5.8%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4.2%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-160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Battlefield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Lafayette LA MSA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6.2%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5.5%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-70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Southeast US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4.4%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-50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Under-indexed 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Mississippi DMA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5.3%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4.9%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-40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Watch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Texas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6.3%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6.0%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-30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900" b="0">
                          <a:solidFill>
                            <a:srgbClr val="2B2F38"/>
                          </a:solidFill>
                          <a:latin typeface="Calibri"/>
                        </a:rPr>
                        <a:t>Mid-strong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seed_geographies.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Three years, three different jobs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2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038"/>
                <a:gridCol w="1854960"/>
                <a:gridCol w="2400537"/>
                <a:gridCol w="3928152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Revenue commitment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Lead measures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Calibri"/>
                        </a:rPr>
                        <a:t>Gate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Stabilise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$318M (+1.9% on FY25 actual)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LA share ≥4.5%; Pack Refresh 90% ACV; trade index ≥0.60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Q4 FY27 SteerCo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FY28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Rebuild relevance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$326M (+2.5%)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Relevance ≥65; Modernity ≥52; Mega Family in market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Q4 FY28 SteerCo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FY29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Grow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$336M (+3.1%)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Trade rate ≤22% of gross; two new SKUs at scale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B2F38"/>
                          </a:solidFill>
                          <a:latin typeface="Calibri"/>
                        </a:rPr>
                        <a:t>FY30 planning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Revenue commitments are targets; FY27 matches the AOP brand build (Report 14). Base = FY25 actual from seeds/skus.csv.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YEAR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happens in FY2027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6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5349240" cy="402336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THE FOUR WORKSTREAMS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Pack Refresh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hero SKUs on shelf Aug 15 2026, $28M year-1 revenue target, confidence 0.82.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Louisiana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facing restoration at Walmart (6 → 8 on Mega), targeted Rouses trade, LA retail-media injection at 2.2× national ROI.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Relevance platform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new creative platform launches with the pack.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1" i="0">
                <a:solidFill>
                  <a:srgbClr val="2B2F38"/>
                </a:solidFill>
                <a:latin typeface="Calibri"/>
              </a:rPr>
              <a:t>Trade reset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 — Mega depth capped at 20%, event count down ~15%, index to 0.60.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08776" y="1417320"/>
            <a:ext cx="5349240" cy="402336"/>
          </a:xfrm>
          <a:prstGeom prst="rect">
            <a:avLst/>
          </a:prstGeom>
          <a:solidFill>
            <a:srgbClr val="5B6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17904"/>
            <a:ext cx="50749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WHAT WE ARE EXPLICITLY NOT DOING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45352" y="1984248"/>
            <a:ext cx="5257800" cy="4069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Not cutting list price. Elasticity on Mega packs (−1.84 to −2.12) means price cuts buy volume and lose the reference price.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Not adding Kids Sweet innovation — the segment is −2.8%.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Not chasing protein with Crunchwell branding; that is ProteinPeak's job.</a:t>
            </a:r>
          </a:p>
          <a:p>
            <a:pPr>
              <a:lnSpc>
                <a:spcPct val="120000"/>
              </a:lnSpc>
              <a:spcAft>
                <a:spcPts val="744"/>
              </a:spcAft>
            </a:pPr>
            <a:r>
              <a:rPr sz="1200" b="1">
                <a:solidFill>
                  <a:srgbClr val="2E7D75"/>
                </a:solidFill>
                <a:latin typeface="Calibri"/>
              </a:rPr>
              <a:t>—  </a:t>
            </a:r>
            <a:r>
              <a:rPr sz="1200" b="0" i="0">
                <a:solidFill>
                  <a:srgbClr val="2B2F38"/>
                </a:solidFill>
                <a:latin typeface="Calibri"/>
              </a:rPr>
              <a:t>Not defending every DMA. Northeast under-indexing stays under-indexed in FY27.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632704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seed_innovation_pipeline, seed_sku_elasticity_estimates, seed_walmart_endcap_audit_la, seed_category_market_size.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GATES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The stop conditions, agreed up front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18768"/>
                <a:gridCol w="2618768"/>
                <a:gridCol w="3928152"/>
                <a:gridCol w="1745845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Impact if it lands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LA share below 4.0% at Q4 FY27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Year-1 gate fails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Reallocate LA trade and media to ProteinPeak/TrailGrove; hold Crunchwell at maintenance A&amp;P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SteerCo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Pack Refresh ACV below 80% by Q4 FY27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Distribution thesis fails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Renegotiate at Q1 FY28 line reviews before further pack investment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Marcus Boudreaux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Relevance still below 63 at Q4 FY28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Platform fails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Stop the platform, move to a harvest plan on Crunchwell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VP Brand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Trade index below 0.55 at Q4 FY27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Efficiency thesis fails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Trade Finance takes calendar control from the NAM team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2B2F38"/>
                          </a:solidFill>
                          <a:latin typeface="Calibri"/>
                        </a:rPr>
                        <a:t>CFO / RGM Lead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5669280"/>
            <a:ext cx="10911535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050" b="0" i="0">
                <a:solidFill>
                  <a:srgbClr val="5B6472"/>
                </a:solidFill>
                <a:latin typeface="Calibri"/>
              </a:rPr>
              <a:t>Source: agreed SteerCo stop conditions; measures from syndicated_weekly, sku_authorization, brand_equity_quarterly, seed_trade_promo_events_q1_2026.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00" b="1" i="0">
                <a:solidFill>
                  <a:srgbClr val="2E7D75"/>
                </a:solidFill>
                <a:latin typeface="Calibri"/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76656"/>
            <a:ext cx="10911535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500" b="1" i="0">
                <a:solidFill>
                  <a:srgbClr val="1F2A44"/>
                </a:solidFill>
                <a:latin typeface="Calibri"/>
              </a:rPr>
              <a:t>What the SteerCo signs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43584"/>
            <a:ext cx="1005840" cy="22860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412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19088"/>
            <a:ext cx="112471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Crunchwell turnaround  ·  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11533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"/>
                <a:gridCol w="6001344"/>
                <a:gridCol w="2509653"/>
                <a:gridCol w="185496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Owner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64008" marR="64008" marT="27432" marB="27432" anchor="ctr">
                    <a:solidFill>
                      <a:srgbClr val="1F2A4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three-year staged commitment with FY27 as a stabilisation year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SteerCo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Approve the four Year-1 workstreams and their owners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Agree the four stop conditions and the consequence of each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SteerCo / CFO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July 2026</a:t>
                      </a:r>
                    </a:p>
                  </a:txBody>
                  <a:tcPr marL="64008" marR="64008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Report the four Year-1 lead measures monthly, not quarterly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Cory Whitman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050" b="0">
                          <a:solidFill>
                            <a:srgbClr val="2B2F38"/>
                          </a:solidFill>
                          <a:latin typeface="Calibri"/>
                        </a:rPr>
                        <a:t>From August</a:t>
                      </a:r>
                    </a:p>
                  </a:txBody>
                  <a:tcPr marL="64008" marR="64008" marT="18288" marB="18288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005840" cy="27432"/>
          </a:xfrm>
          <a:prstGeom prst="rect">
            <a:avLst/>
          </a:prstGeom>
          <a:solidFill>
            <a:srgbClr val="2E7D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4241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2E7D75"/>
                </a:solidFill>
                <a:latin typeface="Calibri"/>
              </a:rPr>
              <a:t>THE ONE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241280" cy="455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Stabilise, then earn the right to grow.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95448"/>
            <a:ext cx="987552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FY27 is a stabilisation commitment: $318M and Louisiana above 4.5%.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The gates are agreed now, while everyone is calm.</a:t>
            </a:r>
          </a:p>
          <a:p>
            <a:pPr algn="l">
              <a:lnSpc>
                <a:spcPct val="124000"/>
              </a:lnSpc>
              <a:spcAft>
                <a:spcPts val="900"/>
              </a:spcAft>
            </a:pPr>
            <a:r>
              <a:rPr sz="1400" b="0" i="0">
                <a:solidFill>
                  <a:srgbClr val="C9D2DB"/>
                </a:solidFill>
                <a:latin typeface="Calibri"/>
              </a:rPr>
              <a:t>If Year 1 fails, the money moves.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19088"/>
            <a:ext cx="10424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750" b="0" i="0">
                <a:solidFill>
                  <a:srgbClr val="5B6472"/>
                </a:solidFill>
                <a:latin typeface="Calibri"/>
              </a:rPr>
              <a:t>Internal · Confidential — Acme Corp synthetic demo data. Fictional; not for real decision-making.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Crunchwell FY27–FY29 Turnaround</dc:title>
  <dc:subject/>
  <dc:creator>Acme Corp (synthetic)</dc:creator>
  <cp:keywords/>
  <dc:description>Internal management presentation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