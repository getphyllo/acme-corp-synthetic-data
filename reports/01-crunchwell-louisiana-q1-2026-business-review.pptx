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QUARTERLY BUSINESS REVIEW · CEREALS SOUTH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Crunchwell Louisiana Share Decline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103327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CEE6"/>
                </a:solidFill>
                <a:latin typeface="Calibri"/>
              </a:rPr>
              <a:t>Q1 2026 root-cause read-out and three-leg recovery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2A6"/>
                </a:solidFill>
                <a:latin typeface="Calibri"/>
              </a:rPr>
              <a:t>Maya Chen, Senior Insights Analyst   ·   Prepared for Diane Halverson, VP Sales NA   ·   May 13,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0392B"/>
                </a:solidFill>
                <a:latin typeface="Calibri"/>
              </a:rPr>
              <a:t>THE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3182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40080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13182B"/>
                </a:solidFill>
                <a:latin typeface="Calibri"/>
              </a:rPr>
              <a:t>Crunchwell's brand share in the Louisiana DMA fell 340 basis points in the 12 weeks ending March 29, 2026 vs. the same period prior year — the largest single-DMA decline in the cereal core in six fiscal years.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5B6478"/>
                </a:solidFill>
                <a:latin typeface="Calibri"/>
              </a:rPr>
              <a:t>The decline is not random. It is the compounding effect of five root causes — concentrated in Original Mega and Honey Nut Mega, in New Orleans–Metairie and Baton Rouge, in the Mass and Grocery channels.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478"/>
                </a:solidFill>
                <a:latin typeface="Calibri"/>
              </a:rPr>
              <a:t>Three of the five causes were addressable earlier than they were addressed. No single tool synthesized the signals until six weeks after the worst of the damage.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371600"/>
            <a:ext cx="2121408" cy="123444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0392B"/>
                </a:solidFill>
                <a:latin typeface="Calibri"/>
              </a:rPr>
              <a:t>−340 bps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182B"/>
                </a:solidFill>
                <a:latin typeface="Calibri"/>
              </a:rPr>
              <a:t>LA share loss, Q1 2026 YoY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371600"/>
            <a:ext cx="2121408" cy="123444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0392B"/>
                </a:solidFill>
                <a:latin typeface="Calibri"/>
              </a:rPr>
              <a:t>−$4.2M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182B"/>
                </a:solidFill>
                <a:latin typeface="Calibri"/>
              </a:rPr>
              <a:t>Annualized revenue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2743200"/>
            <a:ext cx="2121408" cy="123444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B5BDB"/>
                </a:solidFill>
                <a:latin typeface="Calibri"/>
              </a:rPr>
              <a:t>5.7%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182B"/>
                </a:solidFill>
                <a:latin typeface="Calibri"/>
              </a:rPr>
              <a:t>Crunchwell US avg (LA −270 bps)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0"/>
            <a:ext cx="2121408" cy="123444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8A33D"/>
                </a:solidFill>
                <a:latin typeface="Calibri"/>
              </a:rPr>
              <a:t>7 mo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182B"/>
                </a:solidFill>
                <a:latin typeface="Calibri"/>
              </a:rPr>
              <a:t>Lag on the earliest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4251960"/>
            <a:ext cx="438912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buFont typeface="Arial"/>
              <a:buChar char="•"/>
            </a:pPr>
            <a:r>
              <a:rPr sz="1150" b="0" i="0">
                <a:solidFill>
                  <a:srgbClr val="13182B"/>
                </a:solidFill>
                <a:latin typeface="Calibri"/>
              </a:rPr>
              <a:t>Mass channel −470 bps; Grocery −380 bps</a:t>
            </a:r>
          </a:p>
          <a:p>
            <a:pPr>
              <a:lnSpc>
                <a:spcPct val="105000"/>
              </a:lnSpc>
              <a:spcAft>
                <a:spcPts val="700"/>
              </a:spcAft>
              <a:buFont typeface="Arial"/>
              <a:buChar char="•"/>
            </a:pPr>
            <a:r>
              <a:rPr sz="1150" b="0" i="0">
                <a:solidFill>
                  <a:srgbClr val="13182B"/>
                </a:solidFill>
                <a:latin typeface="Calibri"/>
              </a:rPr>
              <a:t>Original Mega −560 bps; Honey Nut Mega −490 bps</a:t>
            </a:r>
          </a:p>
          <a:p>
            <a:pPr>
              <a:lnSpc>
                <a:spcPct val="105000"/>
              </a:lnSpc>
              <a:spcAft>
                <a:spcPts val="700"/>
              </a:spcAft>
              <a:buFont typeface="Arial"/>
              <a:buChar char="•"/>
            </a:pPr>
            <a:r>
              <a:rPr sz="1150" b="0" i="0">
                <a:solidFill>
                  <a:srgbClr val="13182B"/>
                </a:solidFill>
                <a:latin typeface="Calibri"/>
              </a:rPr>
              <a:t>Walmart = 38% of LA cereal volume (vs 31% national)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Internal · Confidential — Acme Corp synthetic demo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55664"/>
            <a:ext cx="9601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0392B"/>
                </a:solidFill>
                <a:latin typeface="Calibri"/>
              </a:rPr>
              <a:t>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3182B"/>
                </a:solidFill>
                <a:latin typeface="Calibri"/>
              </a:rPr>
              <a:t>The six-quarter slide into Q1 2026</a:t>
            </a:r>
          </a:p>
        </p:txBody>
      </p:sp>
      <p:pic>
        <p:nvPicPr>
          <p:cNvPr id="5" name="Picture 4" descr="la_qbr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040880" cy="351517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0" y="1554480"/>
          <a:ext cx="3931920" cy="2688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1097280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Quarter</a:t>
                      </a:r>
                    </a:p>
                  </a:txBody>
                  <a:tcPr marL="88900" marR="63500" marT="25400" marB="25400" anchor="ctr"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88900" marR="63500" marT="25400" marB="25400" anchor="ctr"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YoY</a:t>
                      </a:r>
                    </a:p>
                  </a:txBody>
                  <a:tcPr marL="88900" marR="63500" marT="25400" marB="25400" anchor="ctr">
                    <a:solidFill>
                      <a:srgbClr val="C0392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Q4 2024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6.4%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+20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Q1 2025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6.6%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+30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Q2 2025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6.5%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+10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Q3 2025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6.1%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-40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Q4 2025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5.4%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-110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Q1 2026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-340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4572000"/>
            <a:ext cx="393192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5B6478"/>
                </a:solidFill>
                <a:latin typeface="Calibri"/>
              </a:rPr>
              <a:t>Q4 2025 was the early warning — down 110 bps. It read three months before the Q1 alarm. The signal existed; nobody acted on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Internal · Confidential — Acme Corp synthetic demo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9601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0392B"/>
                </a:solidFill>
                <a:latin typeface="Calibri"/>
              </a:rPr>
              <a:t>CHANNEL AND SKU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3182B"/>
                </a:solidFill>
                <a:latin typeface="Calibri"/>
              </a:rPr>
              <a:t>Where the loss concentrates</a:t>
            </a:r>
          </a:p>
        </p:txBody>
      </p:sp>
      <p:pic>
        <p:nvPicPr>
          <p:cNvPr id="5" name="Picture 4" descr="la_qbr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5532120" cy="2623231"/>
          </a:xfrm>
          <a:prstGeom prst="rect">
            <a:avLst/>
          </a:prstGeom>
        </p:spPr>
      </p:pic>
      <p:pic>
        <p:nvPicPr>
          <p:cNvPr id="6" name="Picture 5" descr="la_qbr_sk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71600"/>
            <a:ext cx="5532120" cy="28646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074920"/>
            <a:ext cx="1088136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3182B"/>
                </a:solidFill>
                <a:latin typeface="Calibri"/>
              </a:rPr>
              <a:t>The Mega and Multigrain SKUs that lost facings in the September 2025 Walmart modular reset are exactly the SKUs taking the largest share losses. This is a distribution problem compounded by competitive promo and a supply disruption — not a brand-health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Internal · Confidential — Acme Corp synthetic demo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9601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0392B"/>
                </a:solidFill>
                <a:latin typeface="Calibri"/>
              </a:rPr>
              <a:t>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3182B"/>
                </a:solidFill>
                <a:latin typeface="Calibri"/>
              </a:rPr>
              <a:t>Five hypotheses, one attribution</a:t>
            </a:r>
          </a:p>
        </p:txBody>
      </p:sp>
      <p:pic>
        <p:nvPicPr>
          <p:cNvPr id="5" name="Picture 4" descr="la_qbr_hy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6583680" cy="2671163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60920" y="1600200"/>
          <a:ext cx="4389120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Hypothesis</a:t>
                      </a:r>
                    </a:p>
                  </a:txBody>
                  <a:tcPr marL="88900" marR="63500" marT="25400" marB="25400" anchor="ctr"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Contribution</a:t>
                      </a:r>
                    </a:p>
                  </a:txBody>
                  <a:tcPr marL="88900" marR="63500" marT="25400" marB="25400" anchor="ctr">
                    <a:solidFill>
                      <a:srgbClr val="C039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3182B"/>
                          </a:solidFill>
                          <a:latin typeface="Calibri"/>
                        </a:rPr>
                        <a:t>H1 · Walmart Sept-2025 facing reset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3182B"/>
                          </a:solidFill>
                          <a:latin typeface="Calibri"/>
                        </a:rPr>
                        <a:t>55% (-187 bps)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3182B"/>
                          </a:solidFill>
                          <a:latin typeface="Calibri"/>
                        </a:rPr>
                        <a:t>H2 · Larksfield promo intensification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3182B"/>
                          </a:solidFill>
                          <a:latin typeface="Calibri"/>
                        </a:rPr>
                        <a:t>20% (-68 bps)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3182B"/>
                          </a:solidFill>
                          <a:latin typeface="Calibri"/>
                        </a:rPr>
                        <a:t>H3 · Hurricane Tonya / Houston DC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3182B"/>
                          </a:solidFill>
                          <a:latin typeface="Calibri"/>
                        </a:rPr>
                        <a:t>12% (-41 bps)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3182B"/>
                          </a:solidFill>
                          <a:latin typeface="Calibri"/>
                        </a:rPr>
                        <a:t>H5 · Walmart Great Value PL growth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3182B"/>
                          </a:solidFill>
                          <a:latin typeface="Calibri"/>
                        </a:rPr>
                        <a:t>8% (-27 bps)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3182B"/>
                          </a:solidFill>
                          <a:latin typeface="Calibri"/>
                        </a:rPr>
                        <a:t>H4 · Hispanic demographic shift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3182B"/>
                          </a:solidFill>
                          <a:latin typeface="Calibri"/>
                        </a:rPr>
                        <a:t>5% (-17 bps)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60920" y="4480560"/>
            <a:ext cx="438912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8"/>
                </a:solidFill>
                <a:latin typeface="Calibri"/>
              </a:rPr>
              <a:t>H1 (Walmart facing reset) is the primary driver at ~55%. H2–H5 compound it. H4 and H5 are contextual — real but slow, and cannot account for a 12-week move.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Internal · Confidential — Acme Corp synthetic demo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9601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0392B"/>
                </a:solidFill>
                <a:latin typeface="Calibri"/>
              </a:rPr>
              <a:t>PRIMARY DRIVER · ~55% OF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3182B"/>
                </a:solidFill>
                <a:latin typeface="Calibri"/>
              </a:rPr>
              <a:t>H1 — Walmart Sept-2025 modular reset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0392B"/>
                </a:solidFill>
                <a:latin typeface="Calibri"/>
              </a:rPr>
              <a:t>8 → 6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182B"/>
                </a:solidFill>
                <a:latin typeface="Calibri"/>
              </a:rPr>
              <a:t>Crunchwell facings cut at 84% of LA Walmart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6304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F9E44"/>
                </a:solidFill>
                <a:latin typeface="Calibri"/>
              </a:rPr>
              <a:t>+4%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182B"/>
                </a:solidFill>
                <a:latin typeface="Calibri"/>
              </a:rPr>
              <a:t>Velocity per facing (demand outran shelf)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8A33D"/>
                </a:solidFill>
                <a:latin typeface="Calibri"/>
              </a:rPr>
              <a:t>4.1% → 11.8%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182B"/>
                </a:solidFill>
                <a:latin typeface="Calibri"/>
              </a:rPr>
              <a:t>Crunchwell Mega OOS rate, LA Walmart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FY24 → Q1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46304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B5BDB"/>
                </a:solidFill>
                <a:latin typeface="Calibri"/>
              </a:rPr>
              <a:t>38%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182B"/>
                </a:solidFill>
                <a:latin typeface="Calibri"/>
              </a:rPr>
              <a:t>Walmart share of LA cereal volume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vs 31% national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097280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buFont typeface="Arial"/>
              <a:buChar char="•"/>
            </a:pPr>
            <a:r>
              <a:rPr sz="1250" b="0" i="0">
                <a:solidFill>
                  <a:srgbClr val="13182B"/>
                </a:solidFill>
                <a:latin typeface="Calibri"/>
              </a:rPr>
              <a:t>Walmart's South division applied a 'regional sweetened-cereal demand index' that under-weighted Crunchwell's actual velocities — the four affected SKUs were Original Mega, Honey Nut Mega, Multigrain and Cinnamon Twist.</a:t>
            </a:r>
          </a:p>
          <a:p>
            <a:pPr>
              <a:lnSpc>
                <a:spcPct val="105000"/>
              </a:lnSpc>
              <a:spcAft>
                <a:spcPts val="900"/>
              </a:spcAft>
              <a:buFont typeface="Arial"/>
              <a:buChar char="•"/>
            </a:pPr>
            <a:r>
              <a:rPr sz="1250" b="0" i="0">
                <a:solidFill>
                  <a:srgbClr val="13182B"/>
                </a:solidFill>
                <a:latin typeface="Calibri"/>
              </a:rPr>
              <a:t>A 2-facing cut is proportionally more painful in the South, where Walmart runs a smaller Crunchwell modular than the national average.</a:t>
            </a:r>
          </a:p>
          <a:p>
            <a:pPr>
              <a:lnSpc>
                <a:spcPct val="105000"/>
              </a:lnSpc>
              <a:spcAft>
                <a:spcPts val="900"/>
              </a:spcAft>
              <a:buFont typeface="Arial"/>
              <a:buChar char="•"/>
            </a:pPr>
            <a:r>
              <a:rPr sz="1250" b="0" i="0">
                <a:solidFill>
                  <a:srgbClr val="13182B"/>
                </a:solidFill>
                <a:latin typeface="Calibri"/>
              </a:rPr>
              <a:t>Field audit (May 11): 0 Acme endcaps and 23 of 41 LA Walmart Supercenters carrying three Larksfield endcaps. We are losing real estate, not consumers.</a:t>
            </a:r>
          </a:p>
          <a:p>
            <a:pPr>
              <a:lnSpc>
                <a:spcPct val="105000"/>
              </a:lnSpc>
              <a:spcAft>
                <a:spcPts val="900"/>
              </a:spcAft>
              <a:buFont typeface="Arial"/>
              <a:buChar char="•"/>
            </a:pPr>
            <a:r>
              <a:rPr sz="1250" b="0" i="0">
                <a:solidFill>
                  <a:srgbClr val="13182B"/>
                </a:solidFill>
                <a:latin typeface="Calibri"/>
              </a:rPr>
              <a:t>Owner of fix: Tom Reilly (NAM Walmart) — August 2026 line review. Asking for 2 facings back, anchored on velocity-per-facing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Internal · Confidential — Acme Corp synthetic demo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9601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0392B"/>
                </a:solidFill>
                <a:latin typeface="Calibri"/>
              </a:rPr>
              <a:t>SECONDARY &amp; TERTIARY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3182B"/>
                </a:solidFill>
                <a:latin typeface="Calibri"/>
              </a:rPr>
              <a:t>H2 &amp; H3 — competitor promo and the storm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93776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H2 · Larksfield promo intensification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1">
                <a:solidFill>
                  <a:srgbClr val="5B6478"/>
                </a:solidFill>
                <a:latin typeface="Calibri"/>
              </a:rPr>
              <a:t>~20% of impact (−68 bps)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13182B"/>
                </a:solidFill>
                <a:latin typeface="Calibri"/>
              </a:rPr>
              <a:t>14-week cadence at Rouses &amp; Brookshire's from late Oct 2025; $0.50 off Field &amp; Honey 14oz vs Acme's $0.40.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13182B"/>
                </a:solidFill>
                <a:latin typeface="Calibri"/>
              </a:rPr>
              <a:t>Field &amp; Honey LA household reach +11% Q4'25 → Q1'26 (Numerator).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13182B"/>
                </a:solidFill>
                <a:latin typeface="Calibri"/>
              </a:rPr>
              <a:t>14% of LA Crunchwell lapsed buyers went to Field &amp; Honey at next purchase, vs 6% baseline.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13182B"/>
                </a:solidFill>
                <a:latin typeface="Calibri"/>
              </a:rPr>
              <a:t>Acme's trade pullback (26% → 22%) coincided exactly with Larksfield's push. We blinked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93776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H3 · Hurricane Tonya / Houston DC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1">
                <a:solidFill>
                  <a:srgbClr val="5B6478"/>
                </a:solidFill>
                <a:latin typeface="Calibri"/>
              </a:rPr>
              <a:t>~12% of impact (−41 bps)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13182B"/>
                </a:solidFill>
                <a:latin typeface="Calibri"/>
              </a:rPr>
              <a:t>Landfall near Beaumont TX, Nov 8 2025. Houston DC offline 9 days, then 60% capacity for 18 more.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13182B"/>
                </a:solidFill>
                <a:latin typeface="Calibri"/>
              </a:rPr>
              <a:t>Crunchwell Mega volume to LA stores down 47% in the Nov 9 – Dec 10 window.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13182B"/>
                </a:solidFill>
                <a:latin typeface="Calibri"/>
              </a:rPr>
              <a:t>23 OOS escalations logged from LA stores; Walmart.com served Cheerios and Field &amp; Honey as substitutes.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13182B"/>
                </a:solidFill>
                <a:latin typeface="Calibri"/>
              </a:rPr>
              <a:t>Supply restored mid-January. The residual is long-tail repeat behavior — shoppers who stuck with F&amp;H.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Internal · Confidential — Acme Corp synthetic demo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9601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0392B"/>
                </a:solidFill>
                <a:latin typeface="Calibri"/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3182B"/>
                </a:solidFill>
                <a:latin typeface="Calibri"/>
              </a:rPr>
              <a:t>Three-leg recovery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6492240" cy="137160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612648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9E44"/>
                </a:solidFill>
                <a:latin typeface="Calibri"/>
              </a:rPr>
              <a:t>Leg 1 · Tactical trade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B6478"/>
                </a:solidFill>
                <a:latin typeface="Calibri"/>
              </a:rPr>
              <a:t>Immediate — 4 weeks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3182B"/>
                </a:solidFill>
                <a:latin typeface="Calibri"/>
              </a:rPr>
              <a:t>$0.55 off Mega + Honey Nut Mega at Rouses from May 25. ~$280K. +120 bps by end June. Owner: Marcus Boudreaux.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44368"/>
            <a:ext cx="6492240" cy="137160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612648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B5BDB"/>
                </a:solidFill>
                <a:latin typeface="Calibri"/>
              </a:rPr>
              <a:t>Leg 2 · Walmart facings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B6478"/>
                </a:solidFill>
                <a:latin typeface="Calibri"/>
              </a:rPr>
              <a:t>Medium — Aug line review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3182B"/>
                </a:solidFill>
                <a:latin typeface="Calibri"/>
              </a:rPr>
              <a:t>Recover 2 facings on Mega + Honey Nut Mega. +150–180 bps if both approved (+70–90 if one). Owner: Tom Reilly + Priya Raman.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425696"/>
            <a:ext cx="6492240" cy="137160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44568"/>
            <a:ext cx="612648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Leg 3 · Supply + equity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B6478"/>
                </a:solidFill>
                <a:latin typeface="Calibri"/>
              </a:rPr>
              <a:t>Ongoing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3182B"/>
                </a:solidFill>
                <a:latin typeface="Calibri"/>
              </a:rPr>
              <a:t>Memphis 3PL pre-positioning for hurricane season; $1.4M LA media behind the pack refresh in Q3. +50–80 bps by Q4. Owner: Devraj + Hugo Lin.</a:t>
            </a:r>
          </a:p>
        </p:txBody>
      </p:sp>
      <p:pic>
        <p:nvPicPr>
          <p:cNvPr id="11" name="Picture 10" descr="la_qbr_re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480560" cy="21866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0" y="4526280"/>
            <a:ext cx="44805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5B6478"/>
                </a:solidFill>
                <a:latin typeface="Calibri"/>
              </a:rPr>
              <a:t>Land all three legs → flat by Q3, growing by Q4. If the Walmart line review fails, recovery extends into mid-2027.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Internal · Confidential — Acme Corp synthetic demo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55664"/>
            <a:ext cx="9601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0392B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3182B"/>
                </a:solidFill>
                <a:latin typeface="Calibri"/>
              </a:rPr>
              <a:t>Recommendation to the board — May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926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buFont typeface="Arial"/>
              <a:buChar char="•"/>
            </a:pPr>
            <a:r>
              <a:rPr sz="1500" b="0" i="0">
                <a:solidFill>
                  <a:srgbClr val="13182B"/>
                </a:solidFill>
                <a:latin typeface="Calibri"/>
              </a:rPr>
              <a:t>Approve the three-leg recovery plan as outlined.</a:t>
            </a:r>
          </a:p>
          <a:p>
            <a:pPr>
              <a:lnSpc>
                <a:spcPct val="105000"/>
              </a:lnSpc>
              <a:spcAft>
                <a:spcPts val="1400"/>
              </a:spcAft>
              <a:buFont typeface="Arial"/>
              <a:buChar char="•"/>
            </a:pPr>
            <a:r>
              <a:rPr sz="1500" b="0" i="0">
                <a:solidFill>
                  <a:srgbClr val="13182B"/>
                </a:solidFill>
                <a:latin typeface="Calibri"/>
              </a:rPr>
              <a:t>Approve the $280K tactical trade injection at Rouses (Q2 only, hard end date).</a:t>
            </a:r>
          </a:p>
          <a:p>
            <a:pPr>
              <a:lnSpc>
                <a:spcPct val="105000"/>
              </a:lnSpc>
              <a:spcAft>
                <a:spcPts val="1400"/>
              </a:spcAft>
              <a:buFont typeface="Arial"/>
              <a:buChar char="•"/>
            </a:pPr>
            <a:r>
              <a:rPr sz="1500" b="0" i="0">
                <a:solidFill>
                  <a:srgbClr val="13182B"/>
                </a:solidFill>
                <a:latin typeface="Calibri"/>
              </a:rPr>
              <a:t>Affirm support for the August Walmart line-review facing push.</a:t>
            </a:r>
          </a:p>
          <a:p>
            <a:pPr>
              <a:lnSpc>
                <a:spcPct val="105000"/>
              </a:lnSpc>
              <a:spcAft>
                <a:spcPts val="1400"/>
              </a:spcAft>
              <a:buFont typeface="Arial"/>
              <a:buChar char="•"/>
            </a:pPr>
            <a:r>
              <a:rPr sz="1500" b="0" i="0">
                <a:solidFill>
                  <a:srgbClr val="13182B"/>
                </a:solidFill>
                <a:latin typeface="Calibri"/>
              </a:rPr>
              <a:t>Note the systemic gap: Acme's intelligence stack does not synthesize signals across tools fast enough to catch a Louisiana-style decline early. Sponsor the platform-consolidation effort with a mandate to close time-to-insight on regional shifts to under 30 days.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92040"/>
            <a:ext cx="11064240" cy="1143000"/>
          </a:xfrm>
          <a:prstGeom prst="roundRect">
            <a:avLst>
              <a:gd name="adj" fmla="val 6000"/>
            </a:avLst>
          </a:prstGeom>
          <a:solidFill>
            <a:srgbClr val="13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60704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FFFFFF"/>
                </a:solidFill>
                <a:latin typeface="Calibri"/>
              </a:rPr>
              <a:t>“The first time a single human had all five signals on one page was May 12, 2026 — six weeks after the worst of the damage was done.”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FA8C4"/>
                </a:solidFill>
                <a:latin typeface="Calibri"/>
              </a:rPr>
              <a:t>— Maya Chen, Q1 2026 Louisiana root-cause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Internal · Confidential — Acme Corp synthetic demo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9601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