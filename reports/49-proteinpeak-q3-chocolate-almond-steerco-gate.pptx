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" y="841248"/>
            <a:ext cx="182880" cy="182880"/>
          </a:xfrm>
          <a:prstGeom prst="ellipse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" y="841248"/>
            <a:ext cx="182880" cy="182880"/>
          </a:xfrm>
          <a:prstGeom prst="ellipse">
            <a:avLst/>
          </a:prstGeom>
          <a:solidFill>
            <a:srgbClr val="3E6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841248"/>
            <a:ext cx="182880" cy="18288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2E7D75"/>
                </a:solidFill>
                <a:latin typeface="Calibri"/>
              </a:rPr>
              <a:t>INNOVATION STEERCO · STAGE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31720"/>
            <a:ext cx="10515600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100" b="1" i="0">
                <a:solidFill>
                  <a:srgbClr val="FFFFFF"/>
                </a:solidFill>
                <a:latin typeface="Calibri"/>
              </a:rPr>
              <a:t>ProteinPeak Chocolate Almond — Concept Test 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2DB"/>
                </a:solidFill>
                <a:latin typeface="Calibri"/>
              </a:rPr>
              <a:t>Does the Q3 line extension clear the action standard and the cannibalisation gate?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Maya Chen, Senior Insights Analyst · for the innovation SteerCo, Aug 5 2026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Internal management presentation · Internal · Confidential — synthetic demo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this deck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Choc Almond gate  ·  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decision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Method and sample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Topline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47288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575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58444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Cohort read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5704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Cannibalisation gate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5704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Competitive context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8776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5704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Recommendation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Both gates clear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Choc Almond gate  ·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492240" cy="1160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1450" b="0" i="0">
                <a:solidFill>
                  <a:srgbClr val="2B2F38"/>
                </a:solidFill>
                <a:latin typeface="Calibri"/>
              </a:rPr>
              <a:t>Chocolate Almond scores 64% top-two-box against a 55% action standard — 6pp above the launch-SKU pretest and 11pp above the five-year cereal-innovation benchmark. Substitutional cannibalisation against the launch SKUs is 8pp against a 12pp SteerCo gate. Both gates clear. The recommendation is to take it to the Q4 Walmart and Target line reviews.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96920"/>
            <a:ext cx="6492240" cy="3256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Sample: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n=1000, fielded 2026-06-22 to 2026-07-11, standard Acme cereal-innovation monadic design.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Cohort strength is where the news is: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protein-curious at 71% top-two-box with a 3.06/5 purchase-intent mean; lapsed-cereal at 66%.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Current-Crunchwell buyers score 52%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— below the standard, which is the right answer: this SKU is not built to convert the family-cereal base.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Cannibalisation splits cleanly: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22% overlap with the launch SKUs, 14pp additive, 8pp substitutional. Against Crunchwell it is negligible at 2pp.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0104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64%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0104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TOP-TWO-BOX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12096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55%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ACTION STANDARD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0104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8pp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SUBSTITUTIONAL CANNIBALISATION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12096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12pp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STEERCO GATE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TOPLINE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Clears the standard with room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Choc Almond gate  ·  3</a:t>
            </a:r>
          </a:p>
        </p:txBody>
      </p:sp>
      <p:pic>
        <p:nvPicPr>
          <p:cNvPr id="7" name="Picture 6" descr="r49_top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5006"/>
            <a:ext cx="6492240" cy="24948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60920" y="1472184"/>
            <a:ext cx="4206240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64% top-two-box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against a 55% standard.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6pp better than the SKUs that just launched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— and those are performing at 110–113% of trial plan at Target.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11pp above the five-year innovation benchmark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puts this in the top quartile of concepts we have tested.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Chocolate as a breakfast preference runs +14pp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in the protein-curious cohort (U&amp;A, April 2026) — the concept is riding a real preference, not a novelty score.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seed_concept_test_chocolate_almond, seed_ua_study_2026q2_reference.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Cohort strength and a cannibalisation result inside the 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Choc Almond gate  ·  4</a:t>
            </a:r>
          </a:p>
        </p:txBody>
      </p:sp>
      <p:pic>
        <p:nvPicPr>
          <p:cNvPr id="7" name="Picture 6" descr="r49_co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5818"/>
            <a:ext cx="5394960" cy="20731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415294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B6472"/>
                </a:solidFill>
                <a:latin typeface="Calibri"/>
              </a:rPr>
              <a:t>Protein-curious 71% and lapsed-cereal 66% both clear; current-Crunchwell 52% does not, and should not.</a:t>
            </a:r>
          </a:p>
        </p:txBody>
      </p:sp>
      <p:pic>
        <p:nvPicPr>
          <p:cNvPr id="9" name="Picture 8" descr="r49_canni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195818"/>
            <a:ext cx="5394960" cy="20731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54496" y="4415294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B6472"/>
                </a:solidFill>
                <a:latin typeface="Calibri"/>
              </a:rPr>
              <a:t>22% overlap decomposes to 14pp additive and 8pp substitutional against a 12pp gate. Versus Crunchwell: 6% overlap, 2pp substitutional.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seed_concept_test_chocolate_almond.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The competitive window is open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Choc Almond gate  · 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4076"/>
                <a:gridCol w="1964076"/>
                <a:gridCol w="1527614"/>
                <a:gridCol w="3928152"/>
                <a:gridCol w="1527614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Brand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SKU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Launch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Claim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Buzz d30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Crunchwell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CR009-PROPOSED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2026-08-15 00:00:00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New look. Same Crunchwell you love.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0.45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Field &amp; Honey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LF-FH-14P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2026-05-12 00:00:00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14g protein per serving, made with whole gra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0.84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ProteinPeak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PP005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2026-04-20 00:00:00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12g protein. Real cinnamon. 8g sugar.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0.84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ProteinPeak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PP006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2026-04-20 00:00:00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12g protein. Cocoa + almond duo.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0.62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Cheerios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GM-CHPB-12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2026-04-06 00:00:00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Real peanut butter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0.74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Field &amp; Honey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LF-FHL-14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2026-03-30 00:00:00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Limited edition spring lemon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0.36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4873752"/>
            <a:ext cx="10911535" cy="766572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873752"/>
            <a:ext cx="45720" cy="766572"/>
          </a:xfrm>
          <a:prstGeom prst="rect">
            <a:avLst/>
          </a:prstGeom>
          <a:solidFill>
            <a:srgbClr val="B2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965192"/>
            <a:ext cx="106006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1F2A44"/>
                </a:solidFill>
                <a:latin typeface="Calibri"/>
              </a:rPr>
              <a:t>Why the timing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221224"/>
            <a:ext cx="10600639" cy="3093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2B2F38"/>
                </a:solidFill>
                <a:latin typeface="Calibri"/>
              </a:rPr>
              <a:t>Larksfield launched a 14g protein extension on May 12 2026 and is escalating on both the protein and Louisiana fronts. A Q1 FY27 Chocolate Almond shelf date requires the Q4 FY26 line reviews. Missing them costs us two quarters.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50052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seed_competitor_launches.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Take it forward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Choc Almond gate  · 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3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"/>
                <a:gridCol w="6001344"/>
                <a:gridCol w="2509653"/>
                <a:gridCol w="18549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Approve Chocolate Almond to Stage-4 Pre-Launch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Innovation SteerCo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Aug 5 2026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Include Chocolate Almond in the Q4 FY26 Walmart and Target line reviews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Marcus Boudreaux / Soo-jin Lee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Q4 FY26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Hold the 12pp substitution gate as a post-launch measure, re-read at week 13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Maya Chen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Q1 FY27 + 13 weeks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Brief creator and retail-media plans off the protein-curious cohort, not the general population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Sage Park / Hugo Lin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By Sep 15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05840" cy="27432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2E7D75"/>
                </a:solidFill>
                <a:latin typeface="Calibri"/>
              </a:rPr>
              <a:t>THE ONE 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241280" cy="910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Clears the standard, clears the gate, and the window is open.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0616"/>
            <a:ext cx="9875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64% top-two-box against a 55% standard.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8pp substitutional against a 12pp gate.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Q4 line reviews are the decision point, not the concept.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10424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ProteinPeak Chocolate Almond — Concept Test Read</dc:title>
  <dc:subject/>
  <dc:creator>Acme Corp (synthetic)</dc:creator>
  <cp:keywords/>
  <dc:description>Internal management presentation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