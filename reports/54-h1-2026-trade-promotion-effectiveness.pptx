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41248" y="841248"/>
            <a:ext cx="182880" cy="182880"/>
          </a:xfrm>
          <a:prstGeom prst="ellipse">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152144" y="841248"/>
            <a:ext cx="182880" cy="182880"/>
          </a:xfrm>
          <a:prstGeom prst="ellipse">
            <a:avLst/>
          </a:prstGeom>
          <a:solidFill>
            <a:srgbClr val="3E6D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1463040" y="841248"/>
            <a:ext cx="182880" cy="182880"/>
          </a:xfrm>
          <a:prstGeom prst="ellipse">
            <a:avLst/>
          </a:prstGeom>
          <a:solidFill>
            <a:srgbClr val="B98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828800"/>
            <a:ext cx="10424160" cy="365760"/>
          </a:xfrm>
          <a:prstGeom prst="rect">
            <a:avLst/>
          </a:prstGeom>
          <a:noFill/>
        </p:spPr>
        <p:txBody>
          <a:bodyPr wrap="square" lIns="0" rIns="0" tIns="0" bIns="0">
            <a:spAutoFit/>
          </a:bodyPr>
          <a:lstStyle/>
          <a:p>
            <a:pPr algn="l">
              <a:lnSpc>
                <a:spcPct val="118000"/>
              </a:lnSpc>
              <a:spcAft>
                <a:spcPts val="0"/>
              </a:spcAft>
            </a:pPr>
            <a:r>
              <a:rPr sz="1250" b="1" i="0">
                <a:solidFill>
                  <a:srgbClr val="2E7D75"/>
                </a:solidFill>
                <a:latin typeface="Calibri"/>
              </a:rPr>
              <a:t>TRADE PROMOTION EFFECTIVENESS</a:t>
            </a:r>
          </a:p>
        </p:txBody>
      </p:sp>
      <p:sp>
        <p:nvSpPr>
          <p:cNvPr id="7" name="TextBox 6"/>
          <p:cNvSpPr txBox="1"/>
          <p:nvPr/>
        </p:nvSpPr>
        <p:spPr>
          <a:xfrm>
            <a:off x="804672" y="2331720"/>
            <a:ext cx="10515600" cy="562356"/>
          </a:xfrm>
          <a:prstGeom prst="rect">
            <a:avLst/>
          </a:prstGeom>
          <a:noFill/>
        </p:spPr>
        <p:txBody>
          <a:bodyPr wrap="square" lIns="0" rIns="0" tIns="0" bIns="0">
            <a:spAutoFit/>
          </a:bodyPr>
          <a:lstStyle/>
          <a:p>
            <a:pPr algn="l">
              <a:lnSpc>
                <a:spcPct val="108000"/>
              </a:lnSpc>
              <a:spcAft>
                <a:spcPts val="0"/>
              </a:spcAft>
            </a:pPr>
            <a:r>
              <a:rPr sz="4100" b="1" i="0">
                <a:solidFill>
                  <a:srgbClr val="FFFFFF"/>
                </a:solidFill>
                <a:latin typeface="Calibri"/>
              </a:rPr>
              <a:t>H1 FY2026 Post-Event Analysis</a:t>
            </a:r>
          </a:p>
        </p:txBody>
      </p:sp>
      <p:sp>
        <p:nvSpPr>
          <p:cNvPr id="8" name="TextBox 7"/>
          <p:cNvSpPr txBox="1"/>
          <p:nvPr/>
        </p:nvSpPr>
        <p:spPr>
          <a:xfrm>
            <a:off x="822960" y="3278124"/>
            <a:ext cx="10332720" cy="822960"/>
          </a:xfrm>
          <a:prstGeom prst="rect">
            <a:avLst/>
          </a:prstGeom>
          <a:noFill/>
        </p:spPr>
        <p:txBody>
          <a:bodyPr wrap="square" lIns="0" rIns="0" tIns="0" bIns="0">
            <a:spAutoFit/>
          </a:bodyPr>
          <a:lstStyle/>
          <a:p>
            <a:pPr algn="l">
              <a:lnSpc>
                <a:spcPct val="120000"/>
              </a:lnSpc>
              <a:spcAft>
                <a:spcPts val="0"/>
              </a:spcAft>
            </a:pPr>
            <a:r>
              <a:rPr sz="1600" b="0" i="0">
                <a:solidFill>
                  <a:srgbClr val="C9D2DB"/>
                </a:solidFill>
                <a:latin typeface="Calibri"/>
              </a:rPr>
              <a:t>43 events, $11.6M of spend, and the question of how much of the lift we actually bought</a:t>
            </a:r>
          </a:p>
        </p:txBody>
      </p:sp>
      <p:sp>
        <p:nvSpPr>
          <p:cNvPr id="9" name="TextBox 8"/>
          <p:cNvSpPr txBox="1"/>
          <p:nvPr/>
        </p:nvSpPr>
        <p:spPr>
          <a:xfrm>
            <a:off x="822960" y="5852160"/>
            <a:ext cx="10515600" cy="731520"/>
          </a:xfrm>
          <a:prstGeom prst="rect">
            <a:avLst/>
          </a:prstGeom>
          <a:noFill/>
        </p:spPr>
        <p:txBody>
          <a:bodyPr wrap="square" lIns="0" rIns="0" tIns="0" bIns="0">
            <a:spAutoFit/>
          </a:bodyPr>
          <a:lstStyle/>
          <a:p>
            <a:pPr algn="l">
              <a:lnSpc>
                <a:spcPct val="118000"/>
              </a:lnSpc>
              <a:spcAft>
                <a:spcPts val="300"/>
              </a:spcAft>
            </a:pPr>
            <a:r>
              <a:rPr sz="1100" b="0" i="0">
                <a:solidFill>
                  <a:srgbClr val="5B6472"/>
                </a:solidFill>
                <a:latin typeface="Calibri"/>
              </a:rPr>
              <a:t>RGM with Trade Finance · for the commercial review · July 2026</a:t>
            </a:r>
          </a:p>
          <a:p>
            <a:pPr algn="l">
              <a:lnSpc>
                <a:spcPct val="118000"/>
              </a:lnSpc>
              <a:spcAft>
                <a:spcPts val="300"/>
              </a:spcAft>
            </a:pPr>
            <a:r>
              <a:rPr sz="1100" b="0" i="0">
                <a:solidFill>
                  <a:srgbClr val="5B6472"/>
                </a:solidFill>
                <a:latin typeface="Calibri"/>
              </a:rPr>
              <a:t>Internal management presentation · Internal · Confidential — synthetic demo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AGENDA</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What this deck covers</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H1 FY26 trade PEA  ·  1</a:t>
            </a:r>
          </a:p>
        </p:txBody>
      </p:sp>
      <p:sp>
        <p:nvSpPr>
          <p:cNvPr id="7" name="Rectangle 6"/>
          <p:cNvSpPr/>
          <p:nvPr/>
        </p:nvSpPr>
        <p:spPr>
          <a:xfrm>
            <a:off x="640080" y="1472184"/>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1600200"/>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01</a:t>
            </a:r>
          </a:p>
        </p:txBody>
      </p:sp>
      <p:sp>
        <p:nvSpPr>
          <p:cNvPr id="9" name="TextBox 8"/>
          <p:cNvSpPr txBox="1"/>
          <p:nvPr/>
        </p:nvSpPr>
        <p:spPr>
          <a:xfrm>
            <a:off x="1207008" y="1609344"/>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The headline</a:t>
            </a:r>
          </a:p>
        </p:txBody>
      </p:sp>
      <p:sp>
        <p:nvSpPr>
          <p:cNvPr id="10" name="Rectangle 9"/>
          <p:cNvSpPr/>
          <p:nvPr/>
        </p:nvSpPr>
        <p:spPr>
          <a:xfrm>
            <a:off x="640080" y="2130552"/>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 y="2258568"/>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02</a:t>
            </a:r>
          </a:p>
        </p:txBody>
      </p:sp>
      <p:sp>
        <p:nvSpPr>
          <p:cNvPr id="12" name="TextBox 11"/>
          <p:cNvSpPr txBox="1"/>
          <p:nvPr/>
        </p:nvSpPr>
        <p:spPr>
          <a:xfrm>
            <a:off x="1207008" y="2267712"/>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By retailer</a:t>
            </a:r>
          </a:p>
        </p:txBody>
      </p:sp>
      <p:sp>
        <p:nvSpPr>
          <p:cNvPr id="13" name="Rectangle 12"/>
          <p:cNvSpPr/>
          <p:nvPr/>
        </p:nvSpPr>
        <p:spPr>
          <a:xfrm>
            <a:off x="640080" y="2788920"/>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68096" y="2916936"/>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03</a:t>
            </a:r>
          </a:p>
        </p:txBody>
      </p:sp>
      <p:sp>
        <p:nvSpPr>
          <p:cNvPr id="15" name="TextBox 14"/>
          <p:cNvSpPr txBox="1"/>
          <p:nvPr/>
        </p:nvSpPr>
        <p:spPr>
          <a:xfrm>
            <a:off x="1207008" y="2926080"/>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By brand</a:t>
            </a:r>
          </a:p>
        </p:txBody>
      </p:sp>
      <p:sp>
        <p:nvSpPr>
          <p:cNvPr id="16" name="Rectangle 15"/>
          <p:cNvSpPr/>
          <p:nvPr/>
        </p:nvSpPr>
        <p:spPr>
          <a:xfrm>
            <a:off x="640080" y="3447288"/>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68096" y="3575304"/>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04</a:t>
            </a:r>
          </a:p>
        </p:txBody>
      </p:sp>
      <p:sp>
        <p:nvSpPr>
          <p:cNvPr id="18" name="TextBox 17"/>
          <p:cNvSpPr txBox="1"/>
          <p:nvPr/>
        </p:nvSpPr>
        <p:spPr>
          <a:xfrm>
            <a:off x="1207008" y="3584448"/>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By mechanic</a:t>
            </a:r>
          </a:p>
        </p:txBody>
      </p:sp>
      <p:sp>
        <p:nvSpPr>
          <p:cNvPr id="19" name="Rectangle 18"/>
          <p:cNvSpPr/>
          <p:nvPr/>
        </p:nvSpPr>
        <p:spPr>
          <a:xfrm>
            <a:off x="6208776" y="1472184"/>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36792" y="1600200"/>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05</a:t>
            </a:r>
          </a:p>
        </p:txBody>
      </p:sp>
      <p:sp>
        <p:nvSpPr>
          <p:cNvPr id="21" name="TextBox 20"/>
          <p:cNvSpPr txBox="1"/>
          <p:nvPr/>
        </p:nvSpPr>
        <p:spPr>
          <a:xfrm>
            <a:off x="6775704" y="1609344"/>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The best and worst events</a:t>
            </a:r>
          </a:p>
        </p:txBody>
      </p:sp>
      <p:sp>
        <p:nvSpPr>
          <p:cNvPr id="22" name="Rectangle 21"/>
          <p:cNvSpPr/>
          <p:nvPr/>
        </p:nvSpPr>
        <p:spPr>
          <a:xfrm>
            <a:off x="6208776" y="2130552"/>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36792" y="2258568"/>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06</a:t>
            </a:r>
          </a:p>
        </p:txBody>
      </p:sp>
      <p:sp>
        <p:nvSpPr>
          <p:cNvPr id="24" name="TextBox 23"/>
          <p:cNvSpPr txBox="1"/>
          <p:nvPr/>
        </p:nvSpPr>
        <p:spPr>
          <a:xfrm>
            <a:off x="6775704" y="2267712"/>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What we stop doing</a:t>
            </a:r>
          </a:p>
        </p:txBody>
      </p:sp>
      <p:sp>
        <p:nvSpPr>
          <p:cNvPr id="25" name="Rectangle 24"/>
          <p:cNvSpPr/>
          <p:nvPr/>
        </p:nvSpPr>
        <p:spPr>
          <a:xfrm>
            <a:off x="6208776" y="2788920"/>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36792" y="2916936"/>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07</a:t>
            </a:r>
          </a:p>
        </p:txBody>
      </p:sp>
      <p:sp>
        <p:nvSpPr>
          <p:cNvPr id="27" name="TextBox 26"/>
          <p:cNvSpPr txBox="1"/>
          <p:nvPr/>
        </p:nvSpPr>
        <p:spPr>
          <a:xfrm>
            <a:off x="6775704" y="2926080"/>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Actions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THE HEADLINE</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Half the volume we bought was already ours</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H1 FY26 trade PEA  ·  2</a:t>
            </a:r>
          </a:p>
        </p:txBody>
      </p:sp>
      <p:sp>
        <p:nvSpPr>
          <p:cNvPr id="7" name="TextBox 6"/>
          <p:cNvSpPr txBox="1"/>
          <p:nvPr/>
        </p:nvSpPr>
        <p:spPr>
          <a:xfrm>
            <a:off x="640080" y="1417320"/>
            <a:ext cx="6492240" cy="1392174"/>
          </a:xfrm>
          <a:prstGeom prst="rect">
            <a:avLst/>
          </a:prstGeom>
          <a:noFill/>
        </p:spPr>
        <p:txBody>
          <a:bodyPr wrap="square" lIns="0" rIns="0" tIns="0" bIns="0">
            <a:spAutoFit/>
          </a:bodyPr>
          <a:lstStyle/>
          <a:p>
            <a:pPr algn="l">
              <a:lnSpc>
                <a:spcPct val="126000"/>
              </a:lnSpc>
              <a:spcAft>
                <a:spcPts val="1000"/>
              </a:spcAft>
            </a:pPr>
            <a:r>
              <a:rPr sz="1450" b="0" i="0">
                <a:solidFill>
                  <a:srgbClr val="2B2F38"/>
                </a:solidFill>
                <a:latin typeface="Calibri"/>
              </a:rPr>
              <a:t>Q1 FY2026 ran 43 promoted events costing $11.6M and generating $10.9M of modelled incremental revenue at an average lift of 14.3% and an incrementality index of 0.52. An index of 0.52 means roughly half of the volume we paid to move would have moved anyway. The spread between our best and worst mechanics is wide enough that fixing the mix — not cutting the budget — is the answer.</a:t>
            </a:r>
          </a:p>
        </p:txBody>
      </p:sp>
      <p:sp>
        <p:nvSpPr>
          <p:cNvPr id="8" name="TextBox 7"/>
          <p:cNvSpPr txBox="1"/>
          <p:nvPr/>
        </p:nvSpPr>
        <p:spPr>
          <a:xfrm>
            <a:off x="640080" y="3028950"/>
            <a:ext cx="6492240" cy="3024378"/>
          </a:xfrm>
          <a:prstGeom prst="rect">
            <a:avLst/>
          </a:prstGeom>
          <a:noFill/>
        </p:spPr>
        <p:txBody>
          <a:bodyPr wrap="square" lIns="0" rIns="0" tIns="0" bIns="0">
            <a:spAutoFit/>
          </a:bodyPr>
          <a:lstStyle/>
          <a:p>
            <a:pPr>
              <a:lnSpc>
                <a:spcPct val="120000"/>
              </a:lnSpc>
              <a:spcAft>
                <a:spcPts val="744"/>
              </a:spcAft>
            </a:pPr>
            <a:r>
              <a:rPr sz="1200" b="1">
                <a:solidFill>
                  <a:srgbClr val="2E7D75"/>
                </a:solidFill>
                <a:latin typeface="Calibri"/>
              </a:rPr>
              <a:t>—  </a:t>
            </a:r>
            <a:r>
              <a:rPr sz="1200" b="1" i="0">
                <a:solidFill>
                  <a:srgbClr val="2B2F38"/>
                </a:solidFill>
                <a:latin typeface="Calibri"/>
              </a:rPr>
              <a:t>The portfolio index is 0.52.</a:t>
            </a:r>
            <a:r>
              <a:rPr sz="1200" b="0" i="0">
                <a:solidFill>
                  <a:srgbClr val="2B2F38"/>
                </a:solidFill>
                <a:latin typeface="Calibri"/>
              </a:rPr>
              <a:t> Best-in-class for this category is 0.65–0.70; we have a full 15 points of headroom.</a:t>
            </a:r>
          </a:p>
          <a:p>
            <a:pPr>
              <a:lnSpc>
                <a:spcPct val="120000"/>
              </a:lnSpc>
              <a:spcAft>
                <a:spcPts val="744"/>
              </a:spcAft>
            </a:pPr>
            <a:r>
              <a:rPr sz="1200" b="1">
                <a:solidFill>
                  <a:srgbClr val="2E7D75"/>
                </a:solidFill>
                <a:latin typeface="Calibri"/>
              </a:rPr>
              <a:t>—  </a:t>
            </a:r>
            <a:r>
              <a:rPr sz="1200" b="1" i="0">
                <a:solidFill>
                  <a:srgbClr val="2B2F38"/>
                </a:solidFill>
                <a:latin typeface="Calibri"/>
              </a:rPr>
              <a:t>Average modelled lift is 14.3%</a:t>
            </a:r>
            <a:r>
              <a:rPr sz="1200" b="0" i="0">
                <a:solidFill>
                  <a:srgbClr val="2B2F38"/>
                </a:solidFill>
                <a:latin typeface="Calibri"/>
              </a:rPr>
              <a:t> — respectable on the surface, but lift and incrementality are different questions, and only the second one is worth paying for.</a:t>
            </a:r>
          </a:p>
          <a:p>
            <a:pPr>
              <a:lnSpc>
                <a:spcPct val="120000"/>
              </a:lnSpc>
              <a:spcAft>
                <a:spcPts val="744"/>
              </a:spcAft>
            </a:pPr>
            <a:r>
              <a:rPr sz="1200" b="1">
                <a:solidFill>
                  <a:srgbClr val="2E7D75"/>
                </a:solidFill>
                <a:latin typeface="Calibri"/>
              </a:rPr>
              <a:t>—  </a:t>
            </a:r>
            <a:r>
              <a:rPr sz="1200" b="1" i="0">
                <a:solidFill>
                  <a:srgbClr val="2B2F38"/>
                </a:solidFill>
                <a:latin typeface="Calibri"/>
              </a:rPr>
              <a:t>Crunchwell carries $8.5M of the quarter's spend</a:t>
            </a:r>
            <a:r>
              <a:rPr sz="1200" b="0" i="0">
                <a:solidFill>
                  <a:srgbClr val="2B2F38"/>
                </a:solidFill>
                <a:latin typeface="Calibri"/>
              </a:rPr>
              <a:t> — the concentration risk and the biggest single opportunity.</a:t>
            </a:r>
          </a:p>
          <a:p>
            <a:pPr>
              <a:lnSpc>
                <a:spcPct val="120000"/>
              </a:lnSpc>
              <a:spcAft>
                <a:spcPts val="744"/>
              </a:spcAft>
            </a:pPr>
            <a:r>
              <a:rPr sz="1200" b="1">
                <a:solidFill>
                  <a:srgbClr val="2E7D75"/>
                </a:solidFill>
                <a:latin typeface="Calibri"/>
              </a:rPr>
              <a:t>—  </a:t>
            </a:r>
            <a:r>
              <a:rPr sz="1200" b="1" i="0">
                <a:solidFill>
                  <a:srgbClr val="2B2F38"/>
                </a:solidFill>
                <a:latin typeface="Calibri"/>
              </a:rPr>
              <a:t>The recommendation is a 0.45 index floor</a:t>
            </a:r>
            <a:r>
              <a:rPr sz="1200" b="0" i="0">
                <a:solidFill>
                  <a:srgbClr val="2B2F38"/>
                </a:solidFill>
                <a:latin typeface="Calibri"/>
              </a:rPr>
              <a:t> on new events, which reallocates roughly $2.4M a quarter into mechanics that work.</a:t>
            </a:r>
          </a:p>
        </p:txBody>
      </p:sp>
      <p:sp>
        <p:nvSpPr>
          <p:cNvPr id="9" name="Rectangle 8"/>
          <p:cNvSpPr/>
          <p:nvPr/>
        </p:nvSpPr>
        <p:spPr>
          <a:xfrm>
            <a:off x="7543800" y="1435608"/>
            <a:ext cx="2148840" cy="1133856"/>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90104" y="1581912"/>
            <a:ext cx="1874520" cy="457200"/>
          </a:xfrm>
          <a:prstGeom prst="rect">
            <a:avLst/>
          </a:prstGeom>
          <a:noFill/>
        </p:spPr>
        <p:txBody>
          <a:bodyPr wrap="square" lIns="0" rIns="0" tIns="0" bIns="0">
            <a:spAutoFit/>
          </a:bodyPr>
          <a:lstStyle/>
          <a:p>
            <a:pPr algn="l">
              <a:lnSpc>
                <a:spcPct val="118000"/>
              </a:lnSpc>
              <a:spcAft>
                <a:spcPts val="0"/>
              </a:spcAft>
            </a:pPr>
            <a:r>
              <a:rPr sz="2200" b="1" i="0">
                <a:solidFill>
                  <a:srgbClr val="1F2A44"/>
                </a:solidFill>
                <a:latin typeface="Calibri"/>
              </a:rPr>
              <a:t>43</a:t>
            </a:r>
          </a:p>
        </p:txBody>
      </p:sp>
      <p:sp>
        <p:nvSpPr>
          <p:cNvPr id="11" name="TextBox 10"/>
          <p:cNvSpPr txBox="1"/>
          <p:nvPr/>
        </p:nvSpPr>
        <p:spPr>
          <a:xfrm>
            <a:off x="7690104" y="2093976"/>
            <a:ext cx="1874520" cy="402336"/>
          </a:xfrm>
          <a:prstGeom prst="rect">
            <a:avLst/>
          </a:prstGeom>
          <a:noFill/>
        </p:spPr>
        <p:txBody>
          <a:bodyPr wrap="square" lIns="0" rIns="0" tIns="0" bIns="0">
            <a:spAutoFit/>
          </a:bodyPr>
          <a:lstStyle/>
          <a:p>
            <a:pPr algn="l">
              <a:lnSpc>
                <a:spcPct val="112000"/>
              </a:lnSpc>
              <a:spcAft>
                <a:spcPts val="0"/>
              </a:spcAft>
            </a:pPr>
            <a:r>
              <a:rPr sz="950" b="1" i="0">
                <a:solidFill>
                  <a:srgbClr val="5B6472"/>
                </a:solidFill>
                <a:latin typeface="Calibri"/>
              </a:rPr>
              <a:t>EVENTS IN THE QUARTER</a:t>
            </a:r>
          </a:p>
        </p:txBody>
      </p:sp>
      <p:sp>
        <p:nvSpPr>
          <p:cNvPr id="12" name="Rectangle 11"/>
          <p:cNvSpPr/>
          <p:nvPr/>
        </p:nvSpPr>
        <p:spPr>
          <a:xfrm>
            <a:off x="9912096" y="1435608"/>
            <a:ext cx="2148840" cy="1133856"/>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0" y="1581912"/>
            <a:ext cx="1874520" cy="457200"/>
          </a:xfrm>
          <a:prstGeom prst="rect">
            <a:avLst/>
          </a:prstGeom>
          <a:noFill/>
        </p:spPr>
        <p:txBody>
          <a:bodyPr wrap="square" lIns="0" rIns="0" tIns="0" bIns="0">
            <a:spAutoFit/>
          </a:bodyPr>
          <a:lstStyle/>
          <a:p>
            <a:pPr algn="l">
              <a:lnSpc>
                <a:spcPct val="118000"/>
              </a:lnSpc>
              <a:spcAft>
                <a:spcPts val="0"/>
              </a:spcAft>
            </a:pPr>
            <a:r>
              <a:rPr sz="2200" b="1" i="0">
                <a:solidFill>
                  <a:srgbClr val="1F2A44"/>
                </a:solidFill>
                <a:latin typeface="Calibri"/>
              </a:rPr>
              <a:t>$11.6M</a:t>
            </a:r>
          </a:p>
        </p:txBody>
      </p:sp>
      <p:sp>
        <p:nvSpPr>
          <p:cNvPr id="14" name="TextBox 13"/>
          <p:cNvSpPr txBox="1"/>
          <p:nvPr/>
        </p:nvSpPr>
        <p:spPr>
          <a:xfrm>
            <a:off x="10058400" y="2093976"/>
            <a:ext cx="1874520" cy="402336"/>
          </a:xfrm>
          <a:prstGeom prst="rect">
            <a:avLst/>
          </a:prstGeom>
          <a:noFill/>
        </p:spPr>
        <p:txBody>
          <a:bodyPr wrap="square" lIns="0" rIns="0" tIns="0" bIns="0">
            <a:spAutoFit/>
          </a:bodyPr>
          <a:lstStyle/>
          <a:p>
            <a:pPr algn="l">
              <a:lnSpc>
                <a:spcPct val="112000"/>
              </a:lnSpc>
              <a:spcAft>
                <a:spcPts val="0"/>
              </a:spcAft>
            </a:pPr>
            <a:r>
              <a:rPr sz="950" b="1" i="0">
                <a:solidFill>
                  <a:srgbClr val="5B6472"/>
                </a:solidFill>
                <a:latin typeface="Calibri"/>
              </a:rPr>
              <a:t>TRADE SPEND</a:t>
            </a:r>
          </a:p>
        </p:txBody>
      </p:sp>
      <p:sp>
        <p:nvSpPr>
          <p:cNvPr id="15" name="Rectangle 14"/>
          <p:cNvSpPr/>
          <p:nvPr/>
        </p:nvSpPr>
        <p:spPr>
          <a:xfrm>
            <a:off x="7543800" y="2734056"/>
            <a:ext cx="2148840" cy="1133856"/>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690104" y="2880360"/>
            <a:ext cx="1874520" cy="457200"/>
          </a:xfrm>
          <a:prstGeom prst="rect">
            <a:avLst/>
          </a:prstGeom>
          <a:noFill/>
        </p:spPr>
        <p:txBody>
          <a:bodyPr wrap="square" lIns="0" rIns="0" tIns="0" bIns="0">
            <a:spAutoFit/>
          </a:bodyPr>
          <a:lstStyle/>
          <a:p>
            <a:pPr algn="l">
              <a:lnSpc>
                <a:spcPct val="118000"/>
              </a:lnSpc>
              <a:spcAft>
                <a:spcPts val="0"/>
              </a:spcAft>
            </a:pPr>
            <a:r>
              <a:rPr sz="2200" b="1" i="0">
                <a:solidFill>
                  <a:srgbClr val="1F2A44"/>
                </a:solidFill>
                <a:latin typeface="Calibri"/>
              </a:rPr>
              <a:t>$10.9M</a:t>
            </a:r>
          </a:p>
        </p:txBody>
      </p:sp>
      <p:sp>
        <p:nvSpPr>
          <p:cNvPr id="17" name="TextBox 16"/>
          <p:cNvSpPr txBox="1"/>
          <p:nvPr/>
        </p:nvSpPr>
        <p:spPr>
          <a:xfrm>
            <a:off x="7690104" y="3392424"/>
            <a:ext cx="1874520" cy="402336"/>
          </a:xfrm>
          <a:prstGeom prst="rect">
            <a:avLst/>
          </a:prstGeom>
          <a:noFill/>
        </p:spPr>
        <p:txBody>
          <a:bodyPr wrap="square" lIns="0" rIns="0" tIns="0" bIns="0">
            <a:spAutoFit/>
          </a:bodyPr>
          <a:lstStyle/>
          <a:p>
            <a:pPr algn="l">
              <a:lnSpc>
                <a:spcPct val="112000"/>
              </a:lnSpc>
              <a:spcAft>
                <a:spcPts val="0"/>
              </a:spcAft>
            </a:pPr>
            <a:r>
              <a:rPr sz="950" b="1" i="0">
                <a:solidFill>
                  <a:srgbClr val="5B6472"/>
                </a:solidFill>
                <a:latin typeface="Calibri"/>
              </a:rPr>
              <a:t>MODELLED INCREMENTAL REVENUE</a:t>
            </a:r>
          </a:p>
        </p:txBody>
      </p:sp>
      <p:sp>
        <p:nvSpPr>
          <p:cNvPr id="18" name="Rectangle 17"/>
          <p:cNvSpPr/>
          <p:nvPr/>
        </p:nvSpPr>
        <p:spPr>
          <a:xfrm>
            <a:off x="9912096" y="2734056"/>
            <a:ext cx="2148840" cy="1133856"/>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058400" y="2880360"/>
            <a:ext cx="1874520" cy="457200"/>
          </a:xfrm>
          <a:prstGeom prst="rect">
            <a:avLst/>
          </a:prstGeom>
          <a:noFill/>
        </p:spPr>
        <p:txBody>
          <a:bodyPr wrap="square" lIns="0" rIns="0" tIns="0" bIns="0">
            <a:spAutoFit/>
          </a:bodyPr>
          <a:lstStyle/>
          <a:p>
            <a:pPr algn="l">
              <a:lnSpc>
                <a:spcPct val="118000"/>
              </a:lnSpc>
              <a:spcAft>
                <a:spcPts val="0"/>
              </a:spcAft>
            </a:pPr>
            <a:r>
              <a:rPr sz="2200" b="1" i="0">
                <a:solidFill>
                  <a:srgbClr val="1F2A44"/>
                </a:solidFill>
                <a:latin typeface="Calibri"/>
              </a:rPr>
              <a:t>0.52</a:t>
            </a:r>
          </a:p>
        </p:txBody>
      </p:sp>
      <p:sp>
        <p:nvSpPr>
          <p:cNvPr id="20" name="TextBox 19"/>
          <p:cNvSpPr txBox="1"/>
          <p:nvPr/>
        </p:nvSpPr>
        <p:spPr>
          <a:xfrm>
            <a:off x="10058400" y="3392424"/>
            <a:ext cx="1874520" cy="402336"/>
          </a:xfrm>
          <a:prstGeom prst="rect">
            <a:avLst/>
          </a:prstGeom>
          <a:noFill/>
        </p:spPr>
        <p:txBody>
          <a:bodyPr wrap="square" lIns="0" rIns="0" tIns="0" bIns="0">
            <a:spAutoFit/>
          </a:bodyPr>
          <a:lstStyle/>
          <a:p>
            <a:pPr algn="l">
              <a:lnSpc>
                <a:spcPct val="112000"/>
              </a:lnSpc>
              <a:spcAft>
                <a:spcPts val="0"/>
              </a:spcAft>
            </a:pPr>
            <a:r>
              <a:rPr sz="950" b="1" i="0">
                <a:solidFill>
                  <a:srgbClr val="5B6472"/>
                </a:solidFill>
                <a:latin typeface="Calibri"/>
              </a:rPr>
              <a:t>AVERAGE INCREMENTALITY INDEX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BY RETAILER</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Where the money goes and what it returns</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H1 FY26 trade PEA  ·  3</a:t>
            </a:r>
          </a:p>
        </p:txBody>
      </p:sp>
      <p:pic>
        <p:nvPicPr>
          <p:cNvPr id="7" name="Picture 6" descr="r54_retailer.png"/>
          <p:cNvPicPr>
            <a:picLocks noChangeAspect="1"/>
          </p:cNvPicPr>
          <p:nvPr/>
        </p:nvPicPr>
        <p:blipFill>
          <a:blip r:embed="rId2"/>
          <a:stretch>
            <a:fillRect/>
          </a:stretch>
        </p:blipFill>
        <p:spPr>
          <a:xfrm>
            <a:off x="640080" y="2089343"/>
            <a:ext cx="6309360" cy="2551296"/>
          </a:xfrm>
          <a:prstGeom prst="rect">
            <a:avLst/>
          </a:prstGeom>
        </p:spPr>
      </p:pic>
      <p:graphicFrame>
        <p:nvGraphicFramePr>
          <p:cNvPr id="8" name="Table 7"/>
          <p:cNvGraphicFramePr>
            <a:graphicFrameLocks noGrp="1"/>
          </p:cNvGraphicFramePr>
          <p:nvPr/>
        </p:nvGraphicFramePr>
        <p:xfrm>
          <a:off x="7132320" y="1490472"/>
          <a:ext cx="4416549" cy="3749031"/>
        </p:xfrm>
        <a:graphic>
          <a:graphicData uri="http://schemas.openxmlformats.org/drawingml/2006/table">
            <a:tbl>
              <a:tblPr firstRow="1" bandRow="1">
                <a:tableStyleId>{5C22544A-7EE6-4342-B048-85BDC9FD1C3A}</a:tableStyleId>
              </a:tblPr>
              <a:tblGrid>
                <a:gridCol w="1324965"/>
                <a:gridCol w="706648"/>
                <a:gridCol w="839144"/>
                <a:gridCol w="839144"/>
                <a:gridCol w="706648"/>
              </a:tblGrid>
              <a:tr h="416559">
                <a:tc>
                  <a:txBody>
                    <a:bodyPr/>
                    <a:lstStyle/>
                    <a:p>
                      <a:pPr algn="l"/>
                      <a:r>
                        <a:rPr sz="850" b="1">
                          <a:solidFill>
                            <a:srgbClr val="FFFFFF"/>
                          </a:solidFill>
                          <a:latin typeface="Calibri"/>
                        </a:rPr>
                        <a:t>Retailer</a:t>
                      </a:r>
                    </a:p>
                  </a:txBody>
                  <a:tcPr marL="64008" marR="64008" marT="27432" marB="27432" anchor="ctr">
                    <a:solidFill>
                      <a:srgbClr val="1F2A44"/>
                    </a:solidFill>
                  </a:tcPr>
                </a:tc>
                <a:tc>
                  <a:txBody>
                    <a:bodyPr/>
                    <a:lstStyle/>
                    <a:p>
                      <a:pPr algn="r"/>
                      <a:r>
                        <a:rPr sz="850" b="1">
                          <a:solidFill>
                            <a:srgbClr val="FFFFFF"/>
                          </a:solidFill>
                          <a:latin typeface="Calibri"/>
                        </a:rPr>
                        <a:t>Events</a:t>
                      </a:r>
                    </a:p>
                  </a:txBody>
                  <a:tcPr marL="64008" marR="64008" marT="27432" marB="27432" anchor="ctr">
                    <a:solidFill>
                      <a:srgbClr val="1F2A44"/>
                    </a:solidFill>
                  </a:tcPr>
                </a:tc>
                <a:tc>
                  <a:txBody>
                    <a:bodyPr/>
                    <a:lstStyle/>
                    <a:p>
                      <a:pPr algn="r"/>
                      <a:r>
                        <a:rPr sz="850" b="1">
                          <a:solidFill>
                            <a:srgbClr val="FFFFFF"/>
                          </a:solidFill>
                          <a:latin typeface="Calibri"/>
                        </a:rPr>
                        <a:t>Spend</a:t>
                      </a:r>
                    </a:p>
                  </a:txBody>
                  <a:tcPr marL="64008" marR="64008" marT="27432" marB="27432" anchor="ctr">
                    <a:solidFill>
                      <a:srgbClr val="1F2A44"/>
                    </a:solidFill>
                  </a:tcPr>
                </a:tc>
                <a:tc>
                  <a:txBody>
                    <a:bodyPr/>
                    <a:lstStyle/>
                    <a:p>
                      <a:pPr algn="r"/>
                      <a:r>
                        <a:rPr sz="850" b="1">
                          <a:solidFill>
                            <a:srgbClr val="FFFFFF"/>
                          </a:solidFill>
                          <a:latin typeface="Calibri"/>
                        </a:rPr>
                        <a:t>Incr.</a:t>
                      </a:r>
                    </a:p>
                  </a:txBody>
                  <a:tcPr marL="64008" marR="64008" marT="27432" marB="27432" anchor="ctr">
                    <a:solidFill>
                      <a:srgbClr val="1F2A44"/>
                    </a:solidFill>
                  </a:tcPr>
                </a:tc>
                <a:tc>
                  <a:txBody>
                    <a:bodyPr/>
                    <a:lstStyle/>
                    <a:p>
                      <a:pPr algn="r"/>
                      <a:r>
                        <a:rPr sz="850" b="1">
                          <a:solidFill>
                            <a:srgbClr val="FFFFFF"/>
                          </a:solidFill>
                          <a:latin typeface="Calibri"/>
                        </a:rPr>
                        <a:t>Index</a:t>
                      </a:r>
                    </a:p>
                  </a:txBody>
                  <a:tcPr marL="64008" marR="64008" marT="27432" marB="27432" anchor="ctr">
                    <a:solidFill>
                      <a:srgbClr val="1F2A44"/>
                    </a:solidFill>
                  </a:tcPr>
                </a:tc>
              </a:tr>
              <a:tr h="416559">
                <a:tc>
                  <a:txBody>
                    <a:bodyPr/>
                    <a:lstStyle/>
                    <a:p>
                      <a:pPr algn="l"/>
                      <a:r>
                        <a:rPr sz="900" b="0">
                          <a:solidFill>
                            <a:srgbClr val="2B2F38"/>
                          </a:solidFill>
                          <a:latin typeface="Calibri"/>
                        </a:rPr>
                        <a:t>Walmart</a:t>
                      </a:r>
                    </a:p>
                  </a:txBody>
                  <a:tcPr marL="64008" marR="64008" marT="18288" marB="18288" anchor="ctr">
                    <a:solidFill>
                      <a:srgbClr val="FFFFFF"/>
                    </a:solidFill>
                  </a:tcPr>
                </a:tc>
                <a:tc>
                  <a:txBody>
                    <a:bodyPr/>
                    <a:lstStyle/>
                    <a:p>
                      <a:pPr algn="r"/>
                      <a:r>
                        <a:rPr sz="900" b="0">
                          <a:solidFill>
                            <a:srgbClr val="2B2F38"/>
                          </a:solidFill>
                          <a:latin typeface="Calibri"/>
                        </a:rPr>
                        <a:t>3</a:t>
                      </a:r>
                    </a:p>
                  </a:txBody>
                  <a:tcPr marL="64008" marR="64008" marT="18288" marB="18288" anchor="ctr">
                    <a:solidFill>
                      <a:srgbClr val="FFFFFF"/>
                    </a:solidFill>
                  </a:tcPr>
                </a:tc>
                <a:tc>
                  <a:txBody>
                    <a:bodyPr/>
                    <a:lstStyle/>
                    <a:p>
                      <a:pPr algn="r"/>
                      <a:r>
                        <a:rPr sz="900" b="0">
                          <a:solidFill>
                            <a:srgbClr val="2B2F38"/>
                          </a:solidFill>
                          <a:latin typeface="Calibri"/>
                        </a:rPr>
                        <a:t>$2.5M</a:t>
                      </a:r>
                    </a:p>
                  </a:txBody>
                  <a:tcPr marL="64008" marR="64008" marT="18288" marB="18288" anchor="ctr">
                    <a:solidFill>
                      <a:srgbClr val="FFFFFF"/>
                    </a:solidFill>
                  </a:tcPr>
                </a:tc>
                <a:tc>
                  <a:txBody>
                    <a:bodyPr/>
                    <a:lstStyle/>
                    <a:p>
                      <a:pPr algn="r"/>
                      <a:r>
                        <a:rPr sz="900" b="0">
                          <a:solidFill>
                            <a:srgbClr val="2B2F38"/>
                          </a:solidFill>
                          <a:latin typeface="Calibri"/>
                        </a:rPr>
                        <a:t>$2.3M</a:t>
                      </a:r>
                    </a:p>
                  </a:txBody>
                  <a:tcPr marL="64008" marR="64008" marT="18288" marB="18288" anchor="ctr">
                    <a:solidFill>
                      <a:srgbClr val="FFFFFF"/>
                    </a:solidFill>
                  </a:tcPr>
                </a:tc>
                <a:tc>
                  <a:txBody>
                    <a:bodyPr/>
                    <a:lstStyle/>
                    <a:p>
                      <a:pPr algn="r"/>
                      <a:r>
                        <a:rPr sz="900" b="0">
                          <a:solidFill>
                            <a:srgbClr val="2B2F38"/>
                          </a:solidFill>
                          <a:latin typeface="Calibri"/>
                        </a:rPr>
                        <a:t>0.57</a:t>
                      </a:r>
                    </a:p>
                  </a:txBody>
                  <a:tcPr marL="64008" marR="64008" marT="18288" marB="18288" anchor="ctr">
                    <a:solidFill>
                      <a:srgbClr val="FFFFFF"/>
                    </a:solidFill>
                  </a:tcPr>
                </a:tc>
              </a:tr>
              <a:tr h="416559">
                <a:tc>
                  <a:txBody>
                    <a:bodyPr/>
                    <a:lstStyle/>
                    <a:p>
                      <a:pPr algn="l"/>
                      <a:r>
                        <a:rPr sz="900" b="0">
                          <a:solidFill>
                            <a:srgbClr val="2B2F38"/>
                          </a:solidFill>
                          <a:latin typeface="Calibri"/>
                        </a:rPr>
                        <a:t>Kroger</a:t>
                      </a:r>
                    </a:p>
                  </a:txBody>
                  <a:tcPr marL="64008" marR="64008" marT="18288" marB="18288" anchor="ctr">
                    <a:solidFill>
                      <a:srgbClr val="F5F7F9"/>
                    </a:solidFill>
                  </a:tcPr>
                </a:tc>
                <a:tc>
                  <a:txBody>
                    <a:bodyPr/>
                    <a:lstStyle/>
                    <a:p>
                      <a:pPr algn="r"/>
                      <a:r>
                        <a:rPr sz="900" b="0">
                          <a:solidFill>
                            <a:srgbClr val="2B2F38"/>
                          </a:solidFill>
                          <a:latin typeface="Calibri"/>
                        </a:rPr>
                        <a:t>3</a:t>
                      </a:r>
                    </a:p>
                  </a:txBody>
                  <a:tcPr marL="64008" marR="64008" marT="18288" marB="18288" anchor="ctr">
                    <a:solidFill>
                      <a:srgbClr val="F5F7F9"/>
                    </a:solidFill>
                  </a:tcPr>
                </a:tc>
                <a:tc>
                  <a:txBody>
                    <a:bodyPr/>
                    <a:lstStyle/>
                    <a:p>
                      <a:pPr algn="r"/>
                      <a:r>
                        <a:rPr sz="900" b="0">
                          <a:solidFill>
                            <a:srgbClr val="2B2F38"/>
                          </a:solidFill>
                          <a:latin typeface="Calibri"/>
                        </a:rPr>
                        <a:t>$1.5M</a:t>
                      </a:r>
                    </a:p>
                  </a:txBody>
                  <a:tcPr marL="64008" marR="64008" marT="18288" marB="18288" anchor="ctr">
                    <a:solidFill>
                      <a:srgbClr val="F5F7F9"/>
                    </a:solidFill>
                  </a:tcPr>
                </a:tc>
                <a:tc>
                  <a:txBody>
                    <a:bodyPr/>
                    <a:lstStyle/>
                    <a:p>
                      <a:pPr algn="r"/>
                      <a:r>
                        <a:rPr sz="900" b="0">
                          <a:solidFill>
                            <a:srgbClr val="2B2F38"/>
                          </a:solidFill>
                          <a:latin typeface="Calibri"/>
                        </a:rPr>
                        <a:t>$1.6M</a:t>
                      </a:r>
                    </a:p>
                  </a:txBody>
                  <a:tcPr marL="64008" marR="64008" marT="18288" marB="18288" anchor="ctr">
                    <a:solidFill>
                      <a:srgbClr val="F5F7F9"/>
                    </a:solidFill>
                  </a:tcPr>
                </a:tc>
                <a:tc>
                  <a:txBody>
                    <a:bodyPr/>
                    <a:lstStyle/>
                    <a:p>
                      <a:pPr algn="r"/>
                      <a:r>
                        <a:rPr sz="900" b="0">
                          <a:solidFill>
                            <a:srgbClr val="2B2F38"/>
                          </a:solidFill>
                          <a:latin typeface="Calibri"/>
                        </a:rPr>
                        <a:t>0.57</a:t>
                      </a:r>
                    </a:p>
                  </a:txBody>
                  <a:tcPr marL="64008" marR="64008" marT="18288" marB="18288" anchor="ctr">
                    <a:solidFill>
                      <a:srgbClr val="F5F7F9"/>
                    </a:solidFill>
                  </a:tcPr>
                </a:tc>
              </a:tr>
              <a:tr h="416559">
                <a:tc>
                  <a:txBody>
                    <a:bodyPr/>
                    <a:lstStyle/>
                    <a:p>
                      <a:pPr algn="l"/>
                      <a:r>
                        <a:rPr sz="900" b="0">
                          <a:solidFill>
                            <a:srgbClr val="2B2F38"/>
                          </a:solidFill>
                          <a:latin typeface="Calibri"/>
                        </a:rPr>
                        <a:t>Target</a:t>
                      </a:r>
                    </a:p>
                  </a:txBody>
                  <a:tcPr marL="64008" marR="64008" marT="18288" marB="18288" anchor="ctr">
                    <a:solidFill>
                      <a:srgbClr val="FFFFFF"/>
                    </a:solidFill>
                  </a:tcPr>
                </a:tc>
                <a:tc>
                  <a:txBody>
                    <a:bodyPr/>
                    <a:lstStyle/>
                    <a:p>
                      <a:pPr algn="r"/>
                      <a:r>
                        <a:rPr sz="900" b="0">
                          <a:solidFill>
                            <a:srgbClr val="2B2F38"/>
                          </a:solidFill>
                          <a:latin typeface="Calibri"/>
                        </a:rPr>
                        <a:t>4</a:t>
                      </a:r>
                    </a:p>
                  </a:txBody>
                  <a:tcPr marL="64008" marR="64008" marT="18288" marB="18288" anchor="ctr">
                    <a:solidFill>
                      <a:srgbClr val="FFFFFF"/>
                    </a:solidFill>
                  </a:tcPr>
                </a:tc>
                <a:tc>
                  <a:txBody>
                    <a:bodyPr/>
                    <a:lstStyle/>
                    <a:p>
                      <a:pPr algn="r"/>
                      <a:r>
                        <a:rPr sz="900" b="0">
                          <a:solidFill>
                            <a:srgbClr val="2B2F38"/>
                          </a:solidFill>
                          <a:latin typeface="Calibri"/>
                        </a:rPr>
                        <a:t>$1.3M</a:t>
                      </a:r>
                    </a:p>
                  </a:txBody>
                  <a:tcPr marL="64008" marR="64008" marT="18288" marB="18288" anchor="ctr">
                    <a:solidFill>
                      <a:srgbClr val="FFFFFF"/>
                    </a:solidFill>
                  </a:tcPr>
                </a:tc>
                <a:tc>
                  <a:txBody>
                    <a:bodyPr/>
                    <a:lstStyle/>
                    <a:p>
                      <a:pPr algn="r"/>
                      <a:r>
                        <a:rPr sz="900" b="0">
                          <a:solidFill>
                            <a:srgbClr val="2B2F38"/>
                          </a:solidFill>
                          <a:latin typeface="Calibri"/>
                        </a:rPr>
                        <a:t>$1.4M</a:t>
                      </a:r>
                    </a:p>
                  </a:txBody>
                  <a:tcPr marL="64008" marR="64008" marT="18288" marB="18288" anchor="ctr">
                    <a:solidFill>
                      <a:srgbClr val="FFFFFF"/>
                    </a:solidFill>
                  </a:tcPr>
                </a:tc>
                <a:tc>
                  <a:txBody>
                    <a:bodyPr/>
                    <a:lstStyle/>
                    <a:p>
                      <a:pPr algn="r"/>
                      <a:r>
                        <a:rPr sz="900" b="0">
                          <a:solidFill>
                            <a:srgbClr val="2B2F38"/>
                          </a:solidFill>
                          <a:latin typeface="Calibri"/>
                        </a:rPr>
                        <a:t>0.62</a:t>
                      </a:r>
                    </a:p>
                  </a:txBody>
                  <a:tcPr marL="64008" marR="64008" marT="18288" marB="18288" anchor="ctr">
                    <a:solidFill>
                      <a:srgbClr val="FFFFFF"/>
                    </a:solidFill>
                  </a:tcPr>
                </a:tc>
              </a:tr>
              <a:tr h="416559">
                <a:tc>
                  <a:txBody>
                    <a:bodyPr/>
                    <a:lstStyle/>
                    <a:p>
                      <a:pPr algn="l"/>
                      <a:r>
                        <a:rPr sz="900" b="0">
                          <a:solidFill>
                            <a:srgbClr val="2B2F38"/>
                          </a:solidFill>
                          <a:latin typeface="Calibri"/>
                        </a:rPr>
                        <a:t>Albertsons</a:t>
                      </a:r>
                    </a:p>
                  </a:txBody>
                  <a:tcPr marL="64008" marR="64008" marT="18288" marB="18288" anchor="ctr">
                    <a:solidFill>
                      <a:srgbClr val="F5F7F9"/>
                    </a:solidFill>
                  </a:tcPr>
                </a:tc>
                <a:tc>
                  <a:txBody>
                    <a:bodyPr/>
                    <a:lstStyle/>
                    <a:p>
                      <a:pPr algn="r"/>
                      <a:r>
                        <a:rPr sz="900" b="0">
                          <a:solidFill>
                            <a:srgbClr val="2B2F38"/>
                          </a:solidFill>
                          <a:latin typeface="Calibri"/>
                        </a:rPr>
                        <a:t>4</a:t>
                      </a:r>
                    </a:p>
                  </a:txBody>
                  <a:tcPr marL="64008" marR="64008" marT="18288" marB="18288" anchor="ctr">
                    <a:solidFill>
                      <a:srgbClr val="F5F7F9"/>
                    </a:solidFill>
                  </a:tcPr>
                </a:tc>
                <a:tc>
                  <a:txBody>
                    <a:bodyPr/>
                    <a:lstStyle/>
                    <a:p>
                      <a:pPr algn="r"/>
                      <a:r>
                        <a:rPr sz="900" b="0">
                          <a:solidFill>
                            <a:srgbClr val="2B2F38"/>
                          </a:solidFill>
                          <a:latin typeface="Calibri"/>
                        </a:rPr>
                        <a:t>$1.0M</a:t>
                      </a:r>
                    </a:p>
                  </a:txBody>
                  <a:tcPr marL="64008" marR="64008" marT="18288" marB="18288" anchor="ctr">
                    <a:solidFill>
                      <a:srgbClr val="F5F7F9"/>
                    </a:solidFill>
                  </a:tcPr>
                </a:tc>
                <a:tc>
                  <a:txBody>
                    <a:bodyPr/>
                    <a:lstStyle/>
                    <a:p>
                      <a:pPr algn="r"/>
                      <a:r>
                        <a:rPr sz="900" b="0">
                          <a:solidFill>
                            <a:srgbClr val="2B2F38"/>
                          </a:solidFill>
                          <a:latin typeface="Calibri"/>
                        </a:rPr>
                        <a:t>$1.0M</a:t>
                      </a:r>
                    </a:p>
                  </a:txBody>
                  <a:tcPr marL="64008" marR="64008" marT="18288" marB="18288" anchor="ctr">
                    <a:solidFill>
                      <a:srgbClr val="F5F7F9"/>
                    </a:solidFill>
                  </a:tcPr>
                </a:tc>
                <a:tc>
                  <a:txBody>
                    <a:bodyPr/>
                    <a:lstStyle/>
                    <a:p>
                      <a:pPr algn="r"/>
                      <a:r>
                        <a:rPr sz="900" b="0">
                          <a:solidFill>
                            <a:srgbClr val="2B2F38"/>
                          </a:solidFill>
                          <a:latin typeface="Calibri"/>
                        </a:rPr>
                        <a:t>0.54</a:t>
                      </a:r>
                    </a:p>
                  </a:txBody>
                  <a:tcPr marL="64008" marR="64008" marT="18288" marB="18288" anchor="ctr">
                    <a:solidFill>
                      <a:srgbClr val="F5F7F9"/>
                    </a:solidFill>
                  </a:tcPr>
                </a:tc>
              </a:tr>
              <a:tr h="416559">
                <a:tc>
                  <a:txBody>
                    <a:bodyPr/>
                    <a:lstStyle/>
                    <a:p>
                      <a:pPr algn="l"/>
                      <a:r>
                        <a:rPr sz="900" b="0">
                          <a:solidFill>
                            <a:srgbClr val="2B2F38"/>
                          </a:solidFill>
                          <a:latin typeface="Calibri"/>
                        </a:rPr>
                        <a:t>Mountain-West-Multi</a:t>
                      </a:r>
                    </a:p>
                  </a:txBody>
                  <a:tcPr marL="64008" marR="64008" marT="18288" marB="18288" anchor="ctr">
                    <a:solidFill>
                      <a:srgbClr val="FFFFFF"/>
                    </a:solidFill>
                  </a:tcPr>
                </a:tc>
                <a:tc>
                  <a:txBody>
                    <a:bodyPr/>
                    <a:lstStyle/>
                    <a:p>
                      <a:pPr algn="r"/>
                      <a:r>
                        <a:rPr sz="900" b="0">
                          <a:solidFill>
                            <a:srgbClr val="2B2F38"/>
                          </a:solidFill>
                          <a:latin typeface="Calibri"/>
                        </a:rPr>
                        <a:t>3</a:t>
                      </a:r>
                    </a:p>
                  </a:txBody>
                  <a:tcPr marL="64008" marR="64008" marT="18288" marB="18288" anchor="ctr">
                    <a:solidFill>
                      <a:srgbClr val="FFFFFF"/>
                    </a:solidFill>
                  </a:tcPr>
                </a:tc>
                <a:tc>
                  <a:txBody>
                    <a:bodyPr/>
                    <a:lstStyle/>
                    <a:p>
                      <a:pPr algn="r"/>
                      <a:r>
                        <a:rPr sz="900" b="0">
                          <a:solidFill>
                            <a:srgbClr val="2B2F38"/>
                          </a:solidFill>
                          <a:latin typeface="Calibri"/>
                        </a:rPr>
                        <a:t>$0.9M</a:t>
                      </a:r>
                    </a:p>
                  </a:txBody>
                  <a:tcPr marL="64008" marR="64008" marT="18288" marB="18288" anchor="ctr">
                    <a:solidFill>
                      <a:srgbClr val="FFFFFF"/>
                    </a:solidFill>
                  </a:tcPr>
                </a:tc>
                <a:tc>
                  <a:txBody>
                    <a:bodyPr/>
                    <a:lstStyle/>
                    <a:p>
                      <a:pPr algn="r"/>
                      <a:r>
                        <a:rPr sz="900" b="0">
                          <a:solidFill>
                            <a:srgbClr val="2B2F38"/>
                          </a:solidFill>
                          <a:latin typeface="Calibri"/>
                        </a:rPr>
                        <a:t>$-0.4M</a:t>
                      </a:r>
                    </a:p>
                  </a:txBody>
                  <a:tcPr marL="64008" marR="64008" marT="18288" marB="18288" anchor="ctr">
                    <a:solidFill>
                      <a:srgbClr val="FFFFFF"/>
                    </a:solidFill>
                  </a:tcPr>
                </a:tc>
                <a:tc>
                  <a:txBody>
                    <a:bodyPr/>
                    <a:lstStyle/>
                    <a:p>
                      <a:pPr algn="r"/>
                      <a:r>
                        <a:rPr sz="900" b="0">
                          <a:solidFill>
                            <a:srgbClr val="2B2F38"/>
                          </a:solidFill>
                          <a:latin typeface="Calibri"/>
                        </a:rPr>
                        <a:t>-0.18</a:t>
                      </a:r>
                    </a:p>
                  </a:txBody>
                  <a:tcPr marL="64008" marR="64008" marT="18288" marB="18288" anchor="ctr">
                    <a:solidFill>
                      <a:srgbClr val="FFFFFF"/>
                    </a:solidFill>
                  </a:tcPr>
                </a:tc>
              </a:tr>
              <a:tr h="416559">
                <a:tc>
                  <a:txBody>
                    <a:bodyPr/>
                    <a:lstStyle/>
                    <a:p>
                      <a:pPr algn="l"/>
                      <a:r>
                        <a:rPr sz="900" b="0">
                          <a:solidFill>
                            <a:srgbClr val="2B2F38"/>
                          </a:solidFill>
                          <a:latin typeface="Calibri"/>
                        </a:rPr>
                        <a:t>Whole Foods</a:t>
                      </a:r>
                    </a:p>
                  </a:txBody>
                  <a:tcPr marL="64008" marR="64008" marT="18288" marB="18288" anchor="ctr">
                    <a:solidFill>
                      <a:srgbClr val="F5F7F9"/>
                    </a:solidFill>
                  </a:tcPr>
                </a:tc>
                <a:tc>
                  <a:txBody>
                    <a:bodyPr/>
                    <a:lstStyle/>
                    <a:p>
                      <a:pPr algn="r"/>
                      <a:r>
                        <a:rPr sz="900" b="0">
                          <a:solidFill>
                            <a:srgbClr val="2B2F38"/>
                          </a:solidFill>
                          <a:latin typeface="Calibri"/>
                        </a:rPr>
                        <a:t>3</a:t>
                      </a:r>
                    </a:p>
                  </a:txBody>
                  <a:tcPr marL="64008" marR="64008" marT="18288" marB="18288" anchor="ctr">
                    <a:solidFill>
                      <a:srgbClr val="F5F7F9"/>
                    </a:solidFill>
                  </a:tcPr>
                </a:tc>
                <a:tc>
                  <a:txBody>
                    <a:bodyPr/>
                    <a:lstStyle/>
                    <a:p>
                      <a:pPr algn="r"/>
                      <a:r>
                        <a:rPr sz="900" b="0">
                          <a:solidFill>
                            <a:srgbClr val="2B2F38"/>
                          </a:solidFill>
                          <a:latin typeface="Calibri"/>
                        </a:rPr>
                        <a:t>$0.6M</a:t>
                      </a:r>
                    </a:p>
                  </a:txBody>
                  <a:tcPr marL="64008" marR="64008" marT="18288" marB="18288" anchor="ctr">
                    <a:solidFill>
                      <a:srgbClr val="F5F7F9"/>
                    </a:solidFill>
                  </a:tcPr>
                </a:tc>
                <a:tc>
                  <a:txBody>
                    <a:bodyPr/>
                    <a:lstStyle/>
                    <a:p>
                      <a:pPr algn="r"/>
                      <a:r>
                        <a:rPr sz="900" b="0">
                          <a:solidFill>
                            <a:srgbClr val="2B2F38"/>
                          </a:solidFill>
                          <a:latin typeface="Calibri"/>
                        </a:rPr>
                        <a:t>$0.7M</a:t>
                      </a:r>
                    </a:p>
                  </a:txBody>
                  <a:tcPr marL="64008" marR="64008" marT="18288" marB="18288" anchor="ctr">
                    <a:solidFill>
                      <a:srgbClr val="F5F7F9"/>
                    </a:solidFill>
                  </a:tcPr>
                </a:tc>
                <a:tc>
                  <a:txBody>
                    <a:bodyPr/>
                    <a:lstStyle/>
                    <a:p>
                      <a:pPr algn="r"/>
                      <a:r>
                        <a:rPr sz="900" b="0">
                          <a:solidFill>
                            <a:srgbClr val="2B2F38"/>
                          </a:solidFill>
                          <a:latin typeface="Calibri"/>
                        </a:rPr>
                        <a:t>0.68</a:t>
                      </a:r>
                    </a:p>
                  </a:txBody>
                  <a:tcPr marL="64008" marR="64008" marT="18288" marB="18288" anchor="ctr">
                    <a:solidFill>
                      <a:srgbClr val="F5F7F9"/>
                    </a:solidFill>
                  </a:tcPr>
                </a:tc>
              </a:tr>
              <a:tr h="416559">
                <a:tc>
                  <a:txBody>
                    <a:bodyPr/>
                    <a:lstStyle/>
                    <a:p>
                      <a:pPr algn="l"/>
                      <a:r>
                        <a:rPr sz="900" b="0">
                          <a:solidFill>
                            <a:srgbClr val="2B2F38"/>
                          </a:solidFill>
                          <a:latin typeface="Calibri"/>
                        </a:rPr>
                        <a:t>Sprouts</a:t>
                      </a:r>
                    </a:p>
                  </a:txBody>
                  <a:tcPr marL="64008" marR="64008" marT="18288" marB="18288" anchor="ctr">
                    <a:solidFill>
                      <a:srgbClr val="FFFFFF"/>
                    </a:solidFill>
                  </a:tcPr>
                </a:tc>
                <a:tc>
                  <a:txBody>
                    <a:bodyPr/>
                    <a:lstStyle/>
                    <a:p>
                      <a:pPr algn="r"/>
                      <a:r>
                        <a:rPr sz="900" b="0">
                          <a:solidFill>
                            <a:srgbClr val="2B2F38"/>
                          </a:solidFill>
                          <a:latin typeface="Calibri"/>
                        </a:rPr>
                        <a:t>3</a:t>
                      </a:r>
                    </a:p>
                  </a:txBody>
                  <a:tcPr marL="64008" marR="64008" marT="18288" marB="18288" anchor="ctr">
                    <a:solidFill>
                      <a:srgbClr val="FFFFFF"/>
                    </a:solidFill>
                  </a:tcPr>
                </a:tc>
                <a:tc>
                  <a:txBody>
                    <a:bodyPr/>
                    <a:lstStyle/>
                    <a:p>
                      <a:pPr algn="r"/>
                      <a:r>
                        <a:rPr sz="900" b="0">
                          <a:solidFill>
                            <a:srgbClr val="2B2F38"/>
                          </a:solidFill>
                          <a:latin typeface="Calibri"/>
                        </a:rPr>
                        <a:t>$0.4M</a:t>
                      </a:r>
                    </a:p>
                  </a:txBody>
                  <a:tcPr marL="64008" marR="64008" marT="18288" marB="18288" anchor="ctr">
                    <a:solidFill>
                      <a:srgbClr val="FFFFFF"/>
                    </a:solidFill>
                  </a:tcPr>
                </a:tc>
                <a:tc>
                  <a:txBody>
                    <a:bodyPr/>
                    <a:lstStyle/>
                    <a:p>
                      <a:pPr algn="r"/>
                      <a:r>
                        <a:rPr sz="900" b="0">
                          <a:solidFill>
                            <a:srgbClr val="2B2F38"/>
                          </a:solidFill>
                          <a:latin typeface="Calibri"/>
                        </a:rPr>
                        <a:t>$0.5M</a:t>
                      </a:r>
                    </a:p>
                  </a:txBody>
                  <a:tcPr marL="64008" marR="64008" marT="18288" marB="18288" anchor="ctr">
                    <a:solidFill>
                      <a:srgbClr val="FFFFFF"/>
                    </a:solidFill>
                  </a:tcPr>
                </a:tc>
                <a:tc>
                  <a:txBody>
                    <a:bodyPr/>
                    <a:lstStyle/>
                    <a:p>
                      <a:pPr algn="r"/>
                      <a:r>
                        <a:rPr sz="900" b="0">
                          <a:solidFill>
                            <a:srgbClr val="2B2F38"/>
                          </a:solidFill>
                          <a:latin typeface="Calibri"/>
                        </a:rPr>
                        <a:t>0.65</a:t>
                      </a:r>
                    </a:p>
                  </a:txBody>
                  <a:tcPr marL="64008" marR="64008" marT="18288" marB="18288" anchor="ctr">
                    <a:solidFill>
                      <a:srgbClr val="FFFFFF"/>
                    </a:solidFill>
                  </a:tcPr>
                </a:tc>
              </a:tr>
              <a:tr h="416559">
                <a:tc>
                  <a:txBody>
                    <a:bodyPr/>
                    <a:lstStyle/>
                    <a:p>
                      <a:pPr algn="l"/>
                      <a:r>
                        <a:rPr sz="900" b="0">
                          <a:solidFill>
                            <a:srgbClr val="2B2F38"/>
                          </a:solidFill>
                          <a:latin typeface="Calibri"/>
                        </a:rPr>
                        <a:t>Sams Club</a:t>
                      </a:r>
                    </a:p>
                  </a:txBody>
                  <a:tcPr marL="64008" marR="64008" marT="18288" marB="18288" anchor="ctr">
                    <a:solidFill>
                      <a:srgbClr val="F5F7F9"/>
                    </a:solidFill>
                  </a:tcPr>
                </a:tc>
                <a:tc>
                  <a:txBody>
                    <a:bodyPr/>
                    <a:lstStyle/>
                    <a:p>
                      <a:pPr algn="r"/>
                      <a:r>
                        <a:rPr sz="900" b="0">
                          <a:solidFill>
                            <a:srgbClr val="2B2F38"/>
                          </a:solidFill>
                          <a:latin typeface="Calibri"/>
                        </a:rPr>
                        <a:t>1</a:t>
                      </a:r>
                    </a:p>
                  </a:txBody>
                  <a:tcPr marL="64008" marR="64008" marT="18288" marB="18288" anchor="ctr">
                    <a:solidFill>
                      <a:srgbClr val="F5F7F9"/>
                    </a:solidFill>
                  </a:tcPr>
                </a:tc>
                <a:tc>
                  <a:txBody>
                    <a:bodyPr/>
                    <a:lstStyle/>
                    <a:p>
                      <a:pPr algn="r"/>
                      <a:r>
                        <a:rPr sz="900" b="0">
                          <a:solidFill>
                            <a:srgbClr val="2B2F38"/>
                          </a:solidFill>
                          <a:latin typeface="Calibri"/>
                        </a:rPr>
                        <a:t>$0.3M</a:t>
                      </a:r>
                    </a:p>
                  </a:txBody>
                  <a:tcPr marL="64008" marR="64008" marT="18288" marB="18288" anchor="ctr">
                    <a:solidFill>
                      <a:srgbClr val="F5F7F9"/>
                    </a:solidFill>
                  </a:tcPr>
                </a:tc>
                <a:tc>
                  <a:txBody>
                    <a:bodyPr/>
                    <a:lstStyle/>
                    <a:p>
                      <a:pPr algn="r"/>
                      <a:r>
                        <a:rPr sz="900" b="0">
                          <a:solidFill>
                            <a:srgbClr val="2B2F38"/>
                          </a:solidFill>
                          <a:latin typeface="Calibri"/>
                        </a:rPr>
                        <a:t>$0.3M</a:t>
                      </a:r>
                    </a:p>
                  </a:txBody>
                  <a:tcPr marL="64008" marR="64008" marT="18288" marB="18288" anchor="ctr">
                    <a:solidFill>
                      <a:srgbClr val="F5F7F9"/>
                    </a:solidFill>
                  </a:tcPr>
                </a:tc>
                <a:tc>
                  <a:txBody>
                    <a:bodyPr/>
                    <a:lstStyle/>
                    <a:p>
                      <a:pPr algn="r"/>
                      <a:r>
                        <a:rPr sz="900" b="0">
                          <a:solidFill>
                            <a:srgbClr val="2B2F38"/>
                          </a:solidFill>
                          <a:latin typeface="Calibri"/>
                        </a:rPr>
                        <a:t>0.59</a:t>
                      </a:r>
                    </a:p>
                  </a:txBody>
                  <a:tcPr marL="64008" marR="64008" marT="18288" marB="18288" anchor="ctr">
                    <a:solidFill>
                      <a:srgbClr val="F5F7F9"/>
                    </a:solidFill>
                  </a:tcPr>
                </a:tc>
              </a:tr>
            </a:tbl>
          </a:graphicData>
        </a:graphic>
      </p:graphicFrame>
      <p:sp>
        <p:nvSpPr>
          <p:cNvPr id="9" name="TextBox 8"/>
          <p:cNvSpPr txBox="1"/>
          <p:nvPr/>
        </p:nvSpPr>
        <p:spPr>
          <a:xfrm>
            <a:off x="640080" y="5669280"/>
            <a:ext cx="10911535" cy="384048"/>
          </a:xfrm>
          <a:prstGeom prst="rect">
            <a:avLst/>
          </a:prstGeom>
          <a:noFill/>
        </p:spPr>
        <p:txBody>
          <a:bodyPr wrap="square" lIns="0" rIns="0" tIns="0" bIns="0">
            <a:spAutoFit/>
          </a:bodyPr>
          <a:lstStyle/>
          <a:p>
            <a:pPr algn="l">
              <a:lnSpc>
                <a:spcPct val="116000"/>
              </a:lnSpc>
              <a:spcAft>
                <a:spcPts val="0"/>
              </a:spcAft>
            </a:pPr>
            <a:r>
              <a:rPr sz="1050" b="0" i="0">
                <a:solidFill>
                  <a:srgbClr val="5B6472"/>
                </a:solidFill>
                <a:latin typeface="Calibri"/>
              </a:rPr>
              <a:t>Source: seed_trade_promo_events_q1_2026.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BY BRAND</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The lean promoters are the efficient ones</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H1 FY26 trade PEA  ·  4</a:t>
            </a:r>
          </a:p>
        </p:txBody>
      </p:sp>
      <p:pic>
        <p:nvPicPr>
          <p:cNvPr id="7" name="Picture 6" descr="r54_brand.png"/>
          <p:cNvPicPr>
            <a:picLocks noChangeAspect="1"/>
          </p:cNvPicPr>
          <p:nvPr/>
        </p:nvPicPr>
        <p:blipFill>
          <a:blip r:embed="rId2"/>
          <a:stretch>
            <a:fillRect/>
          </a:stretch>
        </p:blipFill>
        <p:spPr>
          <a:xfrm>
            <a:off x="640080" y="2145006"/>
            <a:ext cx="6492240" cy="2494835"/>
          </a:xfrm>
          <a:prstGeom prst="rect">
            <a:avLst/>
          </a:prstGeom>
        </p:spPr>
      </p:pic>
      <p:sp>
        <p:nvSpPr>
          <p:cNvPr id="8" name="TextBox 7"/>
          <p:cNvSpPr txBox="1"/>
          <p:nvPr/>
        </p:nvSpPr>
        <p:spPr>
          <a:xfrm>
            <a:off x="7360920" y="1472184"/>
            <a:ext cx="4206240" cy="4581144"/>
          </a:xfrm>
          <a:prstGeom prst="rect">
            <a:avLst/>
          </a:prstGeom>
          <a:noFill/>
        </p:spPr>
        <p:txBody>
          <a:bodyPr wrap="square" lIns="0" rIns="0" tIns="0" bIns="0">
            <a:spAutoFit/>
          </a:bodyPr>
          <a:lstStyle/>
          <a:p>
            <a:pPr>
              <a:lnSpc>
                <a:spcPct val="120000"/>
              </a:lnSpc>
              <a:spcAft>
                <a:spcPts val="713"/>
              </a:spcAft>
            </a:pPr>
            <a:r>
              <a:rPr sz="1150" b="1">
                <a:solidFill>
                  <a:srgbClr val="2E7D75"/>
                </a:solidFill>
                <a:latin typeface="Calibri"/>
              </a:rPr>
              <a:t>—  </a:t>
            </a:r>
            <a:r>
              <a:rPr sz="1150" b="1" i="0">
                <a:solidFill>
                  <a:srgbClr val="2B2F38"/>
                </a:solidFill>
                <a:latin typeface="Calibri"/>
              </a:rPr>
              <a:t>ProteinPeak promotes least and converts best</a:t>
            </a:r>
            <a:r>
              <a:rPr sz="1150" b="0" i="0">
                <a:solidFill>
                  <a:srgbClr val="2B2F38"/>
                </a:solidFill>
                <a:latin typeface="Calibri"/>
              </a:rPr>
              <a:t> — trade rate ~12.9% of gross against Crunchwell's ~25.6%.</a:t>
            </a:r>
          </a:p>
          <a:p>
            <a:pPr>
              <a:lnSpc>
                <a:spcPct val="120000"/>
              </a:lnSpc>
              <a:spcAft>
                <a:spcPts val="713"/>
              </a:spcAft>
            </a:pPr>
            <a:r>
              <a:rPr sz="1150" b="1">
                <a:solidFill>
                  <a:srgbClr val="2E7D75"/>
                </a:solidFill>
                <a:latin typeface="Calibri"/>
              </a:rPr>
              <a:t>—  </a:t>
            </a:r>
            <a:r>
              <a:rPr sz="1150" b="1" i="0">
                <a:solidFill>
                  <a:srgbClr val="2B2F38"/>
                </a:solidFill>
                <a:latin typeface="Calibri"/>
              </a:rPr>
              <a:t>Crunchwell's index is respectable on a huge base</a:t>
            </a:r>
            <a:r>
              <a:rPr sz="1150" b="0" i="0">
                <a:solidFill>
                  <a:srgbClr val="2B2F38"/>
                </a:solidFill>
                <a:latin typeface="Calibri"/>
              </a:rPr>
              <a:t>, which is why the absolute waste is concentrated there.</a:t>
            </a:r>
          </a:p>
          <a:p>
            <a:pPr>
              <a:lnSpc>
                <a:spcPct val="120000"/>
              </a:lnSpc>
              <a:spcAft>
                <a:spcPts val="713"/>
              </a:spcAft>
            </a:pPr>
            <a:r>
              <a:rPr sz="1150" b="1">
                <a:solidFill>
                  <a:srgbClr val="2E7D75"/>
                </a:solidFill>
                <a:latin typeface="Calibri"/>
              </a:rPr>
              <a:t>—  </a:t>
            </a:r>
            <a:r>
              <a:rPr sz="1150" b="1" i="0">
                <a:solidFill>
                  <a:srgbClr val="2B2F38"/>
                </a:solidFill>
                <a:latin typeface="Calibri"/>
              </a:rPr>
              <a:t>HoneyNest is the worst combination:</a:t>
            </a:r>
            <a:r>
              <a:rPr sz="1150" b="0" i="0">
                <a:solidFill>
                  <a:srgbClr val="2B2F38"/>
                </a:solidFill>
                <a:latin typeface="Calibri"/>
              </a:rPr>
              <a:t> heavy depth in a declining segment (see the portfolio decision, Report 50).</a:t>
            </a:r>
          </a:p>
          <a:p>
            <a:pPr>
              <a:lnSpc>
                <a:spcPct val="120000"/>
              </a:lnSpc>
              <a:spcAft>
                <a:spcPts val="713"/>
              </a:spcAft>
            </a:pPr>
            <a:r>
              <a:rPr sz="1150" b="1">
                <a:solidFill>
                  <a:srgbClr val="2E7D75"/>
                </a:solidFill>
                <a:latin typeface="Calibri"/>
              </a:rPr>
              <a:t>—  </a:t>
            </a:r>
            <a:r>
              <a:rPr sz="1150" b="1" i="0">
                <a:solidFill>
                  <a:srgbClr val="2B2F38"/>
                </a:solidFill>
                <a:latin typeface="Calibri"/>
              </a:rPr>
              <a:t>Rule of thumb from this quarter:</a:t>
            </a:r>
            <a:r>
              <a:rPr sz="1150" b="0" i="0">
                <a:solidFill>
                  <a:srgbClr val="2B2F38"/>
                </a:solidFill>
                <a:latin typeface="Calibri"/>
              </a:rPr>
              <a:t> every 5 points of average depth costs roughly 0.04 of index.</a:t>
            </a:r>
          </a:p>
        </p:txBody>
      </p:sp>
      <p:sp>
        <p:nvSpPr>
          <p:cNvPr id="9" name="TextBox 8"/>
          <p:cNvSpPr txBox="1"/>
          <p:nvPr/>
        </p:nvSpPr>
        <p:spPr>
          <a:xfrm>
            <a:off x="640080" y="5669280"/>
            <a:ext cx="10911535" cy="384048"/>
          </a:xfrm>
          <a:prstGeom prst="rect">
            <a:avLst/>
          </a:prstGeom>
          <a:noFill/>
        </p:spPr>
        <p:txBody>
          <a:bodyPr wrap="square" lIns="0" rIns="0" tIns="0" bIns="0">
            <a:spAutoFit/>
          </a:bodyPr>
          <a:lstStyle/>
          <a:p>
            <a:pPr algn="l">
              <a:lnSpc>
                <a:spcPct val="116000"/>
              </a:lnSpc>
              <a:spcAft>
                <a:spcPts val="0"/>
              </a:spcAft>
            </a:pPr>
            <a:r>
              <a:rPr sz="1050" b="0" i="0">
                <a:solidFill>
                  <a:srgbClr val="5B6472"/>
                </a:solidFill>
                <a:latin typeface="Calibri"/>
              </a:rPr>
              <a:t>Source: seed_trade_promo_events_q1_2026, seed_trade_spend_fy25.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BY MECHANIC</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Not every mechanic earns its place on the calendar</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H1 FY26 trade PEA  ·  5</a:t>
            </a:r>
          </a:p>
        </p:txBody>
      </p:sp>
      <p:graphicFrame>
        <p:nvGraphicFramePr>
          <p:cNvPr id="7" name="Table 6"/>
          <p:cNvGraphicFramePr>
            <a:graphicFrameLocks noGrp="1"/>
          </p:cNvGraphicFramePr>
          <p:nvPr/>
        </p:nvGraphicFramePr>
        <p:xfrm>
          <a:off x="640080" y="1417320"/>
          <a:ext cx="10911532" cy="3429000"/>
        </p:xfrm>
        <a:graphic>
          <a:graphicData uri="http://schemas.openxmlformats.org/drawingml/2006/table">
            <a:tbl>
              <a:tblPr firstRow="1" bandRow="1">
                <a:tableStyleId>{5C22544A-7EE6-4342-B048-85BDC9FD1C3A}</a:tableStyleId>
              </a:tblPr>
              <a:tblGrid>
                <a:gridCol w="3273460"/>
                <a:gridCol w="1309384"/>
                <a:gridCol w="1745845"/>
                <a:gridCol w="1527614"/>
                <a:gridCol w="1418499"/>
                <a:gridCol w="1636730"/>
              </a:tblGrid>
              <a:tr h="342900">
                <a:tc>
                  <a:txBody>
                    <a:bodyPr/>
                    <a:lstStyle/>
                    <a:p>
                      <a:pPr algn="l"/>
                      <a:r>
                        <a:rPr sz="900" b="1">
                          <a:solidFill>
                            <a:srgbClr val="FFFFFF"/>
                          </a:solidFill>
                          <a:latin typeface="Calibri"/>
                        </a:rPr>
                        <a:t>Mechanic</a:t>
                      </a:r>
                    </a:p>
                  </a:txBody>
                  <a:tcPr marL="64008" marR="64008" marT="27432" marB="27432" anchor="ctr">
                    <a:solidFill>
                      <a:srgbClr val="1F2A44"/>
                    </a:solidFill>
                  </a:tcPr>
                </a:tc>
                <a:tc>
                  <a:txBody>
                    <a:bodyPr/>
                    <a:lstStyle/>
                    <a:p>
                      <a:pPr algn="r"/>
                      <a:r>
                        <a:rPr sz="900" b="1">
                          <a:solidFill>
                            <a:srgbClr val="FFFFFF"/>
                          </a:solidFill>
                          <a:latin typeface="Calibri"/>
                        </a:rPr>
                        <a:t>Events</a:t>
                      </a:r>
                    </a:p>
                  </a:txBody>
                  <a:tcPr marL="64008" marR="64008" marT="27432" marB="27432" anchor="ctr">
                    <a:solidFill>
                      <a:srgbClr val="1F2A44"/>
                    </a:solidFill>
                  </a:tcPr>
                </a:tc>
                <a:tc>
                  <a:txBody>
                    <a:bodyPr/>
                    <a:lstStyle/>
                    <a:p>
                      <a:pPr algn="r"/>
                      <a:r>
                        <a:rPr sz="900" b="1">
                          <a:solidFill>
                            <a:srgbClr val="FFFFFF"/>
                          </a:solidFill>
                          <a:latin typeface="Calibri"/>
                        </a:rPr>
                        <a:t>Spend</a:t>
                      </a:r>
                    </a:p>
                  </a:txBody>
                  <a:tcPr marL="64008" marR="64008" marT="27432" marB="27432" anchor="ctr">
                    <a:solidFill>
                      <a:srgbClr val="1F2A44"/>
                    </a:solidFill>
                  </a:tcPr>
                </a:tc>
                <a:tc>
                  <a:txBody>
                    <a:bodyPr/>
                    <a:lstStyle/>
                    <a:p>
                      <a:pPr algn="r"/>
                      <a:r>
                        <a:rPr sz="900" b="1">
                          <a:solidFill>
                            <a:srgbClr val="FFFFFF"/>
                          </a:solidFill>
                          <a:latin typeface="Calibri"/>
                        </a:rPr>
                        <a:t>Avg lift</a:t>
                      </a:r>
                    </a:p>
                  </a:txBody>
                  <a:tcPr marL="64008" marR="64008" marT="27432" marB="27432" anchor="ctr">
                    <a:solidFill>
                      <a:srgbClr val="1F2A44"/>
                    </a:solidFill>
                  </a:tcPr>
                </a:tc>
                <a:tc>
                  <a:txBody>
                    <a:bodyPr/>
                    <a:lstStyle/>
                    <a:p>
                      <a:pPr algn="r"/>
                      <a:r>
                        <a:rPr sz="900" b="1">
                          <a:solidFill>
                            <a:srgbClr val="FFFFFF"/>
                          </a:solidFill>
                          <a:latin typeface="Calibri"/>
                        </a:rPr>
                        <a:t>Index</a:t>
                      </a:r>
                    </a:p>
                  </a:txBody>
                  <a:tcPr marL="64008" marR="64008" marT="27432" marB="27432" anchor="ctr">
                    <a:solidFill>
                      <a:srgbClr val="1F2A44"/>
                    </a:solidFill>
                  </a:tcPr>
                </a:tc>
                <a:tc>
                  <a:txBody>
                    <a:bodyPr/>
                    <a:lstStyle/>
                    <a:p>
                      <a:pPr algn="r"/>
                      <a:r>
                        <a:rPr sz="900" b="1">
                          <a:solidFill>
                            <a:srgbClr val="FFFFFF"/>
                          </a:solidFill>
                          <a:latin typeface="Calibri"/>
                        </a:rPr>
                        <a:t>Call</a:t>
                      </a:r>
                    </a:p>
                  </a:txBody>
                  <a:tcPr marL="64008" marR="64008" marT="27432" marB="27432" anchor="ctr">
                    <a:solidFill>
                      <a:srgbClr val="1F2A44"/>
                    </a:solidFill>
                  </a:tcPr>
                </a:tc>
              </a:tr>
              <a:tr h="342900">
                <a:tc>
                  <a:txBody>
                    <a:bodyPr/>
                    <a:lstStyle/>
                    <a:p>
                      <a:pPr algn="l"/>
                      <a:r>
                        <a:rPr sz="950" b="0">
                          <a:solidFill>
                            <a:srgbClr val="2B2F38"/>
                          </a:solidFill>
                          <a:latin typeface="Calibri"/>
                        </a:rPr>
                        <a:t>2.99 14oz</a:t>
                      </a:r>
                    </a:p>
                  </a:txBody>
                  <a:tcPr marL="64008" marR="64008" marT="18288" marB="18288" anchor="ctr">
                    <a:solidFill>
                      <a:srgbClr val="FFFFFF"/>
                    </a:solidFill>
                  </a:tcPr>
                </a:tc>
                <a:tc>
                  <a:txBody>
                    <a:bodyPr/>
                    <a:lstStyle/>
                    <a:p>
                      <a:pPr algn="r"/>
                      <a:r>
                        <a:rPr sz="950" b="0">
                          <a:solidFill>
                            <a:srgbClr val="2B2F38"/>
                          </a:solidFill>
                          <a:latin typeface="Calibri"/>
                        </a:rPr>
                        <a:t>5</a:t>
                      </a:r>
                    </a:p>
                  </a:txBody>
                  <a:tcPr marL="64008" marR="64008" marT="18288" marB="18288" anchor="ctr">
                    <a:solidFill>
                      <a:srgbClr val="FFFFFF"/>
                    </a:solidFill>
                  </a:tcPr>
                </a:tc>
                <a:tc>
                  <a:txBody>
                    <a:bodyPr/>
                    <a:lstStyle/>
                    <a:p>
                      <a:pPr algn="r"/>
                      <a:r>
                        <a:rPr sz="950" b="0">
                          <a:solidFill>
                            <a:srgbClr val="2B2F38"/>
                          </a:solidFill>
                          <a:latin typeface="Calibri"/>
                        </a:rPr>
                        <a:t>$3.7M</a:t>
                      </a:r>
                    </a:p>
                  </a:txBody>
                  <a:tcPr marL="64008" marR="64008" marT="18288" marB="18288" anchor="ctr">
                    <a:solidFill>
                      <a:srgbClr val="FFFFFF"/>
                    </a:solidFill>
                  </a:tcPr>
                </a:tc>
                <a:tc>
                  <a:txBody>
                    <a:bodyPr/>
                    <a:lstStyle/>
                    <a:p>
                      <a:pPr algn="r"/>
                      <a:r>
                        <a:rPr sz="950" b="0">
                          <a:solidFill>
                            <a:srgbClr val="2B2F38"/>
                          </a:solidFill>
                          <a:latin typeface="Calibri"/>
                        </a:rPr>
                        <a:t>25.4%</a:t>
                      </a:r>
                    </a:p>
                  </a:txBody>
                  <a:tcPr marL="64008" marR="64008" marT="18288" marB="18288" anchor="ctr">
                    <a:solidFill>
                      <a:srgbClr val="FFFFFF"/>
                    </a:solidFill>
                  </a:tcPr>
                </a:tc>
                <a:tc>
                  <a:txBody>
                    <a:bodyPr/>
                    <a:lstStyle/>
                    <a:p>
                      <a:pPr algn="r"/>
                      <a:r>
                        <a:rPr sz="950" b="0">
                          <a:solidFill>
                            <a:srgbClr val="2B2F38"/>
                          </a:solidFill>
                          <a:latin typeface="Calibri"/>
                        </a:rPr>
                        <a:t>0.57</a:t>
                      </a:r>
                    </a:p>
                  </a:txBody>
                  <a:tcPr marL="64008" marR="64008" marT="18288" marB="18288" anchor="ctr">
                    <a:solidFill>
                      <a:srgbClr val="FFFFFF"/>
                    </a:solidFill>
                  </a:tcPr>
                </a:tc>
                <a:tc>
                  <a:txBody>
                    <a:bodyPr/>
                    <a:lstStyle/>
                    <a:p>
                      <a:pPr algn="r"/>
                      <a:r>
                        <a:rPr sz="950" b="0">
                          <a:solidFill>
                            <a:srgbClr val="2B2F38"/>
                          </a:solidFill>
                          <a:latin typeface="Calibri"/>
                        </a:rPr>
                        <a:t>Keep</a:t>
                      </a:r>
                    </a:p>
                  </a:txBody>
                  <a:tcPr marL="64008" marR="64008" marT="18288" marB="18288" anchor="ctr">
                    <a:solidFill>
                      <a:srgbClr val="FFFFFF"/>
                    </a:solidFill>
                  </a:tcPr>
                </a:tc>
              </a:tr>
              <a:tr h="342900">
                <a:tc>
                  <a:txBody>
                    <a:bodyPr/>
                    <a:lstStyle/>
                    <a:p>
                      <a:pPr algn="l"/>
                      <a:r>
                        <a:rPr sz="950" b="0">
                          <a:solidFill>
                            <a:srgbClr val="2B2F38"/>
                          </a:solidFill>
                          <a:latin typeface="Calibri"/>
                        </a:rPr>
                        <a:t>$0.50 off</a:t>
                      </a:r>
                    </a:p>
                  </a:txBody>
                  <a:tcPr marL="64008" marR="64008" marT="18288" marB="18288" anchor="ctr">
                    <a:solidFill>
                      <a:srgbClr val="F5F7F9"/>
                    </a:solidFill>
                  </a:tcPr>
                </a:tc>
                <a:tc>
                  <a:txBody>
                    <a:bodyPr/>
                    <a:lstStyle/>
                    <a:p>
                      <a:pPr algn="r"/>
                      <a:r>
                        <a:rPr sz="950" b="0">
                          <a:solidFill>
                            <a:srgbClr val="2B2F38"/>
                          </a:solidFill>
                          <a:latin typeface="Calibri"/>
                        </a:rPr>
                        <a:t>5</a:t>
                      </a:r>
                    </a:p>
                  </a:txBody>
                  <a:tcPr marL="64008" marR="64008" marT="18288" marB="18288" anchor="ctr">
                    <a:solidFill>
                      <a:srgbClr val="F5F7F9"/>
                    </a:solidFill>
                  </a:tcPr>
                </a:tc>
                <a:tc>
                  <a:txBody>
                    <a:bodyPr/>
                    <a:lstStyle/>
                    <a:p>
                      <a:pPr algn="r"/>
                      <a:r>
                        <a:rPr sz="950" b="0">
                          <a:solidFill>
                            <a:srgbClr val="2B2F38"/>
                          </a:solidFill>
                          <a:latin typeface="Calibri"/>
                        </a:rPr>
                        <a:t>$1.5M</a:t>
                      </a:r>
                    </a:p>
                  </a:txBody>
                  <a:tcPr marL="64008" marR="64008" marT="18288" marB="18288" anchor="ctr">
                    <a:solidFill>
                      <a:srgbClr val="F5F7F9"/>
                    </a:solidFill>
                  </a:tcPr>
                </a:tc>
                <a:tc>
                  <a:txBody>
                    <a:bodyPr/>
                    <a:lstStyle/>
                    <a:p>
                      <a:pPr algn="r"/>
                      <a:r>
                        <a:rPr sz="950" b="0">
                          <a:solidFill>
                            <a:srgbClr val="2B2F38"/>
                          </a:solidFill>
                          <a:latin typeface="Calibri"/>
                        </a:rPr>
                        <a:t>15.4%</a:t>
                      </a:r>
                    </a:p>
                  </a:txBody>
                  <a:tcPr marL="64008" marR="64008" marT="18288" marB="18288" anchor="ctr">
                    <a:solidFill>
                      <a:srgbClr val="F5F7F9"/>
                    </a:solidFill>
                  </a:tcPr>
                </a:tc>
                <a:tc>
                  <a:txBody>
                    <a:bodyPr/>
                    <a:lstStyle/>
                    <a:p>
                      <a:pPr algn="r"/>
                      <a:r>
                        <a:rPr sz="950" b="0">
                          <a:solidFill>
                            <a:srgbClr val="2B2F38"/>
                          </a:solidFill>
                          <a:latin typeface="Calibri"/>
                        </a:rPr>
                        <a:t>0.41</a:t>
                      </a:r>
                    </a:p>
                  </a:txBody>
                  <a:tcPr marL="64008" marR="64008" marT="18288" marB="18288" anchor="ctr">
                    <a:solidFill>
                      <a:srgbClr val="F5F7F9"/>
                    </a:solidFill>
                  </a:tcPr>
                </a:tc>
                <a:tc>
                  <a:txBody>
                    <a:bodyPr/>
                    <a:lstStyle/>
                    <a:p>
                      <a:pPr algn="r"/>
                      <a:r>
                        <a:rPr sz="950" b="0">
                          <a:solidFill>
                            <a:srgbClr val="2B2F38"/>
                          </a:solidFill>
                          <a:latin typeface="Calibri"/>
                        </a:rPr>
                        <a:t>Stop</a:t>
                      </a:r>
                    </a:p>
                  </a:txBody>
                  <a:tcPr marL="64008" marR="64008" marT="18288" marB="18288" anchor="ctr">
                    <a:solidFill>
                      <a:srgbClr val="F5F7F9"/>
                    </a:solidFill>
                  </a:tcPr>
                </a:tc>
              </a:tr>
              <a:tr h="342900">
                <a:tc>
                  <a:txBody>
                    <a:bodyPr/>
                    <a:lstStyle/>
                    <a:p>
                      <a:pPr algn="l"/>
                      <a:r>
                        <a:rPr sz="950" b="0">
                          <a:solidFill>
                            <a:srgbClr val="2B2F38"/>
                          </a:solidFill>
                          <a:latin typeface="Calibri"/>
                        </a:rPr>
                        <a:t>$0.40 off</a:t>
                      </a:r>
                    </a:p>
                  </a:txBody>
                  <a:tcPr marL="64008" marR="64008" marT="18288" marB="18288" anchor="ctr">
                    <a:solidFill>
                      <a:srgbClr val="FFFFFF"/>
                    </a:solidFill>
                  </a:tcPr>
                </a:tc>
                <a:tc>
                  <a:txBody>
                    <a:bodyPr/>
                    <a:lstStyle/>
                    <a:p>
                      <a:pPr algn="r"/>
                      <a:r>
                        <a:rPr sz="950" b="0">
                          <a:solidFill>
                            <a:srgbClr val="2B2F38"/>
                          </a:solidFill>
                          <a:latin typeface="Calibri"/>
                        </a:rPr>
                        <a:t>5</a:t>
                      </a:r>
                    </a:p>
                  </a:txBody>
                  <a:tcPr marL="64008" marR="64008" marT="18288" marB="18288" anchor="ctr">
                    <a:solidFill>
                      <a:srgbClr val="FFFFFF"/>
                    </a:solidFill>
                  </a:tcPr>
                </a:tc>
                <a:tc>
                  <a:txBody>
                    <a:bodyPr/>
                    <a:lstStyle/>
                    <a:p>
                      <a:pPr algn="r"/>
                      <a:r>
                        <a:rPr sz="950" b="0">
                          <a:solidFill>
                            <a:srgbClr val="2B2F38"/>
                          </a:solidFill>
                          <a:latin typeface="Calibri"/>
                        </a:rPr>
                        <a:t>$0.9M</a:t>
                      </a:r>
                    </a:p>
                  </a:txBody>
                  <a:tcPr marL="64008" marR="64008" marT="18288" marB="18288" anchor="ctr">
                    <a:solidFill>
                      <a:srgbClr val="FFFFFF"/>
                    </a:solidFill>
                  </a:tcPr>
                </a:tc>
                <a:tc>
                  <a:txBody>
                    <a:bodyPr/>
                    <a:lstStyle/>
                    <a:p>
                      <a:pPr algn="r"/>
                      <a:r>
                        <a:rPr sz="950" b="0">
                          <a:solidFill>
                            <a:srgbClr val="2B2F38"/>
                          </a:solidFill>
                          <a:latin typeface="Calibri"/>
                        </a:rPr>
                        <a:t>11.8%</a:t>
                      </a:r>
                    </a:p>
                  </a:txBody>
                  <a:tcPr marL="64008" marR="64008" marT="18288" marB="18288" anchor="ctr">
                    <a:solidFill>
                      <a:srgbClr val="FFFFFF"/>
                    </a:solidFill>
                  </a:tcPr>
                </a:tc>
                <a:tc>
                  <a:txBody>
                    <a:bodyPr/>
                    <a:lstStyle/>
                    <a:p>
                      <a:pPr algn="r"/>
                      <a:r>
                        <a:rPr sz="950" b="0">
                          <a:solidFill>
                            <a:srgbClr val="2B2F38"/>
                          </a:solidFill>
                          <a:latin typeface="Calibri"/>
                        </a:rPr>
                        <a:t>0.38</a:t>
                      </a:r>
                    </a:p>
                  </a:txBody>
                  <a:tcPr marL="64008" marR="64008" marT="18288" marB="18288" anchor="ctr">
                    <a:solidFill>
                      <a:srgbClr val="FFFFFF"/>
                    </a:solidFill>
                  </a:tcPr>
                </a:tc>
                <a:tc>
                  <a:txBody>
                    <a:bodyPr/>
                    <a:lstStyle/>
                    <a:p>
                      <a:pPr algn="r"/>
                      <a:r>
                        <a:rPr sz="950" b="0">
                          <a:solidFill>
                            <a:srgbClr val="2B2F38"/>
                          </a:solidFill>
                          <a:latin typeface="Calibri"/>
                        </a:rPr>
                        <a:t>Stop</a:t>
                      </a:r>
                    </a:p>
                  </a:txBody>
                  <a:tcPr marL="64008" marR="64008" marT="18288" marB="18288" anchor="ctr">
                    <a:solidFill>
                      <a:srgbClr val="FFFFFF"/>
                    </a:solidFill>
                  </a:tcPr>
                </a:tc>
              </a:tr>
              <a:tr h="342900">
                <a:tc>
                  <a:txBody>
                    <a:bodyPr/>
                    <a:lstStyle/>
                    <a:p>
                      <a:pPr algn="l"/>
                      <a:r>
                        <a:rPr sz="950" b="0">
                          <a:solidFill>
                            <a:srgbClr val="2B2F38"/>
                          </a:solidFill>
                          <a:latin typeface="Calibri"/>
                        </a:rPr>
                        <a:t>$0.45 off</a:t>
                      </a:r>
                    </a:p>
                  </a:txBody>
                  <a:tcPr marL="64008" marR="64008" marT="18288" marB="18288" anchor="ctr">
                    <a:solidFill>
                      <a:srgbClr val="F5F7F9"/>
                    </a:solidFill>
                  </a:tcPr>
                </a:tc>
                <a:tc>
                  <a:txBody>
                    <a:bodyPr/>
                    <a:lstStyle/>
                    <a:p>
                      <a:pPr algn="r"/>
                      <a:r>
                        <a:rPr sz="950" b="0">
                          <a:solidFill>
                            <a:srgbClr val="2B2F38"/>
                          </a:solidFill>
                          <a:latin typeface="Calibri"/>
                        </a:rPr>
                        <a:t>6</a:t>
                      </a:r>
                    </a:p>
                  </a:txBody>
                  <a:tcPr marL="64008" marR="64008" marT="18288" marB="18288" anchor="ctr">
                    <a:solidFill>
                      <a:srgbClr val="F5F7F9"/>
                    </a:solidFill>
                  </a:tcPr>
                </a:tc>
                <a:tc>
                  <a:txBody>
                    <a:bodyPr/>
                    <a:lstStyle/>
                    <a:p>
                      <a:pPr algn="r"/>
                      <a:r>
                        <a:rPr sz="950" b="0">
                          <a:solidFill>
                            <a:srgbClr val="2B2F38"/>
                          </a:solidFill>
                          <a:latin typeface="Calibri"/>
                        </a:rPr>
                        <a:t>$0.8M</a:t>
                      </a:r>
                    </a:p>
                  </a:txBody>
                  <a:tcPr marL="64008" marR="64008" marT="18288" marB="18288" anchor="ctr">
                    <a:solidFill>
                      <a:srgbClr val="F5F7F9"/>
                    </a:solidFill>
                  </a:tcPr>
                </a:tc>
                <a:tc>
                  <a:txBody>
                    <a:bodyPr/>
                    <a:lstStyle/>
                    <a:p>
                      <a:pPr algn="r"/>
                      <a:r>
                        <a:rPr sz="950" b="0">
                          <a:solidFill>
                            <a:srgbClr val="2B2F38"/>
                          </a:solidFill>
                          <a:latin typeface="Calibri"/>
                        </a:rPr>
                        <a:t>12.5%</a:t>
                      </a:r>
                    </a:p>
                  </a:txBody>
                  <a:tcPr marL="64008" marR="64008" marT="18288" marB="18288" anchor="ctr">
                    <a:solidFill>
                      <a:srgbClr val="F5F7F9"/>
                    </a:solidFill>
                  </a:tcPr>
                </a:tc>
                <a:tc>
                  <a:txBody>
                    <a:bodyPr/>
                    <a:lstStyle/>
                    <a:p>
                      <a:pPr algn="r"/>
                      <a:r>
                        <a:rPr sz="950" b="0">
                          <a:solidFill>
                            <a:srgbClr val="2B2F38"/>
                          </a:solidFill>
                          <a:latin typeface="Calibri"/>
                        </a:rPr>
                        <a:t>0.54</a:t>
                      </a:r>
                    </a:p>
                  </a:txBody>
                  <a:tcPr marL="64008" marR="64008" marT="18288" marB="18288" anchor="ctr">
                    <a:solidFill>
                      <a:srgbClr val="F5F7F9"/>
                    </a:solidFill>
                  </a:tcPr>
                </a:tc>
                <a:tc>
                  <a:txBody>
                    <a:bodyPr/>
                    <a:lstStyle/>
                    <a:p>
                      <a:pPr algn="r"/>
                      <a:r>
                        <a:rPr sz="950" b="0">
                          <a:solidFill>
                            <a:srgbClr val="2B2F38"/>
                          </a:solidFill>
                          <a:latin typeface="Calibri"/>
                        </a:rPr>
                        <a:t>Keep</a:t>
                      </a:r>
                    </a:p>
                  </a:txBody>
                  <a:tcPr marL="64008" marR="64008" marT="18288" marB="18288" anchor="ctr">
                    <a:solidFill>
                      <a:srgbClr val="F5F7F9"/>
                    </a:solidFill>
                  </a:tcPr>
                </a:tc>
              </a:tr>
              <a:tr h="342900">
                <a:tc>
                  <a:txBody>
                    <a:bodyPr/>
                    <a:lstStyle/>
                    <a:p>
                      <a:pPr algn="l"/>
                      <a:r>
                        <a:rPr sz="950" b="0">
                          <a:solidFill>
                            <a:srgbClr val="2B2F38"/>
                          </a:solidFill>
                          <a:latin typeface="Calibri"/>
                        </a:rPr>
                        <a:t>Display + sample</a:t>
                      </a:r>
                    </a:p>
                  </a:txBody>
                  <a:tcPr marL="64008" marR="64008" marT="18288" marB="18288" anchor="ctr">
                    <a:solidFill>
                      <a:srgbClr val="FFFFFF"/>
                    </a:solidFill>
                  </a:tcPr>
                </a:tc>
                <a:tc>
                  <a:txBody>
                    <a:bodyPr/>
                    <a:lstStyle/>
                    <a:p>
                      <a:pPr algn="r"/>
                      <a:r>
                        <a:rPr sz="950" b="0">
                          <a:solidFill>
                            <a:srgbClr val="2B2F38"/>
                          </a:solidFill>
                          <a:latin typeface="Calibri"/>
                        </a:rPr>
                        <a:t>3</a:t>
                      </a:r>
                    </a:p>
                  </a:txBody>
                  <a:tcPr marL="64008" marR="64008" marT="18288" marB="18288" anchor="ctr">
                    <a:solidFill>
                      <a:srgbClr val="FFFFFF"/>
                    </a:solidFill>
                  </a:tcPr>
                </a:tc>
                <a:tc>
                  <a:txBody>
                    <a:bodyPr/>
                    <a:lstStyle/>
                    <a:p>
                      <a:pPr algn="r"/>
                      <a:r>
                        <a:rPr sz="950" b="0">
                          <a:solidFill>
                            <a:srgbClr val="2B2F38"/>
                          </a:solidFill>
                          <a:latin typeface="Calibri"/>
                        </a:rPr>
                        <a:t>$0.6M</a:t>
                      </a:r>
                    </a:p>
                  </a:txBody>
                  <a:tcPr marL="64008" marR="64008" marT="18288" marB="18288" anchor="ctr">
                    <a:solidFill>
                      <a:srgbClr val="FFFFFF"/>
                    </a:solidFill>
                  </a:tcPr>
                </a:tc>
                <a:tc>
                  <a:txBody>
                    <a:bodyPr/>
                    <a:lstStyle/>
                    <a:p>
                      <a:pPr algn="r"/>
                      <a:r>
                        <a:rPr sz="950" b="0">
                          <a:solidFill>
                            <a:srgbClr val="2B2F38"/>
                          </a:solidFill>
                          <a:latin typeface="Calibri"/>
                        </a:rPr>
                        <a:t>12.0%</a:t>
                      </a:r>
                    </a:p>
                  </a:txBody>
                  <a:tcPr marL="64008" marR="64008" marT="18288" marB="18288" anchor="ctr">
                    <a:solidFill>
                      <a:srgbClr val="FFFFFF"/>
                    </a:solidFill>
                  </a:tcPr>
                </a:tc>
                <a:tc>
                  <a:txBody>
                    <a:bodyPr/>
                    <a:lstStyle/>
                    <a:p>
                      <a:pPr algn="r"/>
                      <a:r>
                        <a:rPr sz="950" b="0">
                          <a:solidFill>
                            <a:srgbClr val="2B2F38"/>
                          </a:solidFill>
                          <a:latin typeface="Calibri"/>
                        </a:rPr>
                        <a:t>0.72</a:t>
                      </a:r>
                    </a:p>
                  </a:txBody>
                  <a:tcPr marL="64008" marR="64008" marT="18288" marB="18288" anchor="ctr">
                    <a:solidFill>
                      <a:srgbClr val="FFFFFF"/>
                    </a:solidFill>
                  </a:tcPr>
                </a:tc>
                <a:tc>
                  <a:txBody>
                    <a:bodyPr/>
                    <a:lstStyle/>
                    <a:p>
                      <a:pPr algn="r"/>
                      <a:r>
                        <a:rPr sz="950" b="0">
                          <a:solidFill>
                            <a:srgbClr val="2B2F38"/>
                          </a:solidFill>
                          <a:latin typeface="Calibri"/>
                        </a:rPr>
                        <a:t>Keep</a:t>
                      </a:r>
                    </a:p>
                  </a:txBody>
                  <a:tcPr marL="64008" marR="64008" marT="18288" marB="18288" anchor="ctr">
                    <a:solidFill>
                      <a:srgbClr val="FFFFFF"/>
                    </a:solidFill>
                  </a:tcPr>
                </a:tc>
              </a:tr>
              <a:tr h="342900">
                <a:tc>
                  <a:txBody>
                    <a:bodyPr/>
                    <a:lstStyle/>
                    <a:p>
                      <a:pPr algn="l"/>
                      <a:r>
                        <a:rPr sz="950" b="0">
                          <a:solidFill>
                            <a:srgbClr val="2B2F38"/>
                          </a:solidFill>
                          <a:latin typeface="Calibri"/>
                        </a:rPr>
                        <a:t>Display + price</a:t>
                      </a:r>
                    </a:p>
                  </a:txBody>
                  <a:tcPr marL="64008" marR="64008" marT="18288" marB="18288" anchor="ctr">
                    <a:solidFill>
                      <a:srgbClr val="F5F7F9"/>
                    </a:solidFill>
                  </a:tcPr>
                </a:tc>
                <a:tc>
                  <a:txBody>
                    <a:bodyPr/>
                    <a:lstStyle/>
                    <a:p>
                      <a:pPr algn="r"/>
                      <a:r>
                        <a:rPr sz="950" b="0">
                          <a:solidFill>
                            <a:srgbClr val="2B2F38"/>
                          </a:solidFill>
                          <a:latin typeface="Calibri"/>
                        </a:rPr>
                        <a:t>4</a:t>
                      </a:r>
                    </a:p>
                  </a:txBody>
                  <a:tcPr marL="64008" marR="64008" marT="18288" marB="18288" anchor="ctr">
                    <a:solidFill>
                      <a:srgbClr val="F5F7F9"/>
                    </a:solidFill>
                  </a:tcPr>
                </a:tc>
                <a:tc>
                  <a:txBody>
                    <a:bodyPr/>
                    <a:lstStyle/>
                    <a:p>
                      <a:pPr algn="r"/>
                      <a:r>
                        <a:rPr sz="950" b="0">
                          <a:solidFill>
                            <a:srgbClr val="2B2F38"/>
                          </a:solidFill>
                          <a:latin typeface="Calibri"/>
                        </a:rPr>
                        <a:t>$0.6M</a:t>
                      </a:r>
                    </a:p>
                  </a:txBody>
                  <a:tcPr marL="64008" marR="64008" marT="18288" marB="18288" anchor="ctr">
                    <a:solidFill>
                      <a:srgbClr val="F5F7F9"/>
                    </a:solidFill>
                  </a:tcPr>
                </a:tc>
                <a:tc>
                  <a:txBody>
                    <a:bodyPr/>
                    <a:lstStyle/>
                    <a:p>
                      <a:pPr algn="r"/>
                      <a:r>
                        <a:rPr sz="950" b="0">
                          <a:solidFill>
                            <a:srgbClr val="2B2F38"/>
                          </a:solidFill>
                          <a:latin typeface="Calibri"/>
                        </a:rPr>
                        <a:t>13.2%</a:t>
                      </a:r>
                    </a:p>
                  </a:txBody>
                  <a:tcPr marL="64008" marR="64008" marT="18288" marB="18288" anchor="ctr">
                    <a:solidFill>
                      <a:srgbClr val="F5F7F9"/>
                    </a:solidFill>
                  </a:tcPr>
                </a:tc>
                <a:tc>
                  <a:txBody>
                    <a:bodyPr/>
                    <a:lstStyle/>
                    <a:p>
                      <a:pPr algn="r"/>
                      <a:r>
                        <a:rPr sz="950" b="0">
                          <a:solidFill>
                            <a:srgbClr val="2B2F38"/>
                          </a:solidFill>
                          <a:latin typeface="Calibri"/>
                        </a:rPr>
                        <a:t>0.60</a:t>
                      </a:r>
                    </a:p>
                  </a:txBody>
                  <a:tcPr marL="64008" marR="64008" marT="18288" marB="18288" anchor="ctr">
                    <a:solidFill>
                      <a:srgbClr val="F5F7F9"/>
                    </a:solidFill>
                  </a:tcPr>
                </a:tc>
                <a:tc>
                  <a:txBody>
                    <a:bodyPr/>
                    <a:lstStyle/>
                    <a:p>
                      <a:pPr algn="r"/>
                      <a:r>
                        <a:rPr sz="950" b="0">
                          <a:solidFill>
                            <a:srgbClr val="2B2F38"/>
                          </a:solidFill>
                          <a:latin typeface="Calibri"/>
                        </a:rPr>
                        <a:t>Keep</a:t>
                      </a:r>
                    </a:p>
                  </a:txBody>
                  <a:tcPr marL="64008" marR="64008" marT="18288" marB="18288" anchor="ctr">
                    <a:solidFill>
                      <a:srgbClr val="F5F7F9"/>
                    </a:solidFill>
                  </a:tcPr>
                </a:tc>
              </a:tr>
              <a:tr h="342900">
                <a:tc>
                  <a:txBody>
                    <a:bodyPr/>
                    <a:lstStyle/>
                    <a:p>
                      <a:pPr algn="l"/>
                      <a:r>
                        <a:rPr sz="950" b="0">
                          <a:solidFill>
                            <a:srgbClr val="2B2F38"/>
                          </a:solidFill>
                          <a:latin typeface="Calibri"/>
                        </a:rPr>
                        <a:t>Display only</a:t>
                      </a:r>
                    </a:p>
                  </a:txBody>
                  <a:tcPr marL="64008" marR="64008" marT="18288" marB="18288" anchor="ctr">
                    <a:solidFill>
                      <a:srgbClr val="FFFFFF"/>
                    </a:solidFill>
                  </a:tcPr>
                </a:tc>
                <a:tc>
                  <a:txBody>
                    <a:bodyPr/>
                    <a:lstStyle/>
                    <a:p>
                      <a:pPr algn="r"/>
                      <a:r>
                        <a:rPr sz="950" b="0">
                          <a:solidFill>
                            <a:srgbClr val="2B2F38"/>
                          </a:solidFill>
                          <a:latin typeface="Calibri"/>
                        </a:rPr>
                        <a:t>2</a:t>
                      </a:r>
                    </a:p>
                  </a:txBody>
                  <a:tcPr marL="64008" marR="64008" marT="18288" marB="18288" anchor="ctr">
                    <a:solidFill>
                      <a:srgbClr val="FFFFFF"/>
                    </a:solidFill>
                  </a:tcPr>
                </a:tc>
                <a:tc>
                  <a:txBody>
                    <a:bodyPr/>
                    <a:lstStyle/>
                    <a:p>
                      <a:pPr algn="r"/>
                      <a:r>
                        <a:rPr sz="950" b="0">
                          <a:solidFill>
                            <a:srgbClr val="2B2F38"/>
                          </a:solidFill>
                          <a:latin typeface="Calibri"/>
                        </a:rPr>
                        <a:t>$0.6M</a:t>
                      </a:r>
                    </a:p>
                  </a:txBody>
                  <a:tcPr marL="64008" marR="64008" marT="18288" marB="18288" anchor="ctr">
                    <a:solidFill>
                      <a:srgbClr val="FFFFFF"/>
                    </a:solidFill>
                  </a:tcPr>
                </a:tc>
                <a:tc>
                  <a:txBody>
                    <a:bodyPr/>
                    <a:lstStyle/>
                    <a:p>
                      <a:pPr algn="r"/>
                      <a:r>
                        <a:rPr sz="950" b="0">
                          <a:solidFill>
                            <a:srgbClr val="2B2F38"/>
                          </a:solidFill>
                          <a:latin typeface="Calibri"/>
                        </a:rPr>
                        <a:t>10.0%</a:t>
                      </a:r>
                    </a:p>
                  </a:txBody>
                  <a:tcPr marL="64008" marR="64008" marT="18288" marB="18288" anchor="ctr">
                    <a:solidFill>
                      <a:srgbClr val="FFFFFF"/>
                    </a:solidFill>
                  </a:tcPr>
                </a:tc>
                <a:tc>
                  <a:txBody>
                    <a:bodyPr/>
                    <a:lstStyle/>
                    <a:p>
                      <a:pPr algn="r"/>
                      <a:r>
                        <a:rPr sz="950" b="0">
                          <a:solidFill>
                            <a:srgbClr val="2B2F38"/>
                          </a:solidFill>
                          <a:latin typeface="Calibri"/>
                        </a:rPr>
                        <a:t>0.67</a:t>
                      </a:r>
                    </a:p>
                  </a:txBody>
                  <a:tcPr marL="64008" marR="64008" marT="18288" marB="18288" anchor="ctr">
                    <a:solidFill>
                      <a:srgbClr val="FFFFFF"/>
                    </a:solidFill>
                  </a:tcPr>
                </a:tc>
                <a:tc>
                  <a:txBody>
                    <a:bodyPr/>
                    <a:lstStyle/>
                    <a:p>
                      <a:pPr algn="r"/>
                      <a:r>
                        <a:rPr sz="950" b="0">
                          <a:solidFill>
                            <a:srgbClr val="2B2F38"/>
                          </a:solidFill>
                          <a:latin typeface="Calibri"/>
                        </a:rPr>
                        <a:t>Keep</a:t>
                      </a:r>
                    </a:p>
                  </a:txBody>
                  <a:tcPr marL="64008" marR="64008" marT="18288" marB="18288" anchor="ctr">
                    <a:solidFill>
                      <a:srgbClr val="FFFFFF"/>
                    </a:solidFill>
                  </a:tcPr>
                </a:tc>
              </a:tr>
              <a:tr h="342900">
                <a:tc>
                  <a:txBody>
                    <a:bodyPr/>
                    <a:lstStyle/>
                    <a:p>
                      <a:pPr algn="l"/>
                      <a:r>
                        <a:rPr sz="950" b="0">
                          <a:solidFill>
                            <a:srgbClr val="2B2F38"/>
                          </a:solidFill>
                          <a:latin typeface="Calibri"/>
                        </a:rPr>
                        <a:t>Buy 2 save $1</a:t>
                      </a:r>
                    </a:p>
                  </a:txBody>
                  <a:tcPr marL="64008" marR="64008" marT="18288" marB="18288" anchor="ctr">
                    <a:solidFill>
                      <a:srgbClr val="F5F7F9"/>
                    </a:solidFill>
                  </a:tcPr>
                </a:tc>
                <a:tc>
                  <a:txBody>
                    <a:bodyPr/>
                    <a:lstStyle/>
                    <a:p>
                      <a:pPr algn="r"/>
                      <a:r>
                        <a:rPr sz="950" b="0">
                          <a:solidFill>
                            <a:srgbClr val="2B2F38"/>
                          </a:solidFill>
                          <a:latin typeface="Calibri"/>
                        </a:rPr>
                        <a:t>1</a:t>
                      </a:r>
                    </a:p>
                  </a:txBody>
                  <a:tcPr marL="64008" marR="64008" marT="18288" marB="18288" anchor="ctr">
                    <a:solidFill>
                      <a:srgbClr val="F5F7F9"/>
                    </a:solidFill>
                  </a:tcPr>
                </a:tc>
                <a:tc>
                  <a:txBody>
                    <a:bodyPr/>
                    <a:lstStyle/>
                    <a:p>
                      <a:pPr algn="r"/>
                      <a:r>
                        <a:rPr sz="950" b="0">
                          <a:solidFill>
                            <a:srgbClr val="2B2F38"/>
                          </a:solidFill>
                          <a:latin typeface="Calibri"/>
                        </a:rPr>
                        <a:t>$0.5M</a:t>
                      </a:r>
                    </a:p>
                  </a:txBody>
                  <a:tcPr marL="64008" marR="64008" marT="18288" marB="18288" anchor="ctr">
                    <a:solidFill>
                      <a:srgbClr val="F5F7F9"/>
                    </a:solidFill>
                  </a:tcPr>
                </a:tc>
                <a:tc>
                  <a:txBody>
                    <a:bodyPr/>
                    <a:lstStyle/>
                    <a:p>
                      <a:pPr algn="r"/>
                      <a:r>
                        <a:rPr sz="950" b="0">
                          <a:solidFill>
                            <a:srgbClr val="2B2F38"/>
                          </a:solidFill>
                          <a:latin typeface="Calibri"/>
                        </a:rPr>
                        <a:t>18.0%</a:t>
                      </a:r>
                    </a:p>
                  </a:txBody>
                  <a:tcPr marL="64008" marR="64008" marT="18288" marB="18288" anchor="ctr">
                    <a:solidFill>
                      <a:srgbClr val="F5F7F9"/>
                    </a:solidFill>
                  </a:tcPr>
                </a:tc>
                <a:tc>
                  <a:txBody>
                    <a:bodyPr/>
                    <a:lstStyle/>
                    <a:p>
                      <a:pPr algn="r"/>
                      <a:r>
                        <a:rPr sz="950" b="0">
                          <a:solidFill>
                            <a:srgbClr val="2B2F38"/>
                          </a:solidFill>
                          <a:latin typeface="Calibri"/>
                        </a:rPr>
                        <a:t>0.58</a:t>
                      </a:r>
                    </a:p>
                  </a:txBody>
                  <a:tcPr marL="64008" marR="64008" marT="18288" marB="18288" anchor="ctr">
                    <a:solidFill>
                      <a:srgbClr val="F5F7F9"/>
                    </a:solidFill>
                  </a:tcPr>
                </a:tc>
                <a:tc>
                  <a:txBody>
                    <a:bodyPr/>
                    <a:lstStyle/>
                    <a:p>
                      <a:pPr algn="r"/>
                      <a:r>
                        <a:rPr sz="950" b="0">
                          <a:solidFill>
                            <a:srgbClr val="2B2F38"/>
                          </a:solidFill>
                          <a:latin typeface="Calibri"/>
                        </a:rPr>
                        <a:t>Keep</a:t>
                      </a:r>
                    </a:p>
                  </a:txBody>
                  <a:tcPr marL="64008" marR="64008" marT="18288" marB="18288" anchor="ctr">
                    <a:solidFill>
                      <a:srgbClr val="F5F7F9"/>
                    </a:solidFill>
                  </a:tcPr>
                </a:tc>
              </a:tr>
              <a:tr h="342900">
                <a:tc>
                  <a:txBody>
                    <a:bodyPr/>
                    <a:lstStyle/>
                    <a:p>
                      <a:pPr algn="l"/>
                      <a:r>
                        <a:rPr sz="950" b="0">
                          <a:solidFill>
                            <a:srgbClr val="2B2F38"/>
                          </a:solidFill>
                          <a:latin typeface="Calibri"/>
                        </a:rPr>
                        <a:t>All other mechanics (10)</a:t>
                      </a:r>
                    </a:p>
                  </a:txBody>
                  <a:tcPr marL="64008" marR="64008" marT="18288" marB="18288" anchor="ctr">
                    <a:solidFill>
                      <a:srgbClr val="FFFFFF"/>
                    </a:solidFill>
                  </a:tcPr>
                </a:tc>
                <a:tc>
                  <a:txBody>
                    <a:bodyPr/>
                    <a:lstStyle/>
                    <a:p>
                      <a:pPr algn="r"/>
                      <a:r>
                        <a:rPr sz="950" b="0">
                          <a:solidFill>
                            <a:srgbClr val="2B2F38"/>
                          </a:solidFill>
                          <a:latin typeface="Calibri"/>
                        </a:rPr>
                        <a:t>12</a:t>
                      </a:r>
                    </a:p>
                  </a:txBody>
                  <a:tcPr marL="64008" marR="64008" marT="18288" marB="18288" anchor="ctr">
                    <a:solidFill>
                      <a:srgbClr val="FFFFFF"/>
                    </a:solidFill>
                  </a:tcPr>
                </a:tc>
                <a:tc>
                  <a:txBody>
                    <a:bodyPr/>
                    <a:lstStyle/>
                    <a:p>
                      <a:pPr algn="r"/>
                      <a:r>
                        <a:rPr sz="950" b="0">
                          <a:solidFill>
                            <a:srgbClr val="2B2F38"/>
                          </a:solidFill>
                          <a:latin typeface="Calibri"/>
                        </a:rPr>
                        <a:t>$2.5M</a:t>
                      </a:r>
                    </a:p>
                  </a:txBody>
                  <a:tcPr marL="64008" marR="64008" marT="18288" marB="18288" anchor="ctr">
                    <a:solidFill>
                      <a:srgbClr val="FFFFFF"/>
                    </a:solidFill>
                  </a:tcPr>
                </a:tc>
                <a:tc>
                  <a:txBody>
                    <a:bodyPr/>
                    <a:lstStyle/>
                    <a:p>
                      <a:pPr algn="r"/>
                      <a:r>
                        <a:rPr sz="950" b="0">
                          <a:solidFill>
                            <a:srgbClr val="2B2F38"/>
                          </a:solidFill>
                          <a:latin typeface="Calibri"/>
                        </a:rPr>
                        <a:t>12.9%</a:t>
                      </a:r>
                    </a:p>
                  </a:txBody>
                  <a:tcPr marL="64008" marR="64008" marT="18288" marB="18288" anchor="ctr">
                    <a:solidFill>
                      <a:srgbClr val="FFFFFF"/>
                    </a:solidFill>
                  </a:tcPr>
                </a:tc>
                <a:tc>
                  <a:txBody>
                    <a:bodyPr/>
                    <a:lstStyle/>
                    <a:p>
                      <a:pPr algn="r"/>
                      <a:r>
                        <a:rPr sz="950" b="0">
                          <a:solidFill>
                            <a:srgbClr val="2B2F38"/>
                          </a:solidFill>
                          <a:latin typeface="Calibri"/>
                        </a:rPr>
                        <a:t>0.54</a:t>
                      </a:r>
                    </a:p>
                  </a:txBody>
                  <a:tcPr marL="64008" marR="64008" marT="18288" marB="18288" anchor="ctr">
                    <a:solidFill>
                      <a:srgbClr val="FFFFFF"/>
                    </a:solidFill>
                  </a:tcPr>
                </a:tc>
                <a:tc>
                  <a:txBody>
                    <a:bodyPr/>
                    <a:lstStyle/>
                    <a:p>
                      <a:pPr algn="r"/>
                      <a:r>
                        <a:rPr sz="950" b="0">
                          <a:solidFill>
                            <a:srgbClr val="2B2F38"/>
                          </a:solidFill>
                          <a:latin typeface="Calibri"/>
                        </a:rPr>
                        <a:t>Keep</a:t>
                      </a:r>
                    </a:p>
                  </a:txBody>
                  <a:tcPr marL="64008" marR="64008" marT="18288" marB="18288" anchor="ctr">
                    <a:solidFill>
                      <a:srgbClr val="FFFFFF"/>
                    </a:solidFill>
                  </a:tcPr>
                </a:tc>
              </a:tr>
            </a:tbl>
          </a:graphicData>
        </a:graphic>
      </p:graphicFrame>
      <p:sp>
        <p:nvSpPr>
          <p:cNvPr id="8" name="Rectangle 7"/>
          <p:cNvSpPr/>
          <p:nvPr/>
        </p:nvSpPr>
        <p:spPr>
          <a:xfrm>
            <a:off x="640080" y="5102352"/>
            <a:ext cx="10911535" cy="766572"/>
          </a:xfrm>
          <a:prstGeom prst="rect">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5102352"/>
            <a:ext cx="45720" cy="766572"/>
          </a:xfrm>
          <a:prstGeom prst="rect">
            <a:avLst/>
          </a:prstGeom>
          <a:solidFill>
            <a:srgbClr val="B98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5193792"/>
            <a:ext cx="10600639" cy="237744"/>
          </a:xfrm>
          <a:prstGeom prst="rect">
            <a:avLst/>
          </a:prstGeom>
          <a:noFill/>
        </p:spPr>
        <p:txBody>
          <a:bodyPr wrap="square" lIns="0" rIns="0" tIns="0" bIns="0">
            <a:spAutoFit/>
          </a:bodyPr>
          <a:lstStyle/>
          <a:p>
            <a:pPr algn="l">
              <a:lnSpc>
                <a:spcPct val="118000"/>
              </a:lnSpc>
              <a:spcAft>
                <a:spcPts val="0"/>
              </a:spcAft>
            </a:pPr>
            <a:r>
              <a:rPr sz="1150" b="1" i="0">
                <a:solidFill>
                  <a:srgbClr val="1F2A44"/>
                </a:solidFill>
                <a:latin typeface="Calibri"/>
              </a:rPr>
              <a:t>The 0.45 floor</a:t>
            </a:r>
          </a:p>
        </p:txBody>
      </p:sp>
      <p:sp>
        <p:nvSpPr>
          <p:cNvPr id="11" name="TextBox 10"/>
          <p:cNvSpPr txBox="1"/>
          <p:nvPr/>
        </p:nvSpPr>
        <p:spPr>
          <a:xfrm>
            <a:off x="804672" y="5449824"/>
            <a:ext cx="10600639" cy="309372"/>
          </a:xfrm>
          <a:prstGeom prst="rect">
            <a:avLst/>
          </a:prstGeom>
          <a:noFill/>
        </p:spPr>
        <p:txBody>
          <a:bodyPr wrap="square" lIns="0" rIns="0" tIns="0" bIns="0">
            <a:spAutoFit/>
          </a:bodyPr>
          <a:lstStyle/>
          <a:p>
            <a:pPr algn="l">
              <a:lnSpc>
                <a:spcPct val="116000"/>
              </a:lnSpc>
              <a:spcAft>
                <a:spcPts val="0"/>
              </a:spcAft>
            </a:pPr>
            <a:r>
              <a:rPr sz="1050" b="0" i="0">
                <a:solidFill>
                  <a:srgbClr val="2B2F38"/>
                </a:solidFill>
                <a:latin typeface="Calibri"/>
              </a:rPr>
              <a:t>Applying a 0.45 index floor to the Q1 calendar would have removed the lowest-returning mechanics and freed roughly $2.4M for feature-and-display weight, which indexes higher on every brand we run it on.</a:t>
            </a:r>
          </a:p>
        </p:txBody>
      </p:sp>
      <p:sp>
        <p:nvSpPr>
          <p:cNvPr id="12" name="TextBox 11"/>
          <p:cNvSpPr txBox="1"/>
          <p:nvPr/>
        </p:nvSpPr>
        <p:spPr>
          <a:xfrm>
            <a:off x="640080" y="5978652"/>
            <a:ext cx="10911535" cy="384048"/>
          </a:xfrm>
          <a:prstGeom prst="rect">
            <a:avLst/>
          </a:prstGeom>
          <a:noFill/>
        </p:spPr>
        <p:txBody>
          <a:bodyPr wrap="square" lIns="0" rIns="0" tIns="0" bIns="0">
            <a:spAutoFit/>
          </a:bodyPr>
          <a:lstStyle/>
          <a:p>
            <a:pPr algn="l">
              <a:lnSpc>
                <a:spcPct val="116000"/>
              </a:lnSpc>
              <a:spcAft>
                <a:spcPts val="0"/>
              </a:spcAft>
            </a:pPr>
            <a:r>
              <a:rPr sz="1050" b="0" i="0">
                <a:solidFill>
                  <a:srgbClr val="5B6472"/>
                </a:solidFill>
                <a:latin typeface="Calibri"/>
              </a:rPr>
              <a:t>Source: seed_trade_promo_events_q1_2026, grouped by mechanic.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EXTREMES</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The five best and five worst events of the quarter</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H1 FY26 trade PEA  ·  6</a:t>
            </a:r>
          </a:p>
        </p:txBody>
      </p:sp>
      <p:sp>
        <p:nvSpPr>
          <p:cNvPr id="7" name="Rectangle 6"/>
          <p:cNvSpPr/>
          <p:nvPr/>
        </p:nvSpPr>
        <p:spPr>
          <a:xfrm>
            <a:off x="640080" y="1417320"/>
            <a:ext cx="5349240" cy="40233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1517904"/>
            <a:ext cx="5074920" cy="274320"/>
          </a:xfrm>
          <a:prstGeom prst="rect">
            <a:avLst/>
          </a:prstGeom>
          <a:noFill/>
        </p:spPr>
        <p:txBody>
          <a:bodyPr wrap="square" lIns="0" rIns="0" tIns="0" bIns="0">
            <a:spAutoFit/>
          </a:bodyPr>
          <a:lstStyle/>
          <a:p>
            <a:pPr algn="l">
              <a:lnSpc>
                <a:spcPct val="118000"/>
              </a:lnSpc>
              <a:spcAft>
                <a:spcPts val="0"/>
              </a:spcAft>
            </a:pPr>
            <a:r>
              <a:rPr sz="1150" b="1" i="0">
                <a:solidFill>
                  <a:srgbClr val="FFFFFF"/>
                </a:solidFill>
                <a:latin typeface="Calibri"/>
              </a:rPr>
              <a:t>BEST FIVE (BY INDEX)</a:t>
            </a:r>
          </a:p>
        </p:txBody>
      </p:sp>
      <p:sp>
        <p:nvSpPr>
          <p:cNvPr id="9" name="TextBox 8"/>
          <p:cNvSpPr txBox="1"/>
          <p:nvPr/>
        </p:nvSpPr>
        <p:spPr>
          <a:xfrm>
            <a:off x="676656" y="1984248"/>
            <a:ext cx="5257800" cy="4069080"/>
          </a:xfrm>
          <a:prstGeom prst="rect">
            <a:avLst/>
          </a:prstGeom>
          <a:noFill/>
        </p:spPr>
        <p:txBody>
          <a:bodyPr wrap="square" lIns="0" rIns="0" tIns="0" bIns="0">
            <a:spAutoFit/>
          </a:bodyPr>
          <a:lstStyle/>
          <a:p>
            <a:pPr>
              <a:lnSpc>
                <a:spcPct val="120000"/>
              </a:lnSpc>
              <a:spcAft>
                <a:spcPts val="744"/>
              </a:spcAft>
            </a:pPr>
            <a:r>
              <a:rPr sz="1200" b="1">
                <a:solidFill>
                  <a:srgbClr val="2E7D75"/>
                </a:solidFill>
                <a:latin typeface="Calibri"/>
              </a:rPr>
              <a:t>—  </a:t>
            </a:r>
            <a:r>
              <a:rPr sz="1200" b="1" i="0">
                <a:solidFill>
                  <a:srgbClr val="2B2F38"/>
                </a:solidFill>
                <a:latin typeface="Calibri"/>
              </a:rPr>
              <a:t>Crunchwell at Multi-retailer-LA</a:t>
            </a:r>
            <a:r>
              <a:rPr sz="1200" b="0" i="0">
                <a:solidFill>
                  <a:srgbClr val="2B2F38"/>
                </a:solidFill>
                <a:latin typeface="Calibri"/>
              </a:rPr>
              <a:t> — $0.55 off 14oz, 15% off, index 1.10</a:t>
            </a:r>
          </a:p>
          <a:p>
            <a:pPr>
              <a:lnSpc>
                <a:spcPct val="120000"/>
              </a:lnSpc>
              <a:spcAft>
                <a:spcPts val="744"/>
              </a:spcAft>
            </a:pPr>
            <a:r>
              <a:rPr sz="1200" b="1">
                <a:solidFill>
                  <a:srgbClr val="2E7D75"/>
                </a:solidFill>
                <a:latin typeface="Calibri"/>
              </a:rPr>
              <a:t>—  </a:t>
            </a:r>
            <a:r>
              <a:rPr sz="1200" b="1" i="0">
                <a:solidFill>
                  <a:srgbClr val="2B2F38"/>
                </a:solidFill>
                <a:latin typeface="Calibri"/>
              </a:rPr>
              <a:t>ProteinPeak at Whole Foods</a:t>
            </a:r>
            <a:r>
              <a:rPr sz="1200" b="0" i="0">
                <a:solidFill>
                  <a:srgbClr val="2B2F38"/>
                </a:solidFill>
                <a:latin typeface="Calibri"/>
              </a:rPr>
              <a:t> — Display + sample, 0% off, index 0.78</a:t>
            </a:r>
          </a:p>
          <a:p>
            <a:pPr>
              <a:lnSpc>
                <a:spcPct val="120000"/>
              </a:lnSpc>
              <a:spcAft>
                <a:spcPts val="744"/>
              </a:spcAft>
            </a:pPr>
            <a:r>
              <a:rPr sz="1200" b="1">
                <a:solidFill>
                  <a:srgbClr val="2E7D75"/>
                </a:solidFill>
                <a:latin typeface="Calibri"/>
              </a:rPr>
              <a:t>—  </a:t>
            </a:r>
            <a:r>
              <a:rPr sz="1200" b="1" i="0">
                <a:solidFill>
                  <a:srgbClr val="2B2F38"/>
                </a:solidFill>
                <a:latin typeface="Calibri"/>
              </a:rPr>
              <a:t>ProteinPeak at Sprouts</a:t>
            </a:r>
            <a:r>
              <a:rPr sz="1200" b="0" i="0">
                <a:solidFill>
                  <a:srgbClr val="2B2F38"/>
                </a:solidFill>
                <a:latin typeface="Calibri"/>
              </a:rPr>
              <a:t> — Display + sample, 0% off, index 0.74</a:t>
            </a:r>
          </a:p>
          <a:p>
            <a:pPr>
              <a:lnSpc>
                <a:spcPct val="120000"/>
              </a:lnSpc>
              <a:spcAft>
                <a:spcPts val="744"/>
              </a:spcAft>
            </a:pPr>
            <a:r>
              <a:rPr sz="1200" b="1">
                <a:solidFill>
                  <a:srgbClr val="2E7D75"/>
                </a:solidFill>
                <a:latin typeface="Calibri"/>
              </a:rPr>
              <a:t>—  </a:t>
            </a:r>
            <a:r>
              <a:rPr sz="1200" b="1" i="0">
                <a:solidFill>
                  <a:srgbClr val="2B2F38"/>
                </a:solidFill>
                <a:latin typeface="Calibri"/>
              </a:rPr>
              <a:t>ProteinPeak at Target</a:t>
            </a:r>
            <a:r>
              <a:rPr sz="1200" b="0" i="0">
                <a:solidFill>
                  <a:srgbClr val="2B2F38"/>
                </a:solidFill>
                <a:latin typeface="Calibri"/>
              </a:rPr>
              <a:t> — Display only, 0% off, index 0.71</a:t>
            </a:r>
          </a:p>
          <a:p>
            <a:pPr>
              <a:lnSpc>
                <a:spcPct val="120000"/>
              </a:lnSpc>
              <a:spcAft>
                <a:spcPts val="744"/>
              </a:spcAft>
            </a:pPr>
            <a:r>
              <a:rPr sz="1200" b="1">
                <a:solidFill>
                  <a:srgbClr val="2E7D75"/>
                </a:solidFill>
                <a:latin typeface="Calibri"/>
              </a:rPr>
              <a:t>—  </a:t>
            </a:r>
            <a:r>
              <a:rPr sz="1200" b="1" i="0">
                <a:solidFill>
                  <a:srgbClr val="2B2F38"/>
                </a:solidFill>
                <a:latin typeface="Calibri"/>
              </a:rPr>
              <a:t>Crunchwell at Costco</a:t>
            </a:r>
            <a:r>
              <a:rPr sz="1200" b="0" i="0">
                <a:solidFill>
                  <a:srgbClr val="2B2F38"/>
                </a:solidFill>
                <a:latin typeface="Calibri"/>
              </a:rPr>
              <a:t> — Bundle 4-pack, 12% off, index 0.71</a:t>
            </a:r>
          </a:p>
        </p:txBody>
      </p:sp>
      <p:sp>
        <p:nvSpPr>
          <p:cNvPr id="10" name="Rectangle 9"/>
          <p:cNvSpPr/>
          <p:nvPr/>
        </p:nvSpPr>
        <p:spPr>
          <a:xfrm>
            <a:off x="6208776" y="1417320"/>
            <a:ext cx="5349240" cy="402336"/>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55080" y="1517904"/>
            <a:ext cx="5074920" cy="274320"/>
          </a:xfrm>
          <a:prstGeom prst="rect">
            <a:avLst/>
          </a:prstGeom>
          <a:noFill/>
        </p:spPr>
        <p:txBody>
          <a:bodyPr wrap="square" lIns="0" rIns="0" tIns="0" bIns="0">
            <a:spAutoFit/>
          </a:bodyPr>
          <a:lstStyle/>
          <a:p>
            <a:pPr algn="l">
              <a:lnSpc>
                <a:spcPct val="118000"/>
              </a:lnSpc>
              <a:spcAft>
                <a:spcPts val="0"/>
              </a:spcAft>
            </a:pPr>
            <a:r>
              <a:rPr sz="1150" b="1" i="0">
                <a:solidFill>
                  <a:srgbClr val="FFFFFF"/>
                </a:solidFill>
                <a:latin typeface="Calibri"/>
              </a:rPr>
              <a:t>WORST FIVE (BY INDEX)</a:t>
            </a:r>
          </a:p>
        </p:txBody>
      </p:sp>
      <p:sp>
        <p:nvSpPr>
          <p:cNvPr id="12" name="TextBox 11"/>
          <p:cNvSpPr txBox="1"/>
          <p:nvPr/>
        </p:nvSpPr>
        <p:spPr>
          <a:xfrm>
            <a:off x="6245352" y="1984248"/>
            <a:ext cx="5257800" cy="4069080"/>
          </a:xfrm>
          <a:prstGeom prst="rect">
            <a:avLst/>
          </a:prstGeom>
          <a:noFill/>
        </p:spPr>
        <p:txBody>
          <a:bodyPr wrap="square" lIns="0" rIns="0" tIns="0" bIns="0">
            <a:spAutoFit/>
          </a:bodyPr>
          <a:lstStyle/>
          <a:p>
            <a:pPr>
              <a:lnSpc>
                <a:spcPct val="120000"/>
              </a:lnSpc>
              <a:spcAft>
                <a:spcPts val="744"/>
              </a:spcAft>
            </a:pPr>
            <a:r>
              <a:rPr sz="1200" b="1">
                <a:solidFill>
                  <a:srgbClr val="2E7D75"/>
                </a:solidFill>
                <a:latin typeface="Calibri"/>
              </a:rPr>
              <a:t>—  </a:t>
            </a:r>
            <a:r>
              <a:rPr sz="1200" b="1" i="0">
                <a:solidFill>
                  <a:srgbClr val="2B2F38"/>
                </a:solidFill>
                <a:latin typeface="Calibri"/>
              </a:rPr>
              <a:t>Crunchwell at Mountain-West-Multi</a:t>
            </a:r>
            <a:r>
              <a:rPr sz="1200" b="0" i="0">
                <a:solidFill>
                  <a:srgbClr val="2B2F38"/>
                </a:solidFill>
                <a:latin typeface="Calibri"/>
              </a:rPr>
              <a:t> — $0.50 off, 18% off, index -0.21</a:t>
            </a:r>
          </a:p>
          <a:p>
            <a:pPr>
              <a:lnSpc>
                <a:spcPct val="120000"/>
              </a:lnSpc>
              <a:spcAft>
                <a:spcPts val="744"/>
              </a:spcAft>
            </a:pPr>
            <a:r>
              <a:rPr sz="1200" b="1">
                <a:solidFill>
                  <a:srgbClr val="2E7D75"/>
                </a:solidFill>
                <a:latin typeface="Calibri"/>
              </a:rPr>
              <a:t>—  </a:t>
            </a:r>
            <a:r>
              <a:rPr sz="1200" b="1" i="0">
                <a:solidFill>
                  <a:srgbClr val="2B2F38"/>
                </a:solidFill>
                <a:latin typeface="Calibri"/>
              </a:rPr>
              <a:t>HoneyNest at Mountain-West-Multi</a:t>
            </a:r>
            <a:r>
              <a:rPr sz="1200" b="0" i="0">
                <a:solidFill>
                  <a:srgbClr val="2B2F38"/>
                </a:solidFill>
                <a:latin typeface="Calibri"/>
              </a:rPr>
              <a:t> — $0.40 off, 12% off, index -0.18</a:t>
            </a:r>
          </a:p>
          <a:p>
            <a:pPr>
              <a:lnSpc>
                <a:spcPct val="120000"/>
              </a:lnSpc>
              <a:spcAft>
                <a:spcPts val="744"/>
              </a:spcAft>
            </a:pPr>
            <a:r>
              <a:rPr sz="1200" b="1">
                <a:solidFill>
                  <a:srgbClr val="2E7D75"/>
                </a:solidFill>
                <a:latin typeface="Calibri"/>
              </a:rPr>
              <a:t>—  </a:t>
            </a:r>
            <a:r>
              <a:rPr sz="1200" b="1" i="0">
                <a:solidFill>
                  <a:srgbClr val="2B2F38"/>
                </a:solidFill>
                <a:latin typeface="Calibri"/>
              </a:rPr>
              <a:t>MorningOats at Mountain-West-Multi</a:t>
            </a:r>
            <a:r>
              <a:rPr sz="1200" b="0" i="0">
                <a:solidFill>
                  <a:srgbClr val="2B2F38"/>
                </a:solidFill>
                <a:latin typeface="Calibri"/>
              </a:rPr>
              <a:t> — $0.50 off + display, 14% off, index -0.15</a:t>
            </a:r>
          </a:p>
          <a:p>
            <a:pPr>
              <a:lnSpc>
                <a:spcPct val="120000"/>
              </a:lnSpc>
              <a:spcAft>
                <a:spcPts val="744"/>
              </a:spcAft>
            </a:pPr>
            <a:r>
              <a:rPr sz="1200" b="1">
                <a:solidFill>
                  <a:srgbClr val="2E7D75"/>
                </a:solidFill>
                <a:latin typeface="Calibri"/>
              </a:rPr>
              <a:t>—  </a:t>
            </a:r>
            <a:r>
              <a:rPr sz="1200" b="1" i="0">
                <a:solidFill>
                  <a:srgbClr val="2B2F38"/>
                </a:solidFill>
                <a:latin typeface="Calibri"/>
              </a:rPr>
              <a:t>Crunchwell at Amazon</a:t>
            </a:r>
            <a:r>
              <a:rPr sz="1200" b="0" i="0">
                <a:solidFill>
                  <a:srgbClr val="2B2F38"/>
                </a:solidFill>
                <a:latin typeface="Calibri"/>
              </a:rPr>
              <a:t> — Subscribe-and-save first, 0% off, index 0.18</a:t>
            </a:r>
          </a:p>
          <a:p>
            <a:pPr>
              <a:lnSpc>
                <a:spcPct val="120000"/>
              </a:lnSpc>
              <a:spcAft>
                <a:spcPts val="744"/>
              </a:spcAft>
            </a:pPr>
            <a:r>
              <a:rPr sz="1200" b="1">
                <a:solidFill>
                  <a:srgbClr val="2E7D75"/>
                </a:solidFill>
                <a:latin typeface="Calibri"/>
              </a:rPr>
              <a:t>—  </a:t>
            </a:r>
            <a:r>
              <a:rPr sz="1200" b="1" i="0">
                <a:solidFill>
                  <a:srgbClr val="2B2F38"/>
                </a:solidFill>
                <a:latin typeface="Calibri"/>
              </a:rPr>
              <a:t>Crunchwell at Rouses</a:t>
            </a:r>
            <a:r>
              <a:rPr sz="1200" b="0" i="0">
                <a:solidFill>
                  <a:srgbClr val="2B2F38"/>
                </a:solidFill>
                <a:latin typeface="Calibri"/>
              </a:rPr>
              <a:t> — Multigrain 12% off, 12% off, index 0.41</a:t>
            </a:r>
          </a:p>
        </p:txBody>
      </p:sp>
      <p:sp>
        <p:nvSpPr>
          <p:cNvPr id="13" name="TextBox 12"/>
          <p:cNvSpPr txBox="1"/>
          <p:nvPr/>
        </p:nvSpPr>
        <p:spPr>
          <a:xfrm>
            <a:off x="640080" y="5632704"/>
            <a:ext cx="10911535" cy="384048"/>
          </a:xfrm>
          <a:prstGeom prst="rect">
            <a:avLst/>
          </a:prstGeom>
          <a:noFill/>
        </p:spPr>
        <p:txBody>
          <a:bodyPr wrap="square" lIns="0" rIns="0" tIns="0" bIns="0">
            <a:spAutoFit/>
          </a:bodyPr>
          <a:lstStyle/>
          <a:p>
            <a:pPr algn="l">
              <a:lnSpc>
                <a:spcPct val="116000"/>
              </a:lnSpc>
              <a:spcAft>
                <a:spcPts val="0"/>
              </a:spcAft>
            </a:pPr>
            <a:r>
              <a:rPr sz="1050" b="0" i="0">
                <a:solidFill>
                  <a:srgbClr val="5B6472"/>
                </a:solidFill>
                <a:latin typeface="Calibri"/>
              </a:rPr>
              <a:t>Source: seed_trade_promo_events_q1_2026, ranked by modelled incrementality index.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ACTIONS</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What changes in the Q3 and Q4 calendar</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H1 FY26 trade PEA  ·  7</a:t>
            </a:r>
          </a:p>
        </p:txBody>
      </p:sp>
      <p:graphicFrame>
        <p:nvGraphicFramePr>
          <p:cNvPr id="7" name="Table 6"/>
          <p:cNvGraphicFramePr>
            <a:graphicFrameLocks noGrp="1"/>
          </p:cNvGraphicFramePr>
          <p:nvPr/>
        </p:nvGraphicFramePr>
        <p:xfrm>
          <a:off x="640080" y="1417320"/>
          <a:ext cx="10911533" cy="2743200"/>
        </p:xfrm>
        <a:graphic>
          <a:graphicData uri="http://schemas.openxmlformats.org/drawingml/2006/table">
            <a:tbl>
              <a:tblPr firstRow="1" bandRow="1">
                <a:tableStyleId>{5C22544A-7EE6-4342-B048-85BDC9FD1C3A}</a:tableStyleId>
              </a:tblPr>
              <a:tblGrid>
                <a:gridCol w="545576"/>
                <a:gridCol w="6001344"/>
                <a:gridCol w="2509653"/>
                <a:gridCol w="1854960"/>
              </a:tblGrid>
              <a:tr h="457200">
                <a:tc>
                  <a:txBody>
                    <a:bodyPr/>
                    <a:lstStyle/>
                    <a:p>
                      <a:pPr algn="l"/>
                      <a:r>
                        <a:rPr sz="1000" b="1">
                          <a:solidFill>
                            <a:srgbClr val="FFFFFF"/>
                          </a:solidFill>
                          <a:latin typeface="Calibri"/>
                        </a:rPr>
                        <a:t>#</a:t>
                      </a:r>
                    </a:p>
                  </a:txBody>
                  <a:tcPr marL="64008" marR="64008" marT="27432" marB="27432" anchor="ctr">
                    <a:solidFill>
                      <a:srgbClr val="1F2A44"/>
                    </a:solidFill>
                  </a:tcPr>
                </a:tc>
                <a:tc>
                  <a:txBody>
                    <a:bodyPr/>
                    <a:lstStyle/>
                    <a:p>
                      <a:pPr algn="l"/>
                      <a:r>
                        <a:rPr sz="1000" b="1">
                          <a:solidFill>
                            <a:srgbClr val="FFFFFF"/>
                          </a:solidFill>
                          <a:latin typeface="Calibri"/>
                        </a:rPr>
                        <a:t>Action</a:t>
                      </a:r>
                    </a:p>
                  </a:txBody>
                  <a:tcPr marL="64008" marR="64008" marT="27432" marB="27432" anchor="ctr">
                    <a:solidFill>
                      <a:srgbClr val="1F2A44"/>
                    </a:solidFill>
                  </a:tcPr>
                </a:tc>
                <a:tc>
                  <a:txBody>
                    <a:bodyPr/>
                    <a:lstStyle/>
                    <a:p>
                      <a:pPr algn="l"/>
                      <a:r>
                        <a:rPr sz="1000" b="1">
                          <a:solidFill>
                            <a:srgbClr val="FFFFFF"/>
                          </a:solidFill>
                          <a:latin typeface="Calibri"/>
                        </a:rPr>
                        <a:t>Owner</a:t>
                      </a:r>
                    </a:p>
                  </a:txBody>
                  <a:tcPr marL="64008" marR="64008" marT="27432" marB="27432" anchor="ctr">
                    <a:solidFill>
                      <a:srgbClr val="1F2A44"/>
                    </a:solidFill>
                  </a:tcPr>
                </a:tc>
                <a:tc>
                  <a:txBody>
                    <a:bodyPr/>
                    <a:lstStyle/>
                    <a:p>
                      <a:pPr algn="r"/>
                      <a:r>
                        <a:rPr sz="1000" b="1">
                          <a:solidFill>
                            <a:srgbClr val="FFFFFF"/>
                          </a:solidFill>
                          <a:latin typeface="Calibri"/>
                        </a:rPr>
                        <a:t>When</a:t>
                      </a:r>
                    </a:p>
                  </a:txBody>
                  <a:tcPr marL="64008" marR="64008" marT="27432" marB="27432" anchor="ctr">
                    <a:solidFill>
                      <a:srgbClr val="1F2A44"/>
                    </a:solidFill>
                  </a:tcPr>
                </a:tc>
              </a:tr>
              <a:tr h="457200">
                <a:tc>
                  <a:txBody>
                    <a:bodyPr/>
                    <a:lstStyle/>
                    <a:p>
                      <a:pPr algn="l"/>
                      <a:r>
                        <a:rPr sz="1050" b="0">
                          <a:solidFill>
                            <a:srgbClr val="2B2F38"/>
                          </a:solidFill>
                          <a:latin typeface="Calibri"/>
                        </a:rPr>
                        <a:t>1</a:t>
                      </a:r>
                    </a:p>
                  </a:txBody>
                  <a:tcPr marL="64008" marR="64008" marT="18288" marB="18288" anchor="ctr">
                    <a:solidFill>
                      <a:srgbClr val="FFFFFF"/>
                    </a:solidFill>
                  </a:tcPr>
                </a:tc>
                <a:tc>
                  <a:txBody>
                    <a:bodyPr/>
                    <a:lstStyle/>
                    <a:p>
                      <a:pPr algn="l"/>
                      <a:r>
                        <a:rPr sz="1050" b="0">
                          <a:solidFill>
                            <a:srgbClr val="2B2F38"/>
                          </a:solidFill>
                          <a:latin typeface="Calibri"/>
                        </a:rPr>
                        <a:t>Adopt a 0.45 modelled-incrementality floor for all new events</a:t>
                      </a:r>
                    </a:p>
                  </a:txBody>
                  <a:tcPr marL="64008" marR="64008" marT="18288" marB="18288" anchor="ctr">
                    <a:solidFill>
                      <a:srgbClr val="FFFFFF"/>
                    </a:solidFill>
                  </a:tcPr>
                </a:tc>
                <a:tc>
                  <a:txBody>
                    <a:bodyPr/>
                    <a:lstStyle/>
                    <a:p>
                      <a:pPr algn="l"/>
                      <a:r>
                        <a:rPr sz="1050" b="0">
                          <a:solidFill>
                            <a:srgbClr val="2B2F38"/>
                          </a:solidFill>
                          <a:latin typeface="Calibri"/>
                        </a:rPr>
                        <a:t>RGM Lead / Trade Finance</a:t>
                      </a:r>
                    </a:p>
                  </a:txBody>
                  <a:tcPr marL="64008" marR="64008" marT="18288" marB="18288" anchor="ctr">
                    <a:solidFill>
                      <a:srgbClr val="FFFFFF"/>
                    </a:solidFill>
                  </a:tcPr>
                </a:tc>
                <a:tc>
                  <a:txBody>
                    <a:bodyPr/>
                    <a:lstStyle/>
                    <a:p>
                      <a:pPr algn="r"/>
                      <a:r>
                        <a:rPr sz="1050" b="0">
                          <a:solidFill>
                            <a:srgbClr val="2B2F38"/>
                          </a:solidFill>
                          <a:latin typeface="Calibri"/>
                        </a:rPr>
                        <a:t>From Aug 1</a:t>
                      </a:r>
                    </a:p>
                  </a:txBody>
                  <a:tcPr marL="64008" marR="64008" marT="18288" marB="18288" anchor="ctr">
                    <a:solidFill>
                      <a:srgbClr val="FFFFFF"/>
                    </a:solidFill>
                  </a:tcPr>
                </a:tc>
              </a:tr>
              <a:tr h="457200">
                <a:tc>
                  <a:txBody>
                    <a:bodyPr/>
                    <a:lstStyle/>
                    <a:p>
                      <a:pPr algn="l"/>
                      <a:r>
                        <a:rPr sz="1050" b="0">
                          <a:solidFill>
                            <a:srgbClr val="2B2F38"/>
                          </a:solidFill>
                          <a:latin typeface="Calibri"/>
                        </a:rPr>
                        <a:t>2</a:t>
                      </a:r>
                    </a:p>
                  </a:txBody>
                  <a:tcPr marL="64008" marR="64008" marT="18288" marB="18288" anchor="ctr">
                    <a:solidFill>
                      <a:srgbClr val="F5F7F9"/>
                    </a:solidFill>
                  </a:tcPr>
                </a:tc>
                <a:tc>
                  <a:txBody>
                    <a:bodyPr/>
                    <a:lstStyle/>
                    <a:p>
                      <a:pPr algn="l"/>
                      <a:r>
                        <a:rPr sz="1050" b="0">
                          <a:solidFill>
                            <a:srgbClr val="2B2F38"/>
                          </a:solidFill>
                          <a:latin typeface="Calibri"/>
                        </a:rPr>
                        <a:t>Reallocate the freed ~$2.4M/quarter into feature-and-display weight, not depth</a:t>
                      </a:r>
                    </a:p>
                  </a:txBody>
                  <a:tcPr marL="64008" marR="64008" marT="18288" marB="18288" anchor="ctr">
                    <a:solidFill>
                      <a:srgbClr val="F5F7F9"/>
                    </a:solidFill>
                  </a:tcPr>
                </a:tc>
                <a:tc>
                  <a:txBody>
                    <a:bodyPr/>
                    <a:lstStyle/>
                    <a:p>
                      <a:pPr algn="l"/>
                      <a:r>
                        <a:rPr sz="1050" b="0">
                          <a:solidFill>
                            <a:srgbClr val="2B2F38"/>
                          </a:solidFill>
                          <a:latin typeface="Calibri"/>
                        </a:rPr>
                        <a:t>NAM team</a:t>
                      </a:r>
                    </a:p>
                  </a:txBody>
                  <a:tcPr marL="64008" marR="64008" marT="18288" marB="18288" anchor="ctr">
                    <a:solidFill>
                      <a:srgbClr val="F5F7F9"/>
                    </a:solidFill>
                  </a:tcPr>
                </a:tc>
                <a:tc>
                  <a:txBody>
                    <a:bodyPr/>
                    <a:lstStyle/>
                    <a:p>
                      <a:pPr algn="r"/>
                      <a:r>
                        <a:rPr sz="1050" b="0">
                          <a:solidFill>
                            <a:srgbClr val="2B2F38"/>
                          </a:solidFill>
                          <a:latin typeface="Calibri"/>
                        </a:rPr>
                        <a:t>Q3–Q4 calendar</a:t>
                      </a:r>
                    </a:p>
                  </a:txBody>
                  <a:tcPr marL="64008" marR="64008" marT="18288" marB="18288" anchor="ctr">
                    <a:solidFill>
                      <a:srgbClr val="F5F7F9"/>
                    </a:solidFill>
                  </a:tcPr>
                </a:tc>
              </a:tr>
              <a:tr h="457200">
                <a:tc>
                  <a:txBody>
                    <a:bodyPr/>
                    <a:lstStyle/>
                    <a:p>
                      <a:pPr algn="l"/>
                      <a:r>
                        <a:rPr sz="1050" b="0">
                          <a:solidFill>
                            <a:srgbClr val="2B2F38"/>
                          </a:solidFill>
                          <a:latin typeface="Calibri"/>
                        </a:rPr>
                        <a:t>3</a:t>
                      </a:r>
                    </a:p>
                  </a:txBody>
                  <a:tcPr marL="64008" marR="64008" marT="18288" marB="18288" anchor="ctr">
                    <a:solidFill>
                      <a:srgbClr val="FFFFFF"/>
                    </a:solidFill>
                  </a:tcPr>
                </a:tc>
                <a:tc>
                  <a:txBody>
                    <a:bodyPr/>
                    <a:lstStyle/>
                    <a:p>
                      <a:pPr algn="l"/>
                      <a:r>
                        <a:rPr sz="1050" b="0">
                          <a:solidFill>
                            <a:srgbClr val="2B2F38"/>
                          </a:solidFill>
                          <a:latin typeface="Calibri"/>
                        </a:rPr>
                        <a:t>Cap Crunchwell Mega depth at 20% and stop depth stacking with retailer funds</a:t>
                      </a:r>
                    </a:p>
                  </a:txBody>
                  <a:tcPr marL="64008" marR="64008" marT="18288" marB="18288" anchor="ctr">
                    <a:solidFill>
                      <a:srgbClr val="FFFFFF"/>
                    </a:solidFill>
                  </a:tcPr>
                </a:tc>
                <a:tc>
                  <a:txBody>
                    <a:bodyPr/>
                    <a:lstStyle/>
                    <a:p>
                      <a:pPr algn="l"/>
                      <a:r>
                        <a:rPr sz="1050" b="0">
                          <a:solidFill>
                            <a:srgbClr val="2B2F38"/>
                          </a:solidFill>
                          <a:latin typeface="Calibri"/>
                        </a:rPr>
                        <a:t>Marcus Boudreaux</a:t>
                      </a:r>
                    </a:p>
                  </a:txBody>
                  <a:tcPr marL="64008" marR="64008" marT="18288" marB="18288" anchor="ctr">
                    <a:solidFill>
                      <a:srgbClr val="FFFFFF"/>
                    </a:solidFill>
                  </a:tcPr>
                </a:tc>
                <a:tc>
                  <a:txBody>
                    <a:bodyPr/>
                    <a:lstStyle/>
                    <a:p>
                      <a:pPr algn="r"/>
                      <a:r>
                        <a:rPr sz="1050" b="0">
                          <a:solidFill>
                            <a:srgbClr val="2B2F38"/>
                          </a:solidFill>
                          <a:latin typeface="Calibri"/>
                        </a:rPr>
                        <a:t>Q3 calendar</a:t>
                      </a:r>
                    </a:p>
                  </a:txBody>
                  <a:tcPr marL="64008" marR="64008" marT="18288" marB="18288" anchor="ctr">
                    <a:solidFill>
                      <a:srgbClr val="FFFFFF"/>
                    </a:solidFill>
                  </a:tcPr>
                </a:tc>
              </a:tr>
              <a:tr h="457200">
                <a:tc>
                  <a:txBody>
                    <a:bodyPr/>
                    <a:lstStyle/>
                    <a:p>
                      <a:pPr algn="l"/>
                      <a:r>
                        <a:rPr sz="1050" b="0">
                          <a:solidFill>
                            <a:srgbClr val="2B2F38"/>
                          </a:solidFill>
                          <a:latin typeface="Calibri"/>
                        </a:rPr>
                        <a:t>4</a:t>
                      </a:r>
                    </a:p>
                  </a:txBody>
                  <a:tcPr marL="64008" marR="64008" marT="18288" marB="18288" anchor="ctr">
                    <a:solidFill>
                      <a:srgbClr val="F5F7F9"/>
                    </a:solidFill>
                  </a:tcPr>
                </a:tc>
                <a:tc>
                  <a:txBody>
                    <a:bodyPr/>
                    <a:lstStyle/>
                    <a:p>
                      <a:pPr algn="l"/>
                      <a:r>
                        <a:rPr sz="1050" b="0">
                          <a:solidFill>
                            <a:srgbClr val="2B2F38"/>
                          </a:solidFill>
                          <a:latin typeface="Calibri"/>
                        </a:rPr>
                        <a:t>Cut HoneyNest promoted events in line with the harvest decision (Report 50)</a:t>
                      </a:r>
                    </a:p>
                  </a:txBody>
                  <a:tcPr marL="64008" marR="64008" marT="18288" marB="18288" anchor="ctr">
                    <a:solidFill>
                      <a:srgbClr val="F5F7F9"/>
                    </a:solidFill>
                  </a:tcPr>
                </a:tc>
                <a:tc>
                  <a:txBody>
                    <a:bodyPr/>
                    <a:lstStyle/>
                    <a:p>
                      <a:pPr algn="l"/>
                      <a:r>
                        <a:rPr sz="1050" b="0">
                          <a:solidFill>
                            <a:srgbClr val="2B2F38"/>
                          </a:solidFill>
                          <a:latin typeface="Calibri"/>
                        </a:rPr>
                        <a:t>HoneyNest BM</a:t>
                      </a:r>
                    </a:p>
                  </a:txBody>
                  <a:tcPr marL="64008" marR="64008" marT="18288" marB="18288" anchor="ctr">
                    <a:solidFill>
                      <a:srgbClr val="F5F7F9"/>
                    </a:solidFill>
                  </a:tcPr>
                </a:tc>
                <a:tc>
                  <a:txBody>
                    <a:bodyPr/>
                    <a:lstStyle/>
                    <a:p>
                      <a:pPr algn="r"/>
                      <a:r>
                        <a:rPr sz="1050" b="0">
                          <a:solidFill>
                            <a:srgbClr val="2B2F38"/>
                          </a:solidFill>
                          <a:latin typeface="Calibri"/>
                        </a:rPr>
                        <a:t>FY27 calendar</a:t>
                      </a:r>
                    </a:p>
                  </a:txBody>
                  <a:tcPr marL="64008" marR="64008" marT="18288" marB="18288" anchor="ctr">
                    <a:solidFill>
                      <a:srgbClr val="F5F7F9"/>
                    </a:solidFill>
                  </a:tcPr>
                </a:tc>
              </a:tr>
              <a:tr h="457200">
                <a:tc>
                  <a:txBody>
                    <a:bodyPr/>
                    <a:lstStyle/>
                    <a:p>
                      <a:pPr algn="l"/>
                      <a:r>
                        <a:rPr sz="1050" b="0">
                          <a:solidFill>
                            <a:srgbClr val="2B2F38"/>
                          </a:solidFill>
                          <a:latin typeface="Calibri"/>
                        </a:rPr>
                        <a:t>5</a:t>
                      </a:r>
                    </a:p>
                  </a:txBody>
                  <a:tcPr marL="64008" marR="64008" marT="18288" marB="18288" anchor="ctr">
                    <a:solidFill>
                      <a:srgbClr val="FFFFFF"/>
                    </a:solidFill>
                  </a:tcPr>
                </a:tc>
                <a:tc>
                  <a:txBody>
                    <a:bodyPr/>
                    <a:lstStyle/>
                    <a:p>
                      <a:pPr algn="l"/>
                      <a:r>
                        <a:rPr sz="1050" b="0">
                          <a:solidFill>
                            <a:srgbClr val="2B2F38"/>
                          </a:solidFill>
                          <a:latin typeface="Calibri"/>
                        </a:rPr>
                        <a:t>Report index alongside spend in the monthly commercial review</a:t>
                      </a:r>
                    </a:p>
                  </a:txBody>
                  <a:tcPr marL="64008" marR="64008" marT="18288" marB="18288" anchor="ctr">
                    <a:solidFill>
                      <a:srgbClr val="FFFFFF"/>
                    </a:solidFill>
                  </a:tcPr>
                </a:tc>
                <a:tc>
                  <a:txBody>
                    <a:bodyPr/>
                    <a:lstStyle/>
                    <a:p>
                      <a:pPr algn="l"/>
                      <a:r>
                        <a:rPr sz="1050" b="0">
                          <a:solidFill>
                            <a:srgbClr val="2B2F38"/>
                          </a:solidFill>
                          <a:latin typeface="Calibri"/>
                        </a:rPr>
                        <a:t>Trade Finance</a:t>
                      </a:r>
                    </a:p>
                  </a:txBody>
                  <a:tcPr marL="64008" marR="64008" marT="18288" marB="18288" anchor="ctr">
                    <a:solidFill>
                      <a:srgbClr val="FFFFFF"/>
                    </a:solidFill>
                  </a:tcPr>
                </a:tc>
                <a:tc>
                  <a:txBody>
                    <a:bodyPr/>
                    <a:lstStyle/>
                    <a:p>
                      <a:pPr algn="r"/>
                      <a:r>
                        <a:rPr sz="1050" b="0">
                          <a:solidFill>
                            <a:srgbClr val="2B2F38"/>
                          </a:solidFill>
                          <a:latin typeface="Calibri"/>
                        </a:rPr>
                        <a:t>From August</a:t>
                      </a:r>
                    </a:p>
                  </a:txBody>
                  <a:tcPr marL="64008" marR="64008" marT="18288" marB="18288"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822960" y="1371600"/>
            <a:ext cx="1005840" cy="27432"/>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914400"/>
            <a:ext cx="10424160" cy="292608"/>
          </a:xfrm>
          <a:prstGeom prst="rect">
            <a:avLst/>
          </a:prstGeom>
          <a:noFill/>
        </p:spPr>
        <p:txBody>
          <a:bodyPr wrap="square" lIns="0" rIns="0" tIns="0" bIns="0">
            <a:spAutoFit/>
          </a:bodyPr>
          <a:lstStyle/>
          <a:p>
            <a:pPr algn="l">
              <a:lnSpc>
                <a:spcPct val="118000"/>
              </a:lnSpc>
              <a:spcAft>
                <a:spcPts val="0"/>
              </a:spcAft>
            </a:pPr>
            <a:r>
              <a:rPr sz="1200" b="1" i="0">
                <a:solidFill>
                  <a:srgbClr val="2E7D75"/>
                </a:solidFill>
                <a:latin typeface="Calibri"/>
              </a:rPr>
              <a:t>THE ONE THING</a:t>
            </a:r>
          </a:p>
        </p:txBody>
      </p:sp>
      <p:sp>
        <p:nvSpPr>
          <p:cNvPr id="5" name="TextBox 4"/>
          <p:cNvSpPr txBox="1"/>
          <p:nvPr/>
        </p:nvSpPr>
        <p:spPr>
          <a:xfrm>
            <a:off x="804672" y="1783080"/>
            <a:ext cx="10241280" cy="455168"/>
          </a:xfrm>
          <a:prstGeom prst="rect">
            <a:avLst/>
          </a:prstGeom>
          <a:noFill/>
        </p:spPr>
        <p:txBody>
          <a:bodyPr wrap="square" lIns="0" rIns="0" tIns="0" bIns="0">
            <a:spAutoFit/>
          </a:bodyPr>
          <a:lstStyle/>
          <a:p>
            <a:pPr algn="l">
              <a:lnSpc>
                <a:spcPct val="112000"/>
              </a:lnSpc>
              <a:spcAft>
                <a:spcPts val="0"/>
              </a:spcAft>
            </a:pPr>
            <a:r>
              <a:rPr sz="3200" b="1" i="0">
                <a:solidFill>
                  <a:srgbClr val="FFFFFF"/>
                </a:solidFill>
                <a:latin typeface="Calibri"/>
              </a:rPr>
              <a:t>An index of 0.52 is the cheapest money in the plan.</a:t>
            </a:r>
          </a:p>
        </p:txBody>
      </p:sp>
      <p:sp>
        <p:nvSpPr>
          <p:cNvPr id="6" name="TextBox 5"/>
          <p:cNvSpPr txBox="1"/>
          <p:nvPr/>
        </p:nvSpPr>
        <p:spPr>
          <a:xfrm>
            <a:off x="822960" y="2695448"/>
            <a:ext cx="9875520" cy="2011680"/>
          </a:xfrm>
          <a:prstGeom prst="rect">
            <a:avLst/>
          </a:prstGeom>
          <a:noFill/>
        </p:spPr>
        <p:txBody>
          <a:bodyPr wrap="square" lIns="0" rIns="0" tIns="0" bIns="0">
            <a:spAutoFit/>
          </a:bodyPr>
          <a:lstStyle/>
          <a:p>
            <a:pPr algn="l">
              <a:lnSpc>
                <a:spcPct val="124000"/>
              </a:lnSpc>
              <a:spcAft>
                <a:spcPts val="900"/>
              </a:spcAft>
            </a:pPr>
            <a:r>
              <a:rPr sz="1400" b="0" i="0">
                <a:solidFill>
                  <a:srgbClr val="C9D2DB"/>
                </a:solidFill>
                <a:latin typeface="Calibri"/>
              </a:rPr>
              <a:t>43 events, $11.6M, $10.9M modelled incremental.</a:t>
            </a:r>
          </a:p>
          <a:p>
            <a:pPr algn="l">
              <a:lnSpc>
                <a:spcPct val="124000"/>
              </a:lnSpc>
              <a:spcAft>
                <a:spcPts val="900"/>
              </a:spcAft>
            </a:pPr>
            <a:r>
              <a:rPr sz="1400" b="0" i="0">
                <a:solidFill>
                  <a:srgbClr val="C9D2DB"/>
                </a:solidFill>
                <a:latin typeface="Calibri"/>
              </a:rPr>
              <a:t>0.45 floor frees ~$2.4M a quarter without cutting the budget.</a:t>
            </a:r>
          </a:p>
          <a:p>
            <a:pPr algn="l">
              <a:lnSpc>
                <a:spcPct val="124000"/>
              </a:lnSpc>
              <a:spcAft>
                <a:spcPts val="900"/>
              </a:spcAft>
            </a:pPr>
            <a:r>
              <a:rPr sz="1400" b="0" i="0">
                <a:solidFill>
                  <a:srgbClr val="C9D2DB"/>
                </a:solidFill>
                <a:latin typeface="Calibri"/>
              </a:rPr>
              <a:t>Fewer, better events — starting with the Q3 calendar.</a:t>
            </a:r>
          </a:p>
        </p:txBody>
      </p:sp>
      <p:sp>
        <p:nvSpPr>
          <p:cNvPr id="7" name="TextBox 6"/>
          <p:cNvSpPr txBox="1"/>
          <p:nvPr/>
        </p:nvSpPr>
        <p:spPr>
          <a:xfrm>
            <a:off x="822960" y="6419088"/>
            <a:ext cx="1042416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H1 FY2026 Post-Event Analysis</dc:title>
  <dc:subject/>
  <dc:creator>Acme Corp (synthetic)</dc:creator>
  <cp:keywords/>
  <dc:description>Internal management presentation</dc:description>
  <cp:lastModifiedBy>Steve Canny</cp:lastModifiedBy>
  <cp:revision>1</cp:revision>
  <dcterms:created xsi:type="dcterms:W3CDTF">2013-01-27T09:14:16Z</dcterms:created>
  <dcterms:modified xsi:type="dcterms:W3CDTF">2013-01-27T09:15:58Z</dcterms:modified>
  <cp:category/>
</cp:coreProperties>
</file>