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" y="841248"/>
            <a:ext cx="182880" cy="182880"/>
          </a:xfrm>
          <a:prstGeom prst="ellipse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" y="841248"/>
            <a:ext cx="182880" cy="182880"/>
          </a:xfrm>
          <a:prstGeom prst="ellipse">
            <a:avLst/>
          </a:prstGeom>
          <a:solidFill>
            <a:srgbClr val="3E6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841248"/>
            <a:ext cx="182880" cy="18288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2E7D75"/>
                </a:solidFill>
                <a:latin typeface="Calibri"/>
              </a:rPr>
              <a:t>PORTFOLIO GROWTH PLAN · FY2027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31720"/>
            <a:ext cx="10515600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100" b="1" i="0">
                <a:solidFill>
                  <a:srgbClr val="FFFFFF"/>
                </a:solidFill>
                <a:latin typeface="Calibri"/>
              </a:rPr>
              <a:t>TrailGrove and RootDay — The Under-Funded Upside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2DB"/>
                </a:solidFill>
                <a:latin typeface="Calibri"/>
              </a:rPr>
              <a:t>Two brands sitting in double-digit-growth segments with single-digit investment behind them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TrailGrove and RootDay brand teams with Category Insights · July 2026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Internal management presentation · Internal · Confidential — synthetic demo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What this deck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BFY growth FY27  ·  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72184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00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60934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under-funded case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30552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258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267712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TrailGrove today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926080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RootDay today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447288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575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584448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Segment tailwinds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1472184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1600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5704" y="160934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Investment gap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2130552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258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5704" y="2267712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FY27 plan for both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8776" y="2788920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5704" y="2926080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Innovation pipeline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8776" y="3447288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3575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5704" y="3584448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ask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HEADLINE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Two brands doing more with less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BFY growth FY27  ·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6492240" cy="1160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sz="1450" b="0" i="0">
                <a:solidFill>
                  <a:srgbClr val="2B2F38"/>
                </a:solidFill>
                <a:latin typeface="Calibri"/>
              </a:rPr>
              <a:t>TrailGrove (-1.6% to plan) and RootDay (-0.3% to plan) are the two most on-plan brands in the house. They sit in granola (+3.3%) and oat milk (+18.8%) — and together they receive less A&amp;P than Crunchwell spends on Linear TV alone. The FY27 recommendation is a modest, distribution-weighted investment increase funded from HoneyNest and Crunchwell TV.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96920"/>
            <a:ext cx="6492240" cy="3256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RootDay is the best-performing brand in the portfolio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at -0.3% to plan, in a $3M segment growing +18.8%. Acme holds 3.8% of it.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TrailGrove is $152M and -1.6% to plan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in granola, an $3M segment growing +1.3% where we already hold 5.7% share.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Neither has an investment problem we created deliberately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— they were simply never the priority. That is the cheapest thing to fix in the FY27 plan.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Sentiment is with us: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Oatly runs +0.20 and MorningOats +0.10, while Crunchwell sits at −0.11. Better-for-you is where consumer conversation is positive.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1435608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0104" y="1581912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+18.8%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0104" y="2093976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OAT MILK SEGMENT GROWTH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12096" y="1435608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1581912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-0.3%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093976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ROOTDAY VARIANCE TO PLAN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2734056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0104" y="28803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-1.6%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0104" y="33924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TRAILGROVE VARIANCE TO PLAN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12096" y="2734056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28803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+9.8%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3924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SINGLE-SERVE CUPS GROWTH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The growth is in one chart; the money is in the other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BFY growth FY27  ·  3</a:t>
            </a:r>
          </a:p>
        </p:txBody>
      </p:sp>
      <p:pic>
        <p:nvPicPr>
          <p:cNvPr id="7" name="Picture 6" descr="r51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5818"/>
            <a:ext cx="5394960" cy="20731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415294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B6472"/>
                </a:solidFill>
                <a:latin typeface="Calibri"/>
              </a:rPr>
              <a:t>Oat milk, granola and single-serve cups all grow mid-to-high single digits or better.</a:t>
            </a:r>
          </a:p>
        </p:txBody>
      </p:sp>
      <p:pic>
        <p:nvPicPr>
          <p:cNvPr id="9" name="Picture 8" descr="r51_sp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195818"/>
            <a:ext cx="5394960" cy="20731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54496" y="4415294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B6472"/>
                </a:solidFill>
                <a:latin typeface="Calibri"/>
              </a:rPr>
              <a:t>Crunchwell and ProteinPeak take the overwhelming majority of A&amp;P. TrailGrove and RootDay are rounding errors.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seed_category_market_size, seed_marketing_spend.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Where the two brands actually 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BFY growth FY27  ·  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3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1691"/>
                <a:gridCol w="3709921"/>
                <a:gridCol w="3709921"/>
              </a:tblGrid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TrailGrove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RootDay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FY25 revenue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$152.0M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$62.0M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SKUs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FY26 variance to plan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-1.6%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-0.3%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Home segment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Granola ($3M, +1.3%)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Oat milk ($3M, +18.8%)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Acme share of segment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5.7%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3.8%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Trade spend FY25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$10.8M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$4.7M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Trade depth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13.5%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9.5%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5102352"/>
            <a:ext cx="10911535" cy="766572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102352"/>
            <a:ext cx="45720" cy="766572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5193792"/>
            <a:ext cx="106006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1F2A44"/>
                </a:solidFill>
                <a:latin typeface="Calibri"/>
              </a:rPr>
              <a:t>The structural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5449824"/>
            <a:ext cx="10600639" cy="3093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2B2F38"/>
                </a:solidFill>
                <a:latin typeface="Calibri"/>
              </a:rPr>
              <a:t>RootDay holds 3.8% of a segment growing 18.8%, on 9.5% trade depth. That is the most efficient share position in the portfolio and the one with the most headroom. It is also the least funded.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78652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seeds/skus.csv, plan_vs_actual, seed_trade_spend_fy25, seed_category_market_size.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What is already in the tank for both brands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BFY growth FY27  · 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9921"/>
                <a:gridCol w="1527614"/>
                <a:gridCol w="2182307"/>
                <a:gridCol w="1745845"/>
                <a:gridCol w="1745845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Concept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Brand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Planned launch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Year-1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RootDay Single-Serve Carton 8oz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RootDay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Stage-3 Prototype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2027-Q2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$4.5M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RootDay Coffee Creamer 16oz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RootDay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Stage-2 Concept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2027-Q3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$3.8M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TrailGrove Bites - Yogurt Coated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TrailGrove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Stage-2 Concept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2027-Q2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$3.6M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RootDay Yogurt Smoothie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RootDay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Stage-1 Idea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2028-Q3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$6.0M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TrailGrove Trail Mix Hispanic Format - 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TrailGrove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Stage-2 Concept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2027-Q2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$2.4M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RootDay Half-Gallon - Non-Refrigerated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RootDay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Stage-1 Idea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2028-Q2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$5.5M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TrailGrove Granola Single-Serve Cups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TrailGrove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Stage-2 Concept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2027-Q4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$2.9M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RootDay Coconut Blend - Discontinue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RootDay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Stage-Final Discontinue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2026-Q3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seeds/innovation_pipeline.csv.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FY27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Distribution first, innovation second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BFY growth FY27  ·  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49240" cy="402336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17904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TRAILGROVE FY27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984248"/>
            <a:ext cx="5257800" cy="406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Distribution build in granola and bars — the cheapest incremental volume in the house.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Bites Yogurt-Coated (Stage-2) into the Q4 FY26 gate for a FY28 launch.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Social-led media at ≈$4M, no linear TV.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Hold trade depth at 13.5%; grow on distribution, not discount.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FY27 target: $162M (+6.6% on FY25).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1417320"/>
            <a:ext cx="5349240" cy="402336"/>
          </a:xfrm>
          <a:prstGeom prst="rect">
            <a:avLst/>
          </a:prstGeom>
          <a:solidFill>
            <a:srgbClr val="5B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17904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ROOTDAY FY27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1984248"/>
            <a:ext cx="5257800" cy="406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Single-Serve Carton (Stage-3, on-hold) reactivated for the gym-bag occasion.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Coffee Creamer (Stage-2) — oat creamer is genuine whitespace against Califia and Silk.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Barista positioning behind the oat-milk barista trend (0.84 strength).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Discontinue Coconut Blend in Q3 FY26 as planned.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FY27 target: $74M (+19.4% on FY25).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32704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seeds/innovation_pipeline.csv, seed_macro_trends. FY27 targets are plan.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A small amount of money, in the right 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BFY growth FY27  · 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3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"/>
                <a:gridCol w="6001344"/>
                <a:gridCol w="2509653"/>
                <a:gridCol w="18549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Approve ≈$6M incremental FY27 investment across TrailGrove and RootDay, funded from HoneyNest harvest and Crunchwell TV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CFO / VP Brand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FY27 planning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Reactivate the RootDay Single-Serve Carton concept from On-Hold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Innovation SteerCo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Q4 FY26 gate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Take TrailGrove granola and bar distribution gaps into the Q4 line reviews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Marcus Boudreaux / Priya Raman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Q4 FY26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Report both brands' segment share monthly — today neither is on the scorecard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Category Insights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From August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05840" cy="27432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2E7D75"/>
                </a:solidFill>
                <a:latin typeface="Calibri"/>
              </a:rPr>
              <a:t>THE ONE 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241280" cy="910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The cheapest growth in the portfolio is the growth we are not funding.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0616"/>
            <a:ext cx="9875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Two brands, two double-digit-growth segments, minimal investment.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≈$6M redirected, not new money.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$236M FY27 combined target between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10424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TrailGrove and RootDay — The Under-Funded Upside</dc:title>
  <dc:subject/>
  <dc:creator>Acme Corp (synthetic)</dc:creator>
  <cp:keywords/>
  <dc:description>Internal management presentation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