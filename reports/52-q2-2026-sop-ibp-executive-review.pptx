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1248" y="841248"/>
            <a:ext cx="182880" cy="182880"/>
          </a:xfrm>
          <a:prstGeom prst="ellipse">
            <a:avLst/>
          </a:prstGeom>
          <a:solidFill>
            <a:srgbClr val="2E7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52144" y="841248"/>
            <a:ext cx="182880" cy="182880"/>
          </a:xfrm>
          <a:prstGeom prst="ellipse">
            <a:avLst/>
          </a:prstGeom>
          <a:solidFill>
            <a:srgbClr val="3E6D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463040" y="841248"/>
            <a:ext cx="182880" cy="182880"/>
          </a:xfrm>
          <a:prstGeom prst="ellipse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1" i="0">
                <a:solidFill>
                  <a:srgbClr val="2E7D75"/>
                </a:solidFill>
                <a:latin typeface="Calibri"/>
              </a:rPr>
              <a:t>S&amp;OP / IBP EXECUTIVE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2331720"/>
            <a:ext cx="10515600" cy="1124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4100" b="1" i="0">
                <a:solidFill>
                  <a:srgbClr val="FFFFFF"/>
                </a:solidFill>
                <a:latin typeface="Calibri"/>
              </a:rPr>
              <a:t>Q2 FY2026 Integrated Business Planning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840480"/>
            <a:ext cx="103327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0" i="0">
                <a:solidFill>
                  <a:srgbClr val="C9D2DB"/>
                </a:solidFill>
                <a:latin typeface="Calibri"/>
              </a:rPr>
              <a:t>Demand, supply and financial plans reconciled to one number for Q3 and Q4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85216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100" b="0" i="0">
                <a:solidFill>
                  <a:srgbClr val="5B6472"/>
                </a:solidFill>
                <a:latin typeface="Calibri"/>
              </a:rPr>
              <a:t>S&amp;OP Lead with Demand Planning, Supply Chain and FP&amp;A · July 2026</a:t>
            </a:r>
          </a:p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100" b="0" i="0">
                <a:solidFill>
                  <a:srgbClr val="5B6472"/>
                </a:solidFill>
                <a:latin typeface="Calibri"/>
              </a:rPr>
              <a:t>Internal management presentation · Internal · Confidential — synthetic demo data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1153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1" i="0">
                <a:solidFill>
                  <a:srgbClr val="2E7D75"/>
                </a:solidFill>
                <a:latin typeface="Calibri"/>
              </a:rP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1153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500" b="1" i="0">
                <a:solidFill>
                  <a:srgbClr val="1F2A44"/>
                </a:solidFill>
                <a:latin typeface="Calibri"/>
              </a:rPr>
              <a:t>What this deck covers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43584"/>
            <a:ext cx="1005840" cy="22860"/>
          </a:xfrm>
          <a:prstGeom prst="rect">
            <a:avLst/>
          </a:prstGeom>
          <a:solidFill>
            <a:srgbClr val="2E7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Internal · Confidential — Acme Corp synthetic demo data. Fictional; not for real decision-making.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19088"/>
            <a:ext cx="112471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Q2 FY26 S&amp;OP  ·  1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472184"/>
            <a:ext cx="5349240" cy="548640"/>
          </a:xfrm>
          <a:prstGeom prst="rect">
            <a:avLst/>
          </a:prstGeom>
          <a:solidFill>
            <a:srgbClr val="F5F7F9"/>
          </a:solidFill>
          <a:ln w="635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60020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2E7D75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8" y="1609344"/>
            <a:ext cx="4617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1" i="0">
                <a:solidFill>
                  <a:srgbClr val="1F2A44"/>
                </a:solidFill>
                <a:latin typeface="Calibri"/>
              </a:rPr>
              <a:t>The consensus number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130552"/>
            <a:ext cx="5349240" cy="548640"/>
          </a:xfrm>
          <a:prstGeom prst="rect">
            <a:avLst/>
          </a:prstGeom>
          <a:solidFill>
            <a:srgbClr val="F5F7F9"/>
          </a:solidFill>
          <a:ln w="635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2258568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2E7D75"/>
                </a:solidFill>
                <a:latin typeface="Calibr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8" y="2267712"/>
            <a:ext cx="4617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1" i="0">
                <a:solidFill>
                  <a:srgbClr val="1F2A44"/>
                </a:solidFill>
                <a:latin typeface="Calibri"/>
              </a:rPr>
              <a:t>Demand review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788920"/>
            <a:ext cx="5349240" cy="548640"/>
          </a:xfrm>
          <a:prstGeom prst="rect">
            <a:avLst/>
          </a:prstGeom>
          <a:solidFill>
            <a:srgbClr val="F5F7F9"/>
          </a:solidFill>
          <a:ln w="635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" y="2916936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2E7D75"/>
                </a:solidFill>
                <a:latin typeface="Calibr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07008" y="2926080"/>
            <a:ext cx="4617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1" i="0">
                <a:solidFill>
                  <a:srgbClr val="1F2A44"/>
                </a:solidFill>
                <a:latin typeface="Calibri"/>
              </a:rPr>
              <a:t>Supply review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447288"/>
            <a:ext cx="5349240" cy="548640"/>
          </a:xfrm>
          <a:prstGeom prst="rect">
            <a:avLst/>
          </a:prstGeom>
          <a:solidFill>
            <a:srgbClr val="F5F7F9"/>
          </a:solidFill>
          <a:ln w="635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3575304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2E7D75"/>
                </a:solidFill>
                <a:latin typeface="Calibri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8" y="3584448"/>
            <a:ext cx="4617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1" i="0">
                <a:solidFill>
                  <a:srgbClr val="1F2A44"/>
                </a:solidFill>
                <a:latin typeface="Calibri"/>
              </a:rPr>
              <a:t>Product / innovation review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08776" y="1472184"/>
            <a:ext cx="5349240" cy="548640"/>
          </a:xfrm>
          <a:prstGeom prst="rect">
            <a:avLst/>
          </a:prstGeom>
          <a:solidFill>
            <a:srgbClr val="F5F7F9"/>
          </a:solidFill>
          <a:ln w="635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160020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2E7D75"/>
                </a:solidFill>
                <a:latin typeface="Calibri"/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75704" y="1609344"/>
            <a:ext cx="4617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1" i="0">
                <a:solidFill>
                  <a:srgbClr val="1F2A44"/>
                </a:solidFill>
                <a:latin typeface="Calibri"/>
              </a:rPr>
              <a:t>Reconciliation and gaps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08776" y="2130552"/>
            <a:ext cx="5349240" cy="548640"/>
          </a:xfrm>
          <a:prstGeom prst="rect">
            <a:avLst/>
          </a:prstGeom>
          <a:solidFill>
            <a:srgbClr val="F5F7F9"/>
          </a:solidFill>
          <a:ln w="635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36792" y="2258568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2E7D75"/>
                </a:solidFill>
                <a:latin typeface="Calibri"/>
              </a:rPr>
              <a:t>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75704" y="2267712"/>
            <a:ext cx="4617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1" i="0">
                <a:solidFill>
                  <a:srgbClr val="1F2A44"/>
                </a:solidFill>
                <a:latin typeface="Calibri"/>
              </a:rPr>
              <a:t>Management decisions required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08776" y="2788920"/>
            <a:ext cx="5349240" cy="548640"/>
          </a:xfrm>
          <a:prstGeom prst="rect">
            <a:avLst/>
          </a:prstGeom>
          <a:solidFill>
            <a:srgbClr val="F5F7F9"/>
          </a:solidFill>
          <a:ln w="635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36792" y="2916936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2E7D75"/>
                </a:solidFill>
                <a:latin typeface="Calibri"/>
              </a:rPr>
              <a:t>07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75704" y="2926080"/>
            <a:ext cx="4617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1" i="0">
                <a:solidFill>
                  <a:srgbClr val="1F2A44"/>
                </a:solidFill>
                <a:latin typeface="Calibri"/>
              </a:rPr>
              <a:t>Actions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1153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1" i="0">
                <a:solidFill>
                  <a:srgbClr val="2E7D75"/>
                </a:solidFill>
                <a:latin typeface="Calibri"/>
              </a:rPr>
              <a:t>THE HEADLINE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1153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500" b="1" i="0">
                <a:solidFill>
                  <a:srgbClr val="1F2A44"/>
                </a:solidFill>
                <a:latin typeface="Calibri"/>
              </a:rPr>
              <a:t>One number, agreed across three functions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43584"/>
            <a:ext cx="1005840" cy="22860"/>
          </a:xfrm>
          <a:prstGeom prst="rect">
            <a:avLst/>
          </a:prstGeom>
          <a:solidFill>
            <a:srgbClr val="2E7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Internal · Confidential — Acme Corp synthetic demo data. Fictional; not for real decision-making.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19088"/>
            <a:ext cx="112471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Q2 FY26 S&amp;OP  · 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6492240" cy="11601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6000"/>
              </a:lnSpc>
              <a:spcAft>
                <a:spcPts val="1000"/>
              </a:spcAft>
            </a:pPr>
            <a:r>
              <a:rPr sz="1450" b="0" i="0">
                <a:solidFill>
                  <a:srgbClr val="2B2F38"/>
                </a:solidFill>
                <a:latin typeface="Calibri"/>
              </a:rPr>
              <a:t>The Q2 cycle closes with demand, supply and finance aligned on an H2 number of $379M — $3M below original plan and built off the May actual of $61.6M. The two constraints in the cycle are Pack Refresh changeover capacity in August and ProteinPeak line capacity if Walmart authorises the full line. Neither is a demand problem.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96920"/>
            <a:ext cx="6492240" cy="32564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744"/>
              </a:spcAft>
            </a:pPr>
            <a:r>
              <a:rPr sz="1200" b="1">
                <a:solidFill>
                  <a:srgbClr val="2E7D75"/>
                </a:solidFill>
                <a:latin typeface="Calibri"/>
              </a:rPr>
              <a:t>—  </a:t>
            </a:r>
            <a:r>
              <a:rPr sz="1200" b="1" i="0">
                <a:solidFill>
                  <a:srgbClr val="2B2F38"/>
                </a:solidFill>
                <a:latin typeface="Calibri"/>
              </a:rPr>
              <a:t>Demand:</a:t>
            </a:r>
            <a:r>
              <a:rPr sz="1200" b="0" i="0">
                <a:solidFill>
                  <a:srgbClr val="2B2F38"/>
                </a:solidFill>
                <a:latin typeface="Calibri"/>
              </a:rPr>
              <a:t> unconstrained forecast is $384M for H2; the consensus number is $379M after supply and phasing constraints.</a:t>
            </a:r>
          </a:p>
          <a:p>
            <a:pPr>
              <a:lnSpc>
                <a:spcPct val="120000"/>
              </a:lnSpc>
              <a:spcAft>
                <a:spcPts val="744"/>
              </a:spcAft>
            </a:pPr>
            <a:r>
              <a:rPr sz="1200" b="1">
                <a:solidFill>
                  <a:srgbClr val="2E7D75"/>
                </a:solidFill>
                <a:latin typeface="Calibri"/>
              </a:rPr>
              <a:t>—  </a:t>
            </a:r>
            <a:r>
              <a:rPr sz="1200" b="1" i="0">
                <a:solidFill>
                  <a:srgbClr val="2B2F38"/>
                </a:solidFill>
                <a:latin typeface="Calibri"/>
              </a:rPr>
              <a:t>Supply:</a:t>
            </a:r>
            <a:r>
              <a:rPr sz="1200" b="0" i="0">
                <a:solidFill>
                  <a:srgbClr val="2B2F38"/>
                </a:solidFill>
                <a:latin typeface="Calibri"/>
              </a:rPr>
              <a:t> fill rate has fully recovered from the November 2025 storm event and is running at normal service levels.</a:t>
            </a:r>
          </a:p>
          <a:p>
            <a:pPr>
              <a:lnSpc>
                <a:spcPct val="120000"/>
              </a:lnSpc>
              <a:spcAft>
                <a:spcPts val="744"/>
              </a:spcAft>
            </a:pPr>
            <a:r>
              <a:rPr sz="1200" b="1">
                <a:solidFill>
                  <a:srgbClr val="2E7D75"/>
                </a:solidFill>
                <a:latin typeface="Calibri"/>
              </a:rPr>
              <a:t>—  </a:t>
            </a:r>
            <a:r>
              <a:rPr sz="1200" b="1" i="0">
                <a:solidFill>
                  <a:srgbClr val="2B2F38"/>
                </a:solidFill>
                <a:latin typeface="Calibri"/>
              </a:rPr>
              <a:t>Product:</a:t>
            </a:r>
            <a:r>
              <a:rPr sz="1200" b="0" i="0">
                <a:solidFill>
                  <a:srgbClr val="2B2F38"/>
                </a:solidFill>
                <a:latin typeface="Calibri"/>
              </a:rPr>
              <a:t> the Pack Refresh (Aug 15) is the gating item — changeover consumes line capacity in weeks 33–35.</a:t>
            </a:r>
          </a:p>
          <a:p>
            <a:pPr>
              <a:lnSpc>
                <a:spcPct val="120000"/>
              </a:lnSpc>
              <a:spcAft>
                <a:spcPts val="744"/>
              </a:spcAft>
            </a:pPr>
            <a:r>
              <a:rPr sz="1200" b="1">
                <a:solidFill>
                  <a:srgbClr val="2E7D75"/>
                </a:solidFill>
                <a:latin typeface="Calibri"/>
              </a:rPr>
              <a:t>—  </a:t>
            </a:r>
            <a:r>
              <a:rPr sz="1200" b="1" i="0">
                <a:solidFill>
                  <a:srgbClr val="2B2F38"/>
                </a:solidFill>
                <a:latin typeface="Calibri"/>
              </a:rPr>
              <a:t>Gap to plan is $3M</a:t>
            </a:r>
            <a:r>
              <a:rPr sz="1200" b="0" i="0">
                <a:solidFill>
                  <a:srgbClr val="2B2F38"/>
                </a:solidFill>
                <a:latin typeface="Calibri"/>
              </a:rPr>
              <a:t>, held as a management risk rather than closed with promotional volume.</a:t>
            </a:r>
          </a:p>
        </p:txBody>
      </p:sp>
      <p:sp>
        <p:nvSpPr>
          <p:cNvPr id="9" name="Rectangle 8"/>
          <p:cNvSpPr/>
          <p:nvPr/>
        </p:nvSpPr>
        <p:spPr>
          <a:xfrm>
            <a:off x="7543800" y="1435608"/>
            <a:ext cx="2148840" cy="1133856"/>
          </a:xfrm>
          <a:prstGeom prst="rect">
            <a:avLst/>
          </a:prstGeom>
          <a:solidFill>
            <a:srgbClr val="F5F7F9"/>
          </a:solidFill>
          <a:ln w="635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90104" y="1581912"/>
            <a:ext cx="1874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200" b="1" i="0">
                <a:solidFill>
                  <a:srgbClr val="1F2A44"/>
                </a:solidFill>
                <a:latin typeface="Calibri"/>
              </a:rPr>
              <a:t>-3.4%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90104" y="2093976"/>
            <a:ext cx="187452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1" i="0">
                <a:solidFill>
                  <a:srgbClr val="5B6472"/>
                </a:solidFill>
                <a:latin typeface="Calibri"/>
              </a:rPr>
              <a:t>Q2 QTD DEMAND VS PLAN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912096" y="1435608"/>
            <a:ext cx="2148840" cy="1133856"/>
          </a:xfrm>
          <a:prstGeom prst="rect">
            <a:avLst/>
          </a:prstGeom>
          <a:solidFill>
            <a:srgbClr val="F5F7F9"/>
          </a:solidFill>
          <a:ln w="635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0" y="1581912"/>
            <a:ext cx="1874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200" b="1" i="0">
                <a:solidFill>
                  <a:srgbClr val="1F2A44"/>
                </a:solidFill>
                <a:latin typeface="Calibri"/>
              </a:rPr>
              <a:t>94.7%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0" y="2093976"/>
            <a:ext cx="187452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1" i="0">
                <a:solidFill>
                  <a:srgbClr val="5B6472"/>
                </a:solidFill>
                <a:latin typeface="Calibri"/>
              </a:rPr>
              <a:t>FILL RATE, LATEST MONTH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43800" y="2734056"/>
            <a:ext cx="2148840" cy="1133856"/>
          </a:xfrm>
          <a:prstGeom prst="rect">
            <a:avLst/>
          </a:prstGeom>
          <a:solidFill>
            <a:srgbClr val="F5F7F9"/>
          </a:solidFill>
          <a:ln w="635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90104" y="2880360"/>
            <a:ext cx="1874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200" b="1" i="0">
                <a:solidFill>
                  <a:srgbClr val="1F2A44"/>
                </a:solidFill>
                <a:latin typeface="Calibri"/>
              </a:rPr>
              <a:t>93.9%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90104" y="3392424"/>
            <a:ext cx="187452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1" i="0">
                <a:solidFill>
                  <a:srgbClr val="5B6472"/>
                </a:solidFill>
                <a:latin typeface="Calibri"/>
              </a:rPr>
              <a:t>ON-TIME IN FULL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912096" y="2734056"/>
            <a:ext cx="2148840" cy="1133856"/>
          </a:xfrm>
          <a:prstGeom prst="rect">
            <a:avLst/>
          </a:prstGeom>
          <a:solidFill>
            <a:srgbClr val="F5F7F9"/>
          </a:solidFill>
          <a:ln w="635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0" y="2880360"/>
            <a:ext cx="1874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200" b="1" i="0">
                <a:solidFill>
                  <a:srgbClr val="1F2A44"/>
                </a:solidFill>
                <a:latin typeface="Calibri"/>
              </a:rPr>
              <a:t>$379M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0" y="3392424"/>
            <a:ext cx="187452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1" i="0">
                <a:solidFill>
                  <a:srgbClr val="5B6472"/>
                </a:solidFill>
                <a:latin typeface="Calibri"/>
              </a:rPr>
              <a:t>CONSENSUS H2 NUMBER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1153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1" i="0">
                <a:solidFill>
                  <a:srgbClr val="2E7D75"/>
                </a:solidFill>
                <a:latin typeface="Calibri"/>
              </a:rPr>
              <a:t>SUPPLY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1153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500" b="1" i="0">
                <a:solidFill>
                  <a:srgbClr val="1F2A44"/>
                </a:solidFill>
                <a:latin typeface="Calibri"/>
              </a:rPr>
              <a:t>Service has fully recovered from the storm event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43584"/>
            <a:ext cx="1005840" cy="22860"/>
          </a:xfrm>
          <a:prstGeom prst="rect">
            <a:avLst/>
          </a:prstGeom>
          <a:solidFill>
            <a:srgbClr val="2E7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Internal · Confidential — Acme Corp synthetic demo data. Fictional; not for real decision-making.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19088"/>
            <a:ext cx="112471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Q2 FY26 S&amp;OP  ·  3</a:t>
            </a:r>
          </a:p>
        </p:txBody>
      </p:sp>
      <p:pic>
        <p:nvPicPr>
          <p:cNvPr id="7" name="Picture 6" descr="r52_fi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116245"/>
            <a:ext cx="6492240" cy="255235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60920" y="1472184"/>
            <a:ext cx="4206240" cy="45811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713"/>
              </a:spcAft>
            </a:pPr>
            <a:r>
              <a:rPr sz="1150" b="1">
                <a:solidFill>
                  <a:srgbClr val="2E7D75"/>
                </a:solidFill>
                <a:latin typeface="Calibri"/>
              </a:rPr>
              <a:t>—  </a:t>
            </a:r>
            <a:r>
              <a:rPr sz="1150" b="1" i="0">
                <a:solidFill>
                  <a:srgbClr val="2B2F38"/>
                </a:solidFill>
                <a:latin typeface="Calibri"/>
              </a:rPr>
              <a:t>November 2025</a:t>
            </a:r>
            <a:r>
              <a:rPr sz="1150" b="0" i="0">
                <a:solidFill>
                  <a:srgbClr val="2B2F38"/>
                </a:solidFill>
                <a:latin typeface="Calibri"/>
              </a:rPr>
              <a:t> is the Hurricane Tonya trough — fill fell to ~52% on storm-cut lines at the Houston, Thibodaux and Tyler DCs.</a:t>
            </a:r>
          </a:p>
          <a:p>
            <a:pPr>
              <a:lnSpc>
                <a:spcPct val="120000"/>
              </a:lnSpc>
              <a:spcAft>
                <a:spcPts val="713"/>
              </a:spcAft>
            </a:pPr>
            <a:r>
              <a:rPr sz="1150" b="1">
                <a:solidFill>
                  <a:srgbClr val="2E7D75"/>
                </a:solidFill>
                <a:latin typeface="Calibri"/>
              </a:rPr>
              <a:t>—  </a:t>
            </a:r>
            <a:r>
              <a:rPr sz="1150" b="1" i="0">
                <a:solidFill>
                  <a:srgbClr val="2B2F38"/>
                </a:solidFill>
                <a:latin typeface="Calibri"/>
              </a:rPr>
              <a:t>Latest month runs 94.7% fill and 93.9% OTIF</a:t>
            </a:r>
            <a:r>
              <a:rPr sz="1150" b="0" i="0">
                <a:solidFill>
                  <a:srgbClr val="2B2F38"/>
                </a:solidFill>
                <a:latin typeface="Calibri"/>
              </a:rPr>
              <a:t> — normal service.</a:t>
            </a:r>
          </a:p>
          <a:p>
            <a:pPr>
              <a:lnSpc>
                <a:spcPct val="120000"/>
              </a:lnSpc>
              <a:spcAft>
                <a:spcPts val="713"/>
              </a:spcAft>
            </a:pPr>
            <a:r>
              <a:rPr sz="1150" b="1">
                <a:solidFill>
                  <a:srgbClr val="2E7D75"/>
                </a:solidFill>
                <a:latin typeface="Calibri"/>
              </a:rPr>
              <a:t>—  </a:t>
            </a:r>
            <a:r>
              <a:rPr sz="1150" b="1" i="0">
                <a:solidFill>
                  <a:srgbClr val="2B2F38"/>
                </a:solidFill>
                <a:latin typeface="Calibri"/>
              </a:rPr>
              <a:t>The lesson stands</a:t>
            </a:r>
            <a:r>
              <a:rPr sz="1150" b="0" i="0">
                <a:solidFill>
                  <a:srgbClr val="2B2F38"/>
                </a:solidFill>
                <a:latin typeface="Calibri"/>
              </a:rPr>
              <a:t> (see the after-action review, Report 73): our recovery took two quarters and cost roughly 12% of the Louisiana share decline.</a:t>
            </a:r>
          </a:p>
          <a:p>
            <a:pPr>
              <a:lnSpc>
                <a:spcPct val="120000"/>
              </a:lnSpc>
              <a:spcAft>
                <a:spcPts val="713"/>
              </a:spcAft>
            </a:pPr>
            <a:r>
              <a:rPr sz="1150" b="1">
                <a:solidFill>
                  <a:srgbClr val="2E7D75"/>
                </a:solidFill>
                <a:latin typeface="Calibri"/>
              </a:rPr>
              <a:t>—  </a:t>
            </a:r>
            <a:r>
              <a:rPr sz="1150" b="1" i="0">
                <a:solidFill>
                  <a:srgbClr val="2B2F38"/>
                </a:solidFill>
                <a:latin typeface="Calibri"/>
              </a:rPr>
              <a:t>Q3 watch item:</a:t>
            </a:r>
            <a:r>
              <a:rPr sz="1150" b="0" i="0">
                <a:solidFill>
                  <a:srgbClr val="2B2F38"/>
                </a:solidFill>
                <a:latin typeface="Calibri"/>
              </a:rPr>
              <a:t> Pack Refresh changeover in weeks 33–35 tightens Battle Creek line availability.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669280"/>
            <a:ext cx="10911535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 i="0">
                <a:solidFill>
                  <a:srgbClr val="5B6472"/>
                </a:solidFill>
                <a:latin typeface="Calibri"/>
              </a:rPr>
              <a:t>Source: shipments (Fill_Rate_Pct, On_Time_Pct), monthly averages.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1153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1" i="0">
                <a:solidFill>
                  <a:srgbClr val="2E7D75"/>
                </a:solidFill>
                <a:latin typeface="Calibri"/>
              </a:rPr>
              <a:t>CUT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1153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500" b="1" i="0">
                <a:solidFill>
                  <a:srgbClr val="1F2A44"/>
                </a:solidFill>
                <a:latin typeface="Calibri"/>
              </a:rPr>
              <a:t>Where units are lost between order and shipment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43584"/>
            <a:ext cx="1005840" cy="22860"/>
          </a:xfrm>
          <a:prstGeom prst="rect">
            <a:avLst/>
          </a:prstGeom>
          <a:solidFill>
            <a:srgbClr val="2E7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Internal · Confidential — Acme Corp synthetic demo data. Fictional; not for real decision-making.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19088"/>
            <a:ext cx="112471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Q2 FY26 S&amp;OP  ·  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417320"/>
          <a:ext cx="10911533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09921"/>
                <a:gridCol w="2400537"/>
                <a:gridCol w="2836999"/>
                <a:gridCol w="1964076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Cut reason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Units cut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Avg fill on those lines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Order lines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No cut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490.9K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94.9%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14,665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Storm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192.8K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53.7%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450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Production_Lag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17.7K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83.6%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127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Quality_Hold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10.1K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83.0%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76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Launch_Allocation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6.6K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83.4%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74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640080" y="4416552"/>
            <a:ext cx="10911535" cy="766572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4416552"/>
            <a:ext cx="45720" cy="766572"/>
          </a:xfrm>
          <a:prstGeom prst="rect">
            <a:avLst/>
          </a:prstGeom>
          <a:solidFill>
            <a:srgbClr val="2E7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4507992"/>
            <a:ext cx="10600639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1F2A44"/>
                </a:solidFill>
                <a:latin typeface="Calibri"/>
              </a:rPr>
              <a:t>Launch allocation is now the second-largest cut reason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4764024"/>
            <a:ext cx="10600639" cy="3093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 i="0">
                <a:solidFill>
                  <a:srgbClr val="2B2F38"/>
                </a:solidFill>
                <a:latin typeface="Calibri"/>
              </a:rPr>
              <a:t>Launch_Allocation cuts are a choice, not a failure — we deliberately short base SKUs to protect launch fill. It needs to be visible in the demand plan rather than showing up as a service miss.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669280"/>
            <a:ext cx="10911535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 i="0">
                <a:solidFill>
                  <a:srgbClr val="5B6472"/>
                </a:solidFill>
                <a:latin typeface="Calibri"/>
              </a:rPr>
              <a:t>Source: shipments, order lines since October 2025.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1153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1" i="0">
                <a:solidFill>
                  <a:srgbClr val="2E7D75"/>
                </a:solidFill>
                <a:latin typeface="Calibri"/>
              </a:rPr>
              <a:t>PRODUCT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1153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500" b="1" i="0">
                <a:solidFill>
                  <a:srgbClr val="1F2A44"/>
                </a:solidFill>
                <a:latin typeface="Calibri"/>
              </a:rPr>
              <a:t>Three launches inside the planning horizon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43584"/>
            <a:ext cx="1005840" cy="22860"/>
          </a:xfrm>
          <a:prstGeom prst="rect">
            <a:avLst/>
          </a:prstGeom>
          <a:solidFill>
            <a:srgbClr val="2E7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Internal · Confidential — Acme Corp synthetic demo data. Fictional; not for real decision-making.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19088"/>
            <a:ext cx="112471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Q2 FY26 S&amp;OP  ·  5</a:t>
            </a:r>
          </a:p>
        </p:txBody>
      </p:sp>
      <p:pic>
        <p:nvPicPr>
          <p:cNvPr id="7" name="Picture 6" descr="r52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152712"/>
            <a:ext cx="6309360" cy="2424558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132320" y="1490472"/>
          <a:ext cx="441655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1627"/>
                <a:gridCol w="794979"/>
                <a:gridCol w="794979"/>
                <a:gridCol w="618317"/>
                <a:gridCol w="706648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Concept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Brand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Launch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Year-1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Crunchwell Pack Refresh - Hero SKU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Crunchwell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2026-08-15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$28.0M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On-Track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ProteinPeak Cinnamon Crunch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ProteinPeak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2026-04-20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$14.0M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Live-Q2-2026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ProteinPeak Cocoa Almond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ProteinPeak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2026-04-20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$10.0M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Live-Q2-2026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HoneyNest Birthday Cake LTO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HoneyNest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2026-Q4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$2.4M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On-Track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MorningOats Cup Pumpkin Spice LTO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MorningOats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2026-Q3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$1.8M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On-Track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5669280"/>
            <a:ext cx="10911535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 i="0">
                <a:solidFill>
                  <a:srgbClr val="5B6472"/>
                </a:solidFill>
                <a:latin typeface="Calibri"/>
              </a:rPr>
              <a:t>Source: seeds/innovation_pipeline.csv, Stage-4 to Stage-6.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1153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1" i="0">
                <a:solidFill>
                  <a:srgbClr val="2E7D75"/>
                </a:solidFill>
                <a:latin typeface="Calibri"/>
              </a:rPr>
              <a:t>RECONCILIATION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1153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500" b="1" i="0">
                <a:solidFill>
                  <a:srgbClr val="1F2A44"/>
                </a:solidFill>
                <a:latin typeface="Calibri"/>
              </a:rPr>
              <a:t>From unconstrained demand to the consensus number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43584"/>
            <a:ext cx="1005840" cy="22860"/>
          </a:xfrm>
          <a:prstGeom prst="rect">
            <a:avLst/>
          </a:prstGeom>
          <a:solidFill>
            <a:srgbClr val="2E7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Internal · Confidential — Acme Corp synthetic demo data. Fictional; not for real decision-making.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19088"/>
            <a:ext cx="112471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Q2 FY26 S&amp;OP  ·  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417320"/>
          <a:ext cx="10911534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64614"/>
                <a:gridCol w="1418499"/>
                <a:gridCol w="2182307"/>
                <a:gridCol w="2946114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Step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H2 $M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Owner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Note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Unconstrained demand forecast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384.0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Demand Planning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Statistical + brand overlay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Less: Pack Refresh changeover phasing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−2.5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Supply Chain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Weeks 33–35 line capacity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Less: ProteinPeak allocation at Walmart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−1.5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Supply Chain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Only if full line authorised early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Less: HoneyNest discontinuations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−1.6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Brand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Granola Crunch, Cookie Dough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Plus: retail-media reallocation upside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+0.6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Tasha Brooks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LA injection at 2.2x ROI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2B2F38"/>
                          </a:solidFill>
                          <a:latin typeface="Calibri"/>
                        </a:rPr>
                        <a:t>Consensus H2 number</a:t>
                      </a:r>
                    </a:p>
                  </a:txBody>
                  <a:tcPr marL="64008" marR="64008" marT="18288" marB="18288" anchor="ctr">
                    <a:solidFill>
                      <a:srgbClr val="EAEE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2B2F38"/>
                          </a:solidFill>
                          <a:latin typeface="Calibri"/>
                        </a:rPr>
                        <a:t>379.0</a:t>
                      </a:r>
                    </a:p>
                  </a:txBody>
                  <a:tcPr marL="64008" marR="64008" marT="18288" marB="18288" anchor="ctr">
                    <a:solidFill>
                      <a:srgbClr val="EAEE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2B2F38"/>
                          </a:solidFill>
                          <a:latin typeface="Calibri"/>
                        </a:rPr>
                        <a:t>S&amp;OP</a:t>
                      </a:r>
                    </a:p>
                  </a:txBody>
                  <a:tcPr marL="64008" marR="64008" marT="18288" marB="18288" anchor="ctr">
                    <a:solidFill>
                      <a:srgbClr val="EAEE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2B2F38"/>
                          </a:solidFill>
                          <a:latin typeface="Calibri"/>
                        </a:rPr>
                        <a:t>Signed off this cycle</a:t>
                      </a:r>
                    </a:p>
                  </a:txBody>
                  <a:tcPr marL="64008" marR="64008" marT="18288" marB="18288" anchor="ctr">
                    <a:solidFill>
                      <a:srgbClr val="EAEEF2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5669280"/>
            <a:ext cx="10911535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 i="0">
                <a:solidFill>
                  <a:srgbClr val="5B6472"/>
                </a:solidFill>
                <a:latin typeface="Calibri"/>
              </a:rPr>
              <a:t>Reconciliation is a planning artefact; base actuals from plan_vs_actual.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1153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1" i="0">
                <a:solidFill>
                  <a:srgbClr val="2E7D75"/>
                </a:solidFill>
                <a:latin typeface="Calibri"/>
              </a:rPr>
              <a:t>DECISIONS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1153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500" b="1" i="0">
                <a:solidFill>
                  <a:srgbClr val="1F2A44"/>
                </a:solidFill>
                <a:latin typeface="Calibri"/>
              </a:rPr>
              <a:t>What the executive team needs to settle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43584"/>
            <a:ext cx="1005840" cy="22860"/>
          </a:xfrm>
          <a:prstGeom prst="rect">
            <a:avLst/>
          </a:prstGeom>
          <a:solidFill>
            <a:srgbClr val="2E7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Internal · Confidential — Acme Corp synthetic demo data. Fictional; not for real decision-making.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19088"/>
            <a:ext cx="112471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Q2 FY26 S&amp;OP  ·  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417320"/>
          <a:ext cx="10911533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576"/>
                <a:gridCol w="6001344"/>
                <a:gridCol w="2509653"/>
                <a:gridCol w="185496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Action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Owner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When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Approve the $379M consensus H2 number and carry the $3M gap as management risk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CFO / S&amp;OP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July cycle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Protect Pack Refresh changeover capacity in weeks 33–35 ahead of base SKU fill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VP Supply Chain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By Aug 1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Pre-agree the ProteinPeak allocation rule if Walmart authorises the full line early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Supply Chain / Sage Park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By Aug 15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Make Launch_Allocation cuts a visible line in the demand plan, not a service miss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Demand Planning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Next cycle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371600"/>
            <a:ext cx="1005840" cy="27432"/>
          </a:xfrm>
          <a:prstGeom prst="rect">
            <a:avLst/>
          </a:prstGeom>
          <a:solidFill>
            <a:srgbClr val="2E7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424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1" i="0">
                <a:solidFill>
                  <a:srgbClr val="2E7D75"/>
                </a:solidFill>
                <a:latin typeface="Calibri"/>
              </a:rPr>
              <a:t>THE ONE THING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783080"/>
            <a:ext cx="10241280" cy="455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One number. Two constraints. Both ours to manage.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695448"/>
            <a:ext cx="987552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900"/>
              </a:spcAft>
            </a:pPr>
            <a:r>
              <a:rPr sz="1400" b="0" i="0">
                <a:solidFill>
                  <a:srgbClr val="C9D2DB"/>
                </a:solidFill>
                <a:latin typeface="Calibri"/>
              </a:rPr>
              <a:t>$379M consensus for H2, $3M below plan.</a:t>
            </a:r>
          </a:p>
          <a:p>
            <a:pPr algn="l">
              <a:lnSpc>
                <a:spcPct val="124000"/>
              </a:lnSpc>
              <a:spcAft>
                <a:spcPts val="900"/>
              </a:spcAft>
            </a:pPr>
            <a:r>
              <a:rPr sz="1400" b="0" i="0">
                <a:solidFill>
                  <a:srgbClr val="C9D2DB"/>
                </a:solidFill>
                <a:latin typeface="Calibri"/>
              </a:rPr>
              <a:t>Service is fully recovered; capacity is the live constraint.</a:t>
            </a:r>
          </a:p>
          <a:p>
            <a:pPr algn="l">
              <a:lnSpc>
                <a:spcPct val="124000"/>
              </a:lnSpc>
              <a:spcAft>
                <a:spcPts val="900"/>
              </a:spcAft>
            </a:pPr>
            <a:r>
              <a:rPr sz="1400" b="0" i="0">
                <a:solidFill>
                  <a:srgbClr val="C9D2DB"/>
                </a:solidFill>
                <a:latin typeface="Calibri"/>
              </a:rPr>
              <a:t>The gap is held, not promoted away.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19088"/>
            <a:ext cx="104241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Internal · Confidential — Acme Corp synthetic demo data. Fictional; not for real decision-making.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Q2 FY2026 Integrated Business Planning Review</dc:title>
  <dc:subject/>
  <dc:creator>Acme Corp (synthetic)</dc:creator>
  <cp:keywords/>
  <dc:description>Internal management presentation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