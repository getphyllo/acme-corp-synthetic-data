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9384"/>
                </a:solidFill>
                <a:latin typeface="Calibri"/>
              </a:rPr>
              <a:t>LAUNCH TRACKER · WELLNESS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ProteinPeak Q2 Launch — Week-4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CEE6"/>
                </a:solidFill>
                <a:latin typeface="Calibri"/>
              </a:rPr>
              <a:t>Cinnamon Crunch (PP005) + Cocoa Almond (PP006) · on shelf April 20,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8A92A6"/>
                </a:solidFill>
                <a:latin typeface="Calibri"/>
              </a:rPr>
              <a:t>Maya Chen, Senior Insights Analyst   ·   For Sage Park, Brand Director   ·   Business review · May 26,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The launch is landing — with a bounded watch-out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0080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3182B"/>
                </a:solidFill>
                <a:latin typeface="Calibri"/>
              </a:rPr>
              <a:t>Cinnamon Crunch and Cocoa Almond are landing — strong at Target, soft at the Walmart pilot, cannibalization bounded.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B6478"/>
                </a:solidFill>
                <a:latin typeface="Calibri"/>
              </a:rPr>
              <a:t>Recommended action: hold Amazon spend, lean into the Target endcap renewal, and deprioritize Walmart-pilot expansion until it gets an endcap signal.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8"/>
                </a:solidFill>
                <a:latin typeface="Calibri"/>
              </a:rPr>
              <a:t>Net of cannibalization, the launch is +$22M incremental on plan for FY26 — above the $24M combined plan. ProteinPeak's FY26 mandate is $48M → $80M (+66.7%); the two new flavors carry most of that.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37160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F9E44"/>
                </a:solidFill>
                <a:latin typeface="Calibri"/>
              </a:rPr>
              <a:t>110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Trial index, Target (plan = 100)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77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Trial index, Walmart-pilot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788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E9384"/>
                </a:solidFill>
                <a:latin typeface="Calibri"/>
              </a:rPr>
              <a:t>1.2×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W2 repeat vs Berry Crunch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788920"/>
            <a:ext cx="2121408" cy="128016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8A33D"/>
                </a:solidFill>
                <a:latin typeface="Calibri"/>
              </a:rPr>
              <a:t>~6%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PP001 cannibalization (steady)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206240"/>
            <a:ext cx="4361688" cy="123444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5BDB"/>
                </a:solidFill>
                <a:latin typeface="Calibri"/>
              </a:rPr>
              <a:t>$1.2M / $4.2M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Q2 retail-media spent through Week 4 — pacing 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QUESTION 1 · 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Trial vs plan — Target is the engine</a:t>
            </a:r>
          </a:p>
        </p:txBody>
      </p:sp>
      <p:pic>
        <p:nvPicPr>
          <p:cNvPr id="5" name="Picture 4" descr="pp_t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7040880" cy="3330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393192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Target endcap drives +10% over plan — the launch motion that works.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Amazon and the premium grocers (WFM, Sprouts) land at or near plan.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Walmart pilot is 23% under plan: premium-protein cereal needs an endcap signal at Walmart, and the pilot had none.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Confidence: ±4% on Target (n=270 store-weeks); ±9% on Walmart (n=110).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70408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8A92A6"/>
                </a:solidFill>
                <a:latin typeface="Calibri"/>
              </a:rPr>
              <a:t>Source: plan_vs_actual × perfect_store, post-2026-04-20, PP005 + PP006 combined.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QUESTION 2 ·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Repeat curve beats the Berry Crunch benchmark</a:t>
            </a:r>
          </a:p>
        </p:txBody>
      </p:sp>
      <p:pic>
        <p:nvPicPr>
          <p:cNvPr id="5" name="Picture 4" descr="pp_rep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949440" cy="3508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554480"/>
            <a:ext cx="402336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At Week 2, Cinnamon Crunch repeat sits at 1.2× Berry Crunch (PP003) at the same week-since-launch.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Cocoa Almond tracks slightly below at 1.05× — still positive.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The historical-archive comparison is the unlock: Berry Crunch's W2 number was buried across three quarters of Numerator exports nobody had stitched.</a:t>
            </a:r>
          </a:p>
          <a:p>
            <a:pPr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3182B"/>
                </a:solidFill>
                <a:latin typeface="Calibri"/>
              </a:rPr>
              <a:t>Shaded band = ±1 SD on each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QUESTION 3 · CANNIBALIZATION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Source of volume — mostly net-new, cannibalization bounded</a:t>
            </a:r>
          </a:p>
        </p:txBody>
      </p:sp>
      <p:pic>
        <p:nvPicPr>
          <p:cNvPr id="5" name="Picture 4" descr="pp_s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492240" cy="3438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389120" cy="2926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~53% of buyers are net-new to ProteinPeak — the launch is doing what it should.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32% comes from PP001 Vanilla Almond Original; bounded at ~6% steady-state cannibalization (~$1.5M pulled-forward on a $25M SKU).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PP001 velocity dip: −11% Week 1, −6% Weeks 2–4 at launch retailers.</a:t>
            </a:r>
          </a:p>
          <a:p>
            <a:pPr>
              <a:lnSpc>
                <a:spcPct val="105000"/>
              </a:lnSpc>
              <a:spcAft>
                <a:spcPts val="900"/>
              </a:spcAft>
              <a:buFont typeface="Arial"/>
              <a:buChar char="•"/>
            </a:pPr>
            <a:r>
              <a:rPr sz="1200" b="0" i="0">
                <a:solidFill>
                  <a:srgbClr val="13182B"/>
                </a:solidFill>
                <a:latin typeface="Calibri"/>
              </a:rPr>
              <a:t>15% is competitor switch (Magic Spoon, Three Wishes, Catalina).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663440"/>
            <a:ext cx="4389120" cy="132588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4800600"/>
            <a:ext cx="402336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Calibri"/>
              </a:rPr>
              <a:t>Risk note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3182B"/>
                </a:solidFill>
                <a:latin typeface="Calibri"/>
              </a:rPr>
              <a:t>If cannibalization widens past 12% by Week 8 — the historical pattern for protein launches lacking flavor differentiation — revisit the stage-gate on the next two flavors.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QUESTION 4 · CHANNEL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Channel mix + retail-media response</a:t>
            </a:r>
          </a:p>
        </p:txBody>
      </p:sp>
      <p:pic>
        <p:nvPicPr>
          <p:cNvPr id="5" name="Picture 4" descr="pp_chan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400800" cy="312906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60" y="1554480"/>
          <a:ext cx="4480560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914400"/>
                <a:gridCol w="731520"/>
                <a:gridCol w="91440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88900" marR="63500" marT="25400" marB="25400" anchor="ctr">
                    <a:solidFill>
                      <a:srgbClr val="0E938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88900" marR="63500" marT="25400" marB="25400" anchor="ctr">
                    <a:solidFill>
                      <a:srgbClr val="0E938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Trial</a:t>
                      </a:r>
                    </a:p>
                  </a:txBody>
                  <a:tcPr marL="88900" marR="63500" marT="25400" marB="25400" anchor="ctr">
                    <a:solidFill>
                      <a:srgbClr val="0E938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88900" marR="63500" marT="25400" marB="25400" anchor="ctr">
                    <a:solidFill>
                      <a:srgbClr val="0E938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Target Roundel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$1.80M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Amazon Ads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$1.40M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HOLD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Walmart Connect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$0.50M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PAUSE</a:t>
                      </a:r>
                    </a:p>
                  </a:txBody>
                  <a:tcPr marL="88900" marR="63500" marT="25400" marB="254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Sprouts Brand+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$0.25M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3182B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 marL="88900" marR="63500" marT="25400" marB="25400"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60" y="4297680"/>
            <a:ext cx="448056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478"/>
                </a:solidFill>
                <a:latin typeface="Calibri"/>
              </a:rPr>
              <a:t>Re-route the $700K Walmart Connect plan toward the Target Roundel renewal and a small Whole Foods endcap test. Sage-cohort creator sentiment is +0.47 (Brandwatch). Hugo to confirm Tasha Brooks' Pacvue pacing supports the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9384"/>
                </a:solidFill>
                <a:latin typeface="Calibri"/>
              </a:rP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3182B"/>
                </a:solidFill>
                <a:latin typeface="Calibri"/>
              </a:rPr>
              <a:t>So what — three decisions for Tuesday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74520"/>
            <a:ext cx="1234440" cy="548640"/>
          </a:xfrm>
          <a:prstGeom prst="roundRect">
            <a:avLst>
              <a:gd name="adj" fmla="val 30000"/>
            </a:avLst>
          </a:prstGeom>
          <a:solidFill>
            <a:srgbClr val="2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627632"/>
            <a:ext cx="91440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182B"/>
                </a:solidFill>
                <a:latin typeface="Calibri"/>
              </a:rPr>
              <a:t>Renew the Target endcap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8"/>
                </a:solidFill>
                <a:latin typeface="Calibri"/>
              </a:rPr>
              <a:t>Target is the proven engine at +10% trial. Lock the Q3 endcap and extend Roundel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1234440" cy="548640"/>
          </a:xfrm>
          <a:prstGeom prst="roundRect">
            <a:avLst>
              <a:gd name="adj" fmla="val 30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136392"/>
            <a:ext cx="91440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182B"/>
                </a:solidFill>
                <a:latin typeface="Calibri"/>
              </a:rPr>
              <a:t>Hold Amazon spend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8"/>
                </a:solidFill>
                <a:latin typeface="Calibri"/>
              </a:rPr>
              <a:t>Already at plan (102). No incremental return to chasing it; keep the always-on coupon.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892040"/>
            <a:ext cx="1234440" cy="54864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645152"/>
            <a:ext cx="91440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3182B"/>
                </a:solidFill>
                <a:latin typeface="Calibri"/>
              </a:rPr>
              <a:t>Pause Walmart-pilot expansion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8"/>
                </a:solidFill>
                <a:latin typeface="Calibri"/>
              </a:rPr>
              <a:t>Without an endcap signal the pilot underdelivers. Re-time to a supported window, reallocate the $700K.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Internal · Confidential — Acme Corp synthetic demo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55664"/>
            <a:ext cx="960120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A92A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